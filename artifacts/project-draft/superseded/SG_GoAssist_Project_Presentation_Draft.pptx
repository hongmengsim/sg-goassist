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3599a4c3c9246fb" /><Relationship Type="http://schemas.openxmlformats.org/officeDocument/2006/relationships/extended-properties" Target="/docProps/app.xml" Id="R9b5dee0841ad4f7b" /><Relationship Type="http://schemas.openxmlformats.org/officeDocument/2006/relationships/officeDocument" Target="/ppt/presentation.xml" Id="R9f0d2ff12dff4274" /></Relationships>
</file>

<file path=ppt/presentation.xml><?xml version="1.0" encoding="utf-8"?>
<p:presentation xmlns:p="http://schemas.openxmlformats.org/presentationml/2006/main">
  <p:sldMasterIdLst>
    <p:sldMasterId xmlns:r="http://schemas.openxmlformats.org/officeDocument/2006/relationships" id="2147483648" r:id="R224157a3bbd64dc3"/>
  </p:sldMasterIdLst>
  <p:notesMasterIdLst>
    <p:notesMasterId xmlns:r="http://schemas.openxmlformats.org/officeDocument/2006/relationships" r:id="R14cad11d803b4071"/>
  </p:notesMasterIdLst>
  <p:sldIdLst>
    <p:sldId xmlns:r="http://schemas.openxmlformats.org/officeDocument/2006/relationships" id="256" r:id="R1efc135342b64d07"/>
    <p:sldId xmlns:r="http://schemas.openxmlformats.org/officeDocument/2006/relationships" id="257" r:id="Rcbd12a0fbcf44ed0"/>
    <p:sldId xmlns:r="http://schemas.openxmlformats.org/officeDocument/2006/relationships" id="258" r:id="Recc7a3c2be12489b"/>
    <p:sldId xmlns:r="http://schemas.openxmlformats.org/officeDocument/2006/relationships" id="259" r:id="Rbbbb969be6714c59"/>
    <p:sldId xmlns:r="http://schemas.openxmlformats.org/officeDocument/2006/relationships" id="260" r:id="R18b34bb69e3d4f74"/>
    <p:sldId xmlns:r="http://schemas.openxmlformats.org/officeDocument/2006/relationships" id="261" r:id="Rbec6260e7e5a40e5"/>
    <p:sldId xmlns:r="http://schemas.openxmlformats.org/officeDocument/2006/relationships" id="262" r:id="R4ab32efa8bd44e0b"/>
    <p:sldId xmlns:r="http://schemas.openxmlformats.org/officeDocument/2006/relationships" id="263" r:id="Rfbad621689b7481b"/>
    <p:sldId xmlns:r="http://schemas.openxmlformats.org/officeDocument/2006/relationships" id="264" r:id="Rb6e9fd67b0064851"/>
    <p:sldId xmlns:r="http://schemas.openxmlformats.org/officeDocument/2006/relationships" id="265" r:id="R8c067c2be9884ffb"/>
    <p:sldId xmlns:r="http://schemas.openxmlformats.org/officeDocument/2006/relationships" id="266" r:id="R747c472595b5483c"/>
    <p:sldId xmlns:r="http://schemas.openxmlformats.org/officeDocument/2006/relationships" id="267" r:id="R28dc6bb85b4847e4"/>
    <p:sldId xmlns:r="http://schemas.openxmlformats.org/officeDocument/2006/relationships" id="268" r:id="R8cd7dbc683464a3e"/>
    <p:sldId xmlns:r="http://schemas.openxmlformats.org/officeDocument/2006/relationships" id="269" r:id="R04579f133d4f4ca1"/>
    <p:sldId xmlns:r="http://schemas.openxmlformats.org/officeDocument/2006/relationships" id="270" r:id="Rdd84ffbf57b9438f"/>
    <p:sldId xmlns:r="http://schemas.openxmlformats.org/officeDocument/2006/relationships" id="271" r:id="R420aaf48f6d64f5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b5aec18e5cb4675" /><Relationship Type="http://schemas.openxmlformats.org/officeDocument/2006/relationships/slideMaster" Target="/ppt/slideMasters/slideMaster1.xml" Id="R224157a3bbd64dc3" /><Relationship Type="http://schemas.openxmlformats.org/officeDocument/2006/relationships/notesMaster" Target="/ppt/notesMasters/notesMaster1.xml" Id="R14cad11d803b4071" /><Relationship Type="http://schemas.openxmlformats.org/officeDocument/2006/relationships/presProps" Target="/ppt/presProps.xml" Id="Rf2c7d49b141048ca" /><Relationship Type="http://schemas.openxmlformats.org/officeDocument/2006/relationships/tableStyles" Target="/ppt/tableStyles.xml" Id="R133ea6c598ce4e66" /><Relationship Type="http://schemas.openxmlformats.org/officeDocument/2006/relationships/slide" Target="/ppt/slides/slide1.xml" Id="R1efc135342b64d07" /><Relationship Type="http://schemas.openxmlformats.org/officeDocument/2006/relationships/slide" Target="/ppt/slides/slide2.xml" Id="Rcbd12a0fbcf44ed0" /><Relationship Type="http://schemas.openxmlformats.org/officeDocument/2006/relationships/slide" Target="/ppt/slides/slide3.xml" Id="Recc7a3c2be12489b" /><Relationship Type="http://schemas.openxmlformats.org/officeDocument/2006/relationships/slide" Target="/ppt/slides/slide4.xml" Id="Rbbbb969be6714c59" /><Relationship Type="http://schemas.openxmlformats.org/officeDocument/2006/relationships/slide" Target="/ppt/slides/slide5.xml" Id="R18b34bb69e3d4f74" /><Relationship Type="http://schemas.openxmlformats.org/officeDocument/2006/relationships/slide" Target="/ppt/slides/slide6.xml" Id="Rbec6260e7e5a40e5" /><Relationship Type="http://schemas.openxmlformats.org/officeDocument/2006/relationships/slide" Target="/ppt/slides/slide7.xml" Id="R4ab32efa8bd44e0b" /><Relationship Type="http://schemas.openxmlformats.org/officeDocument/2006/relationships/slide" Target="/ppt/slides/slide8.xml" Id="Rfbad621689b7481b" /><Relationship Type="http://schemas.openxmlformats.org/officeDocument/2006/relationships/slide" Target="/ppt/slides/slide9.xml" Id="Rb6e9fd67b0064851" /><Relationship Type="http://schemas.openxmlformats.org/officeDocument/2006/relationships/slide" Target="/ppt/slides/slide10.xml" Id="R8c067c2be9884ffb" /><Relationship Type="http://schemas.openxmlformats.org/officeDocument/2006/relationships/slide" Target="/ppt/slides/slide11.xml" Id="R747c472595b5483c" /><Relationship Type="http://schemas.openxmlformats.org/officeDocument/2006/relationships/slide" Target="/ppt/slides/slide12.xml" Id="R28dc6bb85b4847e4" /><Relationship Type="http://schemas.openxmlformats.org/officeDocument/2006/relationships/slide" Target="/ppt/slides/slide13.xml" Id="R8cd7dbc683464a3e" /><Relationship Type="http://schemas.openxmlformats.org/officeDocument/2006/relationships/slide" Target="/ppt/slides/slide14.xml" Id="R04579f133d4f4ca1" /><Relationship Type="http://schemas.openxmlformats.org/officeDocument/2006/relationships/slide" Target="/ppt/slides/slide15.xml" Id="Rdd84ffbf57b9438f" /><Relationship Type="http://schemas.openxmlformats.org/officeDocument/2006/relationships/slide" Target="/ppt/slides/slide16.xml" Id="R420aaf48f6d64f5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42bb833be1647c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2d4312835ea4dcb" /><Relationship Type="http://schemas.openxmlformats.org/officeDocument/2006/relationships/notesMaster" Target="/ppt/notesMasters/notesMaster1.xml" Id="R92aebc05d5234cd0" /></Relationships>
</file>

<file path=ppt/notesSlides/_rels/notesSlide2.xml.rels>&#65279;<?xml version="1.0" encoding="utf-8"?><Relationships xmlns="http://schemas.openxmlformats.org/package/2006/relationships"><Relationship Type="http://schemas.openxmlformats.org/officeDocument/2006/relationships/slide" Target="/ppt/slides/slide2.xml" Id="R8f9f12ede33f41a5" /><Relationship Type="http://schemas.openxmlformats.org/officeDocument/2006/relationships/notesMaster" Target="/ppt/notesMasters/notesMaster1.xml" Id="R749bc742e8b04bc8" /></Relationships>
</file>

<file path=ppt/notesSlides/_rels/notesSlide3.xml.rels>&#65279;<?xml version="1.0" encoding="utf-8"?><Relationships xmlns="http://schemas.openxmlformats.org/package/2006/relationships"><Relationship Type="http://schemas.openxmlformats.org/officeDocument/2006/relationships/slide" Target="/ppt/slides/slide3.xml" Id="R8bb3e5adde924b6c" /><Relationship Type="http://schemas.openxmlformats.org/officeDocument/2006/relationships/notesMaster" Target="/ppt/notesMasters/notesMaster1.xml" Id="Re80107c46a36445b" /></Relationships>
</file>

<file path=ppt/notesSlides/_rels/notesSlide4.xml.rels>&#65279;<?xml version="1.0" encoding="utf-8"?><Relationships xmlns="http://schemas.openxmlformats.org/package/2006/relationships"><Relationship Type="http://schemas.openxmlformats.org/officeDocument/2006/relationships/slide" Target="/ppt/slides/slide4.xml" Id="Rc3478f6d743a40a7" /><Relationship Type="http://schemas.openxmlformats.org/officeDocument/2006/relationships/notesMaster" Target="/ppt/notesMasters/notesMaster1.xml" Id="R7390a2061943443d" /></Relationships>
</file>

<file path=ppt/notesSlides/_rels/notesSlide5.xml.rels>&#65279;<?xml version="1.0" encoding="utf-8"?><Relationships xmlns="http://schemas.openxmlformats.org/package/2006/relationships"><Relationship Type="http://schemas.openxmlformats.org/officeDocument/2006/relationships/slide" Target="/ppt/slides/slide5.xml" Id="Rfa145fde3c3e482a" /><Relationship Type="http://schemas.openxmlformats.org/officeDocument/2006/relationships/notesMaster" Target="/ppt/notesMasters/notesMaster1.xml" Id="Ree7f33acb93e46d4" /></Relationships>
</file>

<file path=ppt/notesSlides/_rels/notesSlide6.xml.rels>&#65279;<?xml version="1.0" encoding="utf-8"?><Relationships xmlns="http://schemas.openxmlformats.org/package/2006/relationships"><Relationship Type="http://schemas.openxmlformats.org/officeDocument/2006/relationships/slide" Target="/ppt/slides/slide6.xml" Id="R61f4acd18e574d22" /><Relationship Type="http://schemas.openxmlformats.org/officeDocument/2006/relationships/notesMaster" Target="/ppt/notesMasters/notesMaster1.xml" Id="R4aedb471de2e41fa" /></Relationships>
</file>

<file path=ppt/notesSlides/_rels/notesSlide7.xml.rels>&#65279;<?xml version="1.0" encoding="utf-8"?><Relationships xmlns="http://schemas.openxmlformats.org/package/2006/relationships"><Relationship Type="http://schemas.openxmlformats.org/officeDocument/2006/relationships/slide" Target="/ppt/slides/slide7.xml" Id="Rdd308da3ed3c4fe0" /><Relationship Type="http://schemas.openxmlformats.org/officeDocument/2006/relationships/notesMaster" Target="/ppt/notesMasters/notesMaster1.xml" Id="Rf1ec69970e714503" /></Relationships>
</file>

<file path=ppt/notesSlides/_rels/notesSlide8.xml.rels>&#65279;<?xml version="1.0" encoding="utf-8"?><Relationships xmlns="http://schemas.openxmlformats.org/package/2006/relationships"><Relationship Type="http://schemas.openxmlformats.org/officeDocument/2006/relationships/slide" Target="/ppt/slides/slide8.xml" Id="R7c37087aed6a4375" /><Relationship Type="http://schemas.openxmlformats.org/officeDocument/2006/relationships/notesMaster" Target="/ppt/notesMasters/notesMaster1.xml" Id="R08fe83a816384836" /></Relationships>
</file>

<file path=ppt/notesSlides/_rels/notesSlide9.xml.rels>&#65279;<?xml version="1.0" encoding="utf-8"?><Relationships xmlns="http://schemas.openxmlformats.org/package/2006/relationships"><Relationship Type="http://schemas.openxmlformats.org/officeDocument/2006/relationships/slide" Target="/ppt/slides/slide9.xml" Id="Rf0dab790b55842ed" /><Relationship Type="http://schemas.openxmlformats.org/officeDocument/2006/relationships/notesMaster" Target="/ppt/notesMasters/notesMaster1.xml" Id="R4c3c877075fc426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8ea38286c7047fd" /><Relationship Type="http://schemas.openxmlformats.org/officeDocument/2006/relationships/notesMaster" Target="/ppt/notesMasters/notesMaster1.xml" Id="R24388fd80c89471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29c8b07316747a6" /><Relationship Type="http://schemas.openxmlformats.org/officeDocument/2006/relationships/notesMaster" Target="/ppt/notesMasters/notesMaster1.xml" Id="R000d755a12c0442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ab545780f814b20" /><Relationship Type="http://schemas.openxmlformats.org/officeDocument/2006/relationships/notesMaster" Target="/ppt/notesMasters/notesMaster1.xml" Id="R08e75edccb154d2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71e5e957ef94575" /><Relationship Type="http://schemas.openxmlformats.org/officeDocument/2006/relationships/notesMaster" Target="/ppt/notesMasters/notesMaster1.xml" Id="Recb4765aa5d145a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e9f4c24adb446a6" /><Relationship Type="http://schemas.openxmlformats.org/officeDocument/2006/relationships/notesMaster" Target="/ppt/notesMasters/notesMaster1.xml" Id="Rd000bfacbe2b4d6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bdcc3799ee2455b" /><Relationship Type="http://schemas.openxmlformats.org/officeDocument/2006/relationships/notesMaster" Target="/ppt/notesMasters/notesMaster1.xml" Id="Re32945f2681c442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43f498d5a564826" /><Relationship Type="http://schemas.openxmlformats.org/officeDocument/2006/relationships/notesMaster" Target="/ppt/notesMasters/notesMaster1.xml" Id="R0020e53cc9594ea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source: ../SG_GoAssist_Prototype_Action_Plan.pdf, pp. 1–2. Supporting proposal: ../APAS_Design_Document.docx.</a:t>
            </a:r>
          </a:p>
          <a:p xmlns:a="http://schemas.openxmlformats.org/drawingml/2006/main">
            <a:r>
              <a:t>Presenter: ____________________</a:t>
            </a:r>
          </a:p>
          <a:p xmlns:a="http://schemas.openxmlformats.org/drawingml/2006/main">
            <a:r>
              <a:t>Draft for group editing. Add the confirmed member names before submission.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source: ../SG_GoAssist_Prototype_Action_Plan.pdf, pp. 1–3, 13. These are design goals. User findings and measured improvements remain incomplete.</a:t>
            </a:r>
          </a:p>
          <a:p xmlns:a="http://schemas.openxmlformats.org/drawingml/2006/main">
            <a:r>
              <a:t/>
            </a:r>
          </a:p>
          <a:p xmlns:a="http://schemas.openxmlformats.org/drawingml/2006/main">
            <a:r>
              <a:t>Presenter: ____________________</a:t>
            </a:r>
          </a:p>
          <a:p xmlns:a="http://schemas.openxmlformats.org/drawingml/2006/main">
            <a:r>
              <a:t>Status date: 25 September 2026. Blank result fields are intentionally incomplete.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source: ../SG_GoAssist_Prototype_Action_Plan.pdf, p. 3. The original nine steps are request, recognise, prepare, dock, mark zone, check zone, deploy, board and complete. Current physical end-to-end completion has not been established.</a:t>
            </a:r>
          </a:p>
          <a:p xmlns:a="http://schemas.openxmlformats.org/drawingml/2006/main">
            <a:r>
              <a:t/>
            </a:r>
          </a:p>
          <a:p xmlns:a="http://schemas.openxmlformats.org/drawingml/2006/main">
            <a:r>
              <a:t>Presenter: ____________________</a:t>
            </a:r>
          </a:p>
          <a:p xmlns:a="http://schemas.openxmlformats.org/drawingml/2006/main">
            <a:r>
              <a:t>Status date: 25 September 2026. Blank result fields are intentionally incomplete.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source: ../SG_GoAssist_Prototype_Action_Plan.pdf, pp. 5, 9; docs/grand-challenge-integrated-prototype.md, Safety policy and Portable build; docs/task-requirements-traceability.md, SR-01–04.</a:t>
            </a:r>
          </a:p>
          <a:p xmlns:a="http://schemas.openxmlformats.org/drawingml/2006/main">
            <a:r>
              <a:t/>
            </a:r>
          </a:p>
          <a:p xmlns:a="http://schemas.openxmlformats.org/drawingml/2006/main">
            <a:r>
              <a:t>Presenter: ____________________</a:t>
            </a:r>
          </a:p>
          <a:p xmlns:a="http://schemas.openxmlformats.org/drawingml/2006/main">
            <a:r>
              <a:t>Status date: 25 September 2026. Blank result fields are intentionally incomplete.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docs/feature-readiness-matrix.md; docs/grand-challenge-integrated-prototype.md; cad/VALIDATION_v2.md; hardware/esp32-s3-tof-test/README.md; hardware/edge-observer/ml1/README.md. This is a repository evidence review, not a fresh rerun of all software tests.</a:t>
            </a:r>
          </a:p>
          <a:p xmlns:a="http://schemas.openxmlformats.org/drawingml/2006/main">
            <a:r>
              <a:t/>
            </a:r>
          </a:p>
          <a:p xmlns:a="http://schemas.openxmlformats.org/drawingml/2006/main">
            <a:r>
              <a:t>Presenter: ____________________</a:t>
            </a:r>
          </a:p>
          <a:p xmlns:a="http://schemas.openxmlformats.org/drawingml/2006/main">
            <a:r>
              <a:t>Status date: 25 September 2026. Blank result fields are intentionally incomplete.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README.md, Integrated assistance demonstrator and Private hybrid assistant; docs/grand-challenge-integrated-prototype.md; docs/feature-readiness-matrix.md. No assertion that all tests were rerun for this report.</a:t>
            </a:r>
          </a:p>
          <a:p xmlns:a="http://schemas.openxmlformats.org/drawingml/2006/main">
            <a:r>
              <a:t/>
            </a:r>
          </a:p>
          <a:p xmlns:a="http://schemas.openxmlformats.org/drawingml/2006/main">
            <a:r>
              <a:t>Presenter: ____________________</a:t>
            </a:r>
          </a:p>
          <a:p xmlns:a="http://schemas.openxmlformats.org/drawingml/2006/main">
            <a:r>
              <a:t>Status date: 25 September 2026. Blank result fields are intentionally incomplete.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cad/VALIDATION_v2.md; cad/README_v2.md; cad/v2_final_report.json; cad/v2_clearance_report.json. Image: cad/Punggol_WeRide_Robobus_v2_deployed.png (project Fusion CAD render, not a photograph). The sweep contains 73 sampled poses, including repeated stationary stages. The separate passage check addresses a static entrance obstruction.</a:t>
            </a:r>
          </a:p>
          <a:p xmlns:a="http://schemas.openxmlformats.org/drawingml/2006/main">
            <a:r>
              <a:t/>
            </a:r>
          </a:p>
          <a:p xmlns:a="http://schemas.openxmlformats.org/drawingml/2006/main">
            <a:r>
              <a:t>Presenter: ____________________</a:t>
            </a:r>
          </a:p>
          <a:p xmlns:a="http://schemas.openxmlformats.org/drawingml/2006/main">
            <a:r>
              <a:t>Status date: 25 September 2026. Blank result fields are intentionally incomplete.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hardware/esp32-s3-tof-test/README.md, Verification on 23 September 2026; artifacts/apas-tof-build/serial-powercycle-test.txt; hardware/INTEGRATED_PROTOTYPE.md. Measurements are sensor-reported values without a known-distance accuracy comparison.</a:t>
            </a:r>
          </a:p>
          <a:p xmlns:a="http://schemas.openxmlformats.org/drawingml/2006/main">
            <a:r>
              <a:t/>
            </a:r>
          </a:p>
          <a:p xmlns:a="http://schemas.openxmlformats.org/drawingml/2006/main">
            <a:r>
              <a:t>Presenter: ____________________</a:t>
            </a:r>
          </a:p>
          <a:p xmlns:a="http://schemas.openxmlformats.org/drawingml/2006/main">
            <a:r>
              <a:t>Status date: 25 September 2026. Blank result fields are intentionally incomplete.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source: ../SG_GoAssist_Prototype_Action_Plan.pdf, pp. 5–8; hardware/edge-observer/README.md; hardware/edge-observer/ml1/README.md; hardware/edge-observer/ml1/LABEL_GUIDE.md. Dataset scope differs: original outline 300–500 ML1 images, later README 800–1,200. Team should confirm controlled-demo scope before capture. No measured trained-model evidence located in reviewed materials.</a:t>
            </a:r>
          </a:p>
          <a:p xmlns:a="http://schemas.openxmlformats.org/drawingml/2006/main">
            <a:r>
              <a:t/>
            </a:r>
          </a:p>
          <a:p xmlns:a="http://schemas.openxmlformats.org/drawingml/2006/main">
            <a:r>
              <a:t>Presenter: ____________________</a:t>
            </a:r>
          </a:p>
          <a:p xmlns:a="http://schemas.openxmlformats.org/drawingml/2006/main">
            <a:r>
              <a:t>Status date: 25 September 2026. Blank result fields are intentionally incomplete.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source: ../SG_GoAssist_Prototype_Action_Plan.pdf, p. 12. Status derives from reviewed repository evidence as of 25 September 2026. D1/D3 software availability does not establish completed hardware acceptance.</a:t>
            </a:r>
          </a:p>
          <a:p xmlns:a="http://schemas.openxmlformats.org/drawingml/2006/main">
            <a:r>
              <a:t/>
            </a:r>
          </a:p>
          <a:p xmlns:a="http://schemas.openxmlformats.org/drawingml/2006/main">
            <a:r>
              <a:t>Presenter: ____________________</a:t>
            </a:r>
          </a:p>
          <a:p xmlns:a="http://schemas.openxmlformats.org/drawingml/2006/main">
            <a:r>
              <a:t>Status date: 25 September 2026. Blank result fields are intentionally incomplete.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source: ../SG_GoAssist_Prototype_Action_Plan.pdf, p. 12; cad/VALIDATION_v2.md; hardware/INTEGRATED_PROTOTYPE.md. The draft report and this deck contribute to D9, but submission acceptance is not established.</a:t>
            </a:r>
          </a:p>
          <a:p xmlns:a="http://schemas.openxmlformats.org/drawingml/2006/main">
            <a:r>
              <a:t/>
            </a:r>
          </a:p>
          <a:p xmlns:a="http://schemas.openxmlformats.org/drawingml/2006/main">
            <a:r>
              <a:t>Presenter: ____________________</a:t>
            </a:r>
          </a:p>
          <a:p xmlns:a="http://schemas.openxmlformats.org/drawingml/2006/main">
            <a:r>
              <a:t>Status date: 25 September 2026. Blank result fields are intentionally incomplete.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source: ../SG_GoAssist_Prototype_Action_Plan.pdf, pp. 6–8, 12–13. Later docs/task-requirements-traceability.md adds 30 trials per explicit source, acknowledgement P95 &lt;2 seconds, and &gt;=50 interlock/obstruction trials. Preserve both as original targets and additional repository checks, and confirm the final protocol. All result cells intentionally blank.</a:t>
            </a:r>
          </a:p>
          <a:p xmlns:a="http://schemas.openxmlformats.org/drawingml/2006/main">
            <a:r>
              <a:t/>
            </a:r>
          </a:p>
          <a:p xmlns:a="http://schemas.openxmlformats.org/drawingml/2006/main">
            <a:r>
              <a:t>Presenter: ____________________</a:t>
            </a:r>
          </a:p>
          <a:p xmlns:a="http://schemas.openxmlformats.org/drawingml/2006/main">
            <a:r>
              <a:t>Status date: 25 September 2026. Blank result fields are intentionally incomplete.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source: ../SG_GoAssist_Prototype_Action_Plan.pdf, p. 13. Obtain consent before any participant study. If participants are classmates only, describe scenario testing rather than validation by disabled users. Compare the same scripted journey under manual assistance and GoAssist. Blank fields intentionally await actual evidence.</a:t>
            </a:r>
          </a:p>
          <a:p xmlns:a="http://schemas.openxmlformats.org/drawingml/2006/main">
            <a:r>
              <a:t/>
            </a:r>
          </a:p>
          <a:p xmlns:a="http://schemas.openxmlformats.org/drawingml/2006/main">
            <a:r>
              <a:t>Presenter: ____________________</a:t>
            </a:r>
          </a:p>
          <a:p xmlns:a="http://schemas.openxmlformats.org/drawingml/2006/main">
            <a:r>
              <a:t>Status date: 25 September 2026. Blank result fields are intentionally incomplete.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source: ../SG_GoAssist_Prototype_Action_Plan.pdf, pp. 12, 14. Cost fields and final evidence links intentionally blank. These are editable working fields, not zero costs or completed submissions.</a:t>
            </a:r>
          </a:p>
          <a:p xmlns:a="http://schemas.openxmlformats.org/drawingml/2006/main">
            <a:r>
              <a:t/>
            </a:r>
          </a:p>
          <a:p xmlns:a="http://schemas.openxmlformats.org/drawingml/2006/main">
            <a:r>
              <a:t>Presenter: ____________________</a:t>
            </a:r>
          </a:p>
          <a:p xmlns:a="http://schemas.openxmlformats.org/drawingml/2006/main">
            <a:r>
              <a:t>Status date: 25 September 2026. Blank result fields are intentionally incomplete.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source: ../SG_GoAssist_Prototype_Action_Plan.pdf, pp. 11, 14. These are planned gates from the original outline, not verified completions or guaranteed dates. Priorities reflect evidence gaps reviewed on 25 September.</a:t>
            </a:r>
          </a:p>
          <a:p xmlns:a="http://schemas.openxmlformats.org/drawingml/2006/main">
            <a:r>
              <a:t/>
            </a:r>
          </a:p>
          <a:p xmlns:a="http://schemas.openxmlformats.org/drawingml/2006/main">
            <a:r>
              <a:t>Presenter: ____________________</a:t>
            </a:r>
          </a:p>
          <a:p xmlns:a="http://schemas.openxmlformats.org/drawingml/2006/main">
            <a:r>
              <a:t>Status date: 25 September 2026. Blank result fields are intentionally incomplete.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source: ../SG_GoAssist_Prototype_Action_Plan.pdf, pp. 2–3, 14–15; docs/feature-readiness-matrix.md; cad/VALIDATION_v2.md. Image: cad/Punggol_WeRide_Robobus_v2_travel.png (project CAD render). No measured benefit or completed physical integration claim.</a:t>
            </a:r>
          </a:p>
          <a:p xmlns:a="http://schemas.openxmlformats.org/drawingml/2006/main">
            <a:r>
              <a:t>Suggested closing: the next milestone is a documented, repeatable physical assistance journey with controlled failure scenarios.</a:t>
            </a:r>
          </a:p>
          <a:p xmlns:a="http://schemas.openxmlformats.org/drawingml/2006/main">
            <a:r>
              <a:t/>
            </a:r>
          </a:p>
          <a:p xmlns:a="http://schemas.openxmlformats.org/drawingml/2006/main">
            <a:r>
              <a:t>Presenter: ____________________</a:t>
            </a:r>
          </a:p>
          <a:p xmlns:a="http://schemas.openxmlformats.org/drawingml/2006/main">
            <a:r>
              <a:t>Status date: 25 September 2026. Blank result fields are intentionally incomplete.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e5207079f1b459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9abc5b7d3664476" /><Relationship Type="http://schemas.openxmlformats.org/officeDocument/2006/relationships/slideLayout" Target="/ppt/slideLayouts/slideLayout1.xml" Id="R2385b2ae03b047b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385b2ae03b047b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c7ed457134348dc" /><Relationship Type="http://schemas.openxmlformats.org/officeDocument/2006/relationships/notesSlide" Target="/ppt/notesSlides/notesSlide1.xml" Id="R696cb04f983047a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3fd5d8813514d0d" /><Relationship Type="http://schemas.openxmlformats.org/officeDocument/2006/relationships/notesSlide" Target="/ppt/notesSlides/notesSlide2.xml" Id="Recfbdddd1af842c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9e2041f58d24177" /><Relationship Type="http://schemas.openxmlformats.org/officeDocument/2006/relationships/notesSlide" Target="/ppt/notesSlides/notesSlide3.xml" Id="Rd9a5495ef64c432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c7cdcae7b3744bd" /><Relationship Type="http://schemas.openxmlformats.org/officeDocument/2006/relationships/notesSlide" Target="/ppt/notesSlides/notesSlide4.xml" Id="R1c7e35bdb4ba474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b023a8fe043481b" /><Relationship Type="http://schemas.openxmlformats.org/officeDocument/2006/relationships/notesSlide" Target="/ppt/notesSlides/notesSlide5.xml" Id="R71561a02d18348b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3b11e8022ae4026" /><Relationship Type="http://schemas.openxmlformats.org/officeDocument/2006/relationships/notesSlide" Target="/ppt/notesSlides/notesSlide6.xml" Id="Rac7439d84bfa483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7576d73dabb4339" /><Relationship Type="http://schemas.openxmlformats.org/officeDocument/2006/relationships/image" Target="/ppt/media/image.png" Id="Rd75fe1359830439f" /><Relationship Type="http://schemas.openxmlformats.org/officeDocument/2006/relationships/notesSlide" Target="/ppt/notesSlides/notesSlide7.xml" Id="Rbdec703548f843f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3f15e4176b84b1b" /><Relationship Type="http://schemas.openxmlformats.org/officeDocument/2006/relationships/notesSlide" Target="/ppt/notesSlides/notesSlide8.xml" Id="Rebba76bfd9494c9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2df8fd4a65f4ad9" /><Relationship Type="http://schemas.openxmlformats.org/officeDocument/2006/relationships/notesSlide" Target="/ppt/notesSlides/notesSlide9.xml" Id="Rfe0e15416058488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8403ddfcf014982" /><Relationship Type="http://schemas.openxmlformats.org/officeDocument/2006/relationships/notesSlide" Target="/ppt/notesSlides/notesSlide10.xml" Id="Rd4b906fea49b468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cb33ccf8a864b1e" /><Relationship Type="http://schemas.openxmlformats.org/officeDocument/2006/relationships/notesSlide" Target="/ppt/notesSlides/notesSlide11.xml" Id="R854a36b907a04b3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70bd184f8004d88" /><Relationship Type="http://schemas.openxmlformats.org/officeDocument/2006/relationships/notesSlide" Target="/ppt/notesSlides/notesSlide12.xml" Id="R7d3aef06bed6466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f25e924f97114176" /><Relationship Type="http://schemas.openxmlformats.org/officeDocument/2006/relationships/notesSlide" Target="/ppt/notesSlides/notesSlide13.xml" Id="Rc36fae982057498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a63d86089b024a9a" /><Relationship Type="http://schemas.openxmlformats.org/officeDocument/2006/relationships/notesSlide" Target="/ppt/notesSlides/notesSlide14.xml" Id="R2a0a04f9e1104b0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97721ef2da6c4e40" /><Relationship Type="http://schemas.openxmlformats.org/officeDocument/2006/relationships/notesSlide" Target="/ppt/notesSlides/notesSlide15.xml" Id="R20d07dd28c004db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b9a47e5c1b8447a1" /><Relationship Type="http://schemas.openxmlformats.org/officeDocument/2006/relationships/image" Target="/ppt/media/image2.png" Id="R43c1bde0e909485a" /><Relationship Type="http://schemas.openxmlformats.org/officeDocument/2006/relationships/notesSlide" Target="/ppt/notesSlides/notesSlide16.xml" Id="R2778e2ba679b4e92" /></Relationships>
</file>

<file path=ppt/slides/slide1.xml><?xml version="1.0" encoding="utf-8"?>
<p:sld xmlns:p="http://schemas.openxmlformats.org/presentationml/2006/main">
  <p:cSld>
    <p:bg>
      <p:bgPr>
        <a:solidFill xmlns:a="http://schemas.openxmlformats.org/drawingml/2006/main">
          <a:srgbClr val="18344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AE5EB04-F6B7-469E-A137-46C5C441CAA3}"/>
              </a:ext>
            </a:extLst>
          </p:cNvPr>
          <p:cNvSpPr>
            <a:spLocks xmlns:a="http://schemas.openxmlformats.org/drawingml/2006/main" noGrp="1"/>
          </p:cNvSpPr>
          <p:nvPr/>
        </p:nvSpPr>
        <p:spPr>
          <a:xfrm xmlns:a="http://schemas.openxmlformats.org/drawingml/2006/main">
            <a:off x="628650" y="695325"/>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5250" b="1">
                <a:solidFill>
                  <a:srgbClr val="FFFFFF"/>
                </a:solidFill>
                <a:latin typeface="Arial"/>
                <a:ea typeface="Arial"/>
                <a:cs typeface="Arial"/>
              </a:defRPr>
            </a:pPr>
            <a:r>
              <a:rPr sz="5250" b="1">
                <a:solidFill>
                  <a:srgbClr val="FFFFFF"/>
                </a:solidFill>
                <a:latin typeface="Arial"/>
                <a:ea typeface="Arial"/>
                <a:cs typeface="Arial"/>
              </a:rPr>
              <a:t>SG GoAssist</a:t>
            </a:r>
          </a:p>
        </p:txBody>
      </p:sp>
      <p:sp>
        <p:nvSpPr>
          <p:cNvPr id="2" name="">
            <a:extLst xmlns:a="http://schemas.openxmlformats.org/drawingml/2006/main">
              <a:ext uri="{FF2B5EF4-FFF2-40B4-BE49-F238E27FC236}">
                <a16:creationId xmlns:a16="http://schemas.microsoft.com/office/drawing/2014/main" id="{754F4537-64FF-4200-95A8-419959DFEED6}"/>
              </a:ext>
            </a:extLst>
          </p:cNvPr>
          <p:cNvSpPr>
            <a:spLocks xmlns:a="http://schemas.openxmlformats.org/drawingml/2006/main" noGrp="1"/>
          </p:cNvSpPr>
          <p:nvPr/>
        </p:nvSpPr>
        <p:spPr>
          <a:xfrm xmlns:a="http://schemas.openxmlformats.org/drawingml/2006/main">
            <a:off x="657225" y="1724025"/>
            <a:ext cx="10810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0">
                <a:solidFill>
                  <a:srgbClr val="FFFFFF"/>
                </a:solidFill>
                <a:latin typeface="Arial"/>
                <a:ea typeface="Arial"/>
                <a:cs typeface="Arial"/>
              </a:defRPr>
            </a:pPr>
            <a:r>
              <a:rPr sz="2400" b="0">
                <a:solidFill>
                  <a:srgbClr val="FFFFFF"/>
                </a:solidFill>
                <a:latin typeface="Arial"/>
                <a:ea typeface="Arial"/>
                <a:cs typeface="Arial"/>
              </a:rPr>
              <a:t>Autonomous Passenger Assistance System</a:t>
            </a:r>
          </a:p>
        </p:txBody>
      </p:sp>
      <p:sp>
        <p:nvSpPr>
          <p:cNvPr id="3" name="">
            <a:extLst xmlns:a="http://schemas.openxmlformats.org/drawingml/2006/main">
              <a:ext uri="{FF2B5EF4-FFF2-40B4-BE49-F238E27FC236}">
                <a16:creationId xmlns:a16="http://schemas.microsoft.com/office/drawing/2014/main" id="{583289BC-C91C-4D4C-94BE-A2D3CC4FED00}"/>
              </a:ext>
            </a:extLst>
          </p:cNvPr>
          <p:cNvSpPr>
            <a:spLocks xmlns:a="http://schemas.openxmlformats.org/drawingml/2006/main" noGrp="1"/>
          </p:cNvSpPr>
          <p:nvPr/>
        </p:nvSpPr>
        <p:spPr>
          <a:xfrm xmlns:a="http://schemas.openxmlformats.org/drawingml/2006/main">
            <a:off x="657225" y="2457450"/>
            <a:ext cx="108108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a:solidFill>
                  <a:srgbClr val="8ED4D0"/>
                </a:solidFill>
                <a:latin typeface="Arial"/>
                <a:ea typeface="Arial"/>
                <a:cs typeface="Arial"/>
              </a:defRPr>
            </a:pPr>
            <a:r>
              <a:rPr sz="2325" b="0">
                <a:solidFill>
                  <a:srgbClr val="8ED4D0"/>
                </a:solidFill>
                <a:latin typeface="Arial"/>
                <a:ea typeface="Arial"/>
                <a:cs typeface="Arial"/>
              </a:rPr>
              <a:t>Project overview and progress draft</a:t>
            </a:r>
          </a:p>
        </p:txBody>
      </p:sp>
      <p:sp>
        <p:nvSpPr>
          <p:cNvPr id="4" name="">
            <a:extLst xmlns:a="http://schemas.openxmlformats.org/drawingml/2006/main">
              <a:ext uri="{FF2B5EF4-FFF2-40B4-BE49-F238E27FC236}">
                <a16:creationId xmlns:a16="http://schemas.microsoft.com/office/drawing/2014/main" id="{6CD52AA2-0B79-4FA6-AF90-65781D6EFBE9}"/>
              </a:ext>
            </a:extLst>
          </p:cNvPr>
          <p:cNvSpPr>
            <a:spLocks xmlns:a="http://schemas.openxmlformats.org/drawingml/2006/main" noGrp="1"/>
          </p:cNvSpPr>
          <p:nvPr/>
        </p:nvSpPr>
        <p:spPr>
          <a:xfrm xmlns:a="http://schemas.openxmlformats.org/drawingml/2006/main">
            <a:off x="657225" y="3133725"/>
            <a:ext cx="5048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FFFFFF"/>
                </a:solidFill>
                <a:latin typeface="Arial"/>
                <a:ea typeface="Arial"/>
                <a:cs typeface="Arial"/>
              </a:defRPr>
            </a:pPr>
            <a:r>
              <a:rPr sz="1875" b="0">
                <a:solidFill>
                  <a:srgbClr val="FFFFFF"/>
                </a:solidFill>
                <a:latin typeface="Arial"/>
                <a:ea typeface="Arial"/>
                <a:cs typeface="Arial"/>
              </a:rPr>
              <a:t>25 September 2026</a:t>
            </a:r>
          </a:p>
        </p:txBody>
      </p:sp>
      <p:sp>
        <p:nvSpPr>
          <p:cNvPr id="5" name="">
            <a:extLst xmlns:a="http://schemas.openxmlformats.org/drawingml/2006/main">
              <a:ext uri="{FF2B5EF4-FFF2-40B4-BE49-F238E27FC236}">
                <a16:creationId xmlns:a16="http://schemas.microsoft.com/office/drawing/2014/main" id="{55F817E5-83AF-466D-ABCC-524FD827B292}"/>
              </a:ext>
            </a:extLst>
          </p:cNvPr>
          <p:cNvSpPr>
            <a:spLocks xmlns:a="http://schemas.openxmlformats.org/drawingml/2006/main" noGrp="1"/>
          </p:cNvSpPr>
          <p:nvPr/>
        </p:nvSpPr>
        <p:spPr>
          <a:xfrm xmlns:a="http://schemas.openxmlformats.org/drawingml/2006/main">
            <a:off x="657225" y="5629275"/>
            <a:ext cx="1038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FFFFFF"/>
                </a:solidFill>
                <a:latin typeface="Arial"/>
                <a:ea typeface="Arial"/>
                <a:cs typeface="Arial"/>
              </a:defRPr>
            </a:pPr>
            <a:r>
              <a:rPr sz="1725" b="0">
                <a:solidFill>
                  <a:srgbClr val="FFFFFF"/>
                </a:solidFill>
                <a:latin typeface="Arial"/>
                <a:ea typeface="Arial"/>
                <a:cs typeface="Arial"/>
              </a:rPr>
              <a:t>Team members: ______________________________</a:t>
            </a:r>
          </a:p>
        </p:txBody>
      </p:sp>
      <p:sp>
        <p:nvSpPr>
          <p:cNvPr id="6" name="">
            <a:extLst xmlns:a="http://schemas.openxmlformats.org/drawingml/2006/main">
              <a:ext uri="{FF2B5EF4-FFF2-40B4-BE49-F238E27FC236}">
                <a16:creationId xmlns:a16="http://schemas.microsoft.com/office/drawing/2014/main" id="{1A737BF4-8CF0-473A-96A3-6F34F67401CC}"/>
              </a:ext>
            </a:extLst>
          </p:cNvPr>
          <p:cNvSpPr>
            <a:spLocks xmlns:a="http://schemas.openxmlformats.org/drawingml/2006/main" noGrp="1"/>
          </p:cNvSpPr>
          <p:nvPr/>
        </p:nvSpPr>
        <p:spPr>
          <a:xfrm xmlns:a="http://schemas.openxmlformats.org/drawingml/2006/main">
            <a:off x="657225" y="6105525"/>
            <a:ext cx="1038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BBD0D7"/>
                </a:solidFill>
                <a:latin typeface="Arial"/>
                <a:ea typeface="Arial"/>
                <a:cs typeface="Arial"/>
              </a:defRPr>
            </a:pPr>
            <a:r>
              <a:rPr sz="1500" b="0">
                <a:solidFill>
                  <a:srgbClr val="BBD0D7"/>
                </a:solidFill>
                <a:latin typeface="Arial"/>
                <a:ea typeface="Arial"/>
                <a:cs typeface="Arial"/>
              </a:rPr>
              <a:t>31 August–30 September 2026 project window</a:t>
            </a:r>
          </a:p>
        </p:txBody>
      </p:sp>
    </p:spTree>
    <p:extLst>
      <p:ext uri="{BB962C8B-B14F-4D97-AF65-F5344CB8AC3E}">
        <p14:creationId xmlns:p14="http://schemas.microsoft.com/office/powerpoint/2010/main" val="173409774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7CA911A-9F03-415B-A6AF-C644027B88CD}"/>
              </a:ext>
            </a:extLst>
          </p:cNvPr>
          <p:cNvSpPr>
            <a:spLocks xmlns:a="http://schemas.openxmlformats.org/drawingml/2006/main" noGrp="1"/>
          </p:cNvSpPr>
          <p:nvPr/>
        </p:nvSpPr>
        <p:spPr>
          <a:xfrm xmlns:a="http://schemas.openxmlformats.org/drawingml/2006/main">
            <a:off x="609600" y="4381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83447"/>
                </a:solidFill>
                <a:latin typeface="Arial"/>
                <a:ea typeface="Arial"/>
                <a:cs typeface="Arial"/>
              </a:defRPr>
            </a:pPr>
            <a:r>
              <a:rPr sz="3300" b="1">
                <a:solidFill>
                  <a:srgbClr val="183447"/>
                </a:solidFill>
                <a:latin typeface="Arial"/>
                <a:ea typeface="Arial"/>
                <a:cs typeface="Arial"/>
              </a:rPr>
              <a:t>Project purpose and intended users</a:t>
            </a:r>
          </a:p>
        </p:txBody>
      </p:sp>
      <p:sp>
        <p:nvSpPr>
          <p:cNvPr id="2" name="">
            <a:extLst xmlns:a="http://schemas.openxmlformats.org/drawingml/2006/main">
              <a:ext uri="{FF2B5EF4-FFF2-40B4-BE49-F238E27FC236}">
                <a16:creationId xmlns:a16="http://schemas.microsoft.com/office/drawing/2014/main" id="{28043961-963B-4343-9407-8F8198823E36}"/>
              </a:ext>
            </a:extLst>
          </p:cNvPr>
          <p:cNvSpPr>
            <a:spLocks xmlns:a="http://schemas.openxmlformats.org/drawingml/2006/main" noGrp="1"/>
          </p:cNvSpPr>
          <p:nvPr/>
        </p:nvSpPr>
        <p:spPr>
          <a:xfrm xmlns:a="http://schemas.openxmlformats.org/drawingml/2006/main">
            <a:off x="628650" y="1257300"/>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52666F"/>
                </a:solidFill>
                <a:latin typeface="Arial"/>
                <a:ea typeface="Arial"/>
                <a:cs typeface="Arial"/>
              </a:defRPr>
            </a:pPr>
            <a:r>
              <a:rPr sz="1875" b="0">
                <a:solidFill>
                  <a:srgbClr val="52666F"/>
                </a:solidFill>
                <a:latin typeface="Arial"/>
                <a:ea typeface="Arial"/>
                <a:cs typeface="Arial"/>
              </a:rPr>
              <a:t>A controlled prototype for a complete assistance journey</a:t>
            </a:r>
          </a:p>
        </p:txBody>
      </p:sp>
      <p:sp>
        <p:nvSpPr>
          <p:cNvPr id="3" name="">
            <a:extLst xmlns:a="http://schemas.openxmlformats.org/drawingml/2006/main">
              <a:ext uri="{FF2B5EF4-FFF2-40B4-BE49-F238E27FC236}">
                <a16:creationId xmlns:a16="http://schemas.microsoft.com/office/drawing/2014/main" id="{4C209EC2-90C8-41BE-AADD-B4696DB0BF74}"/>
              </a:ext>
            </a:extLst>
          </p:cNvPr>
          <p:cNvSpPr>
            <a:spLocks xmlns:a="http://schemas.openxmlformats.org/drawingml/2006/main" noGrp="1"/>
          </p:cNvSpPr>
          <p:nvPr/>
        </p:nvSpPr>
        <p:spPr>
          <a:xfrm xmlns:a="http://schemas.openxmlformats.org/drawingml/2006/main">
            <a:off x="11077575"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66F"/>
                </a:solidFill>
                <a:latin typeface="Arial"/>
                <a:ea typeface="Arial"/>
                <a:cs typeface="Arial"/>
              </a:defRPr>
            </a:pPr>
            <a:r>
              <a:rPr sz="1350" b="0">
                <a:solidFill>
                  <a:srgbClr val="52666F"/>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C2A61B78-D813-4BE2-BF26-44BDCBE8E4DE}"/>
              </a:ext>
            </a:extLst>
          </p:cNvPr>
          <p:cNvSpPr>
            <a:spLocks xmlns:a="http://schemas.openxmlformats.org/drawingml/2006/main" noGrp="1"/>
          </p:cNvSpPr>
          <p:nvPr/>
        </p:nvSpPr>
        <p:spPr>
          <a:xfrm xmlns:a="http://schemas.openxmlformats.org/drawingml/2006/main">
            <a:off x="628650" y="2000250"/>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87E83"/>
                </a:solidFill>
                <a:latin typeface="Arial"/>
                <a:ea typeface="Arial"/>
                <a:cs typeface="Arial"/>
              </a:defRPr>
            </a:pPr>
            <a:r>
              <a:rPr sz="2175" b="1">
                <a:solidFill>
                  <a:srgbClr val="087E83"/>
                </a:solidFill>
                <a:latin typeface="Arial"/>
                <a:ea typeface="Arial"/>
                <a:cs typeface="Arial"/>
              </a:rPr>
              <a:t>The problem</a:t>
            </a:r>
          </a:p>
        </p:txBody>
      </p:sp>
      <p:sp>
        <p:nvSpPr>
          <p:cNvPr id="5" name="">
            <a:extLst xmlns:a="http://schemas.openxmlformats.org/drawingml/2006/main">
              <a:ext uri="{FF2B5EF4-FFF2-40B4-BE49-F238E27FC236}">
                <a16:creationId xmlns:a16="http://schemas.microsoft.com/office/drawing/2014/main" id="{9D8E4720-DA8F-428E-8E64-36126CB576DD}"/>
              </a:ext>
            </a:extLst>
          </p:cNvPr>
          <p:cNvSpPr>
            <a:spLocks xmlns:a="http://schemas.openxmlformats.org/drawingml/2006/main" noGrp="1"/>
          </p:cNvSpPr>
          <p:nvPr/>
        </p:nvSpPr>
        <p:spPr>
          <a:xfrm xmlns:a="http://schemas.openxmlformats.org/drawingml/2006/main">
            <a:off x="628650" y="2400300"/>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223B49"/>
                </a:solidFill>
                <a:latin typeface="Arial"/>
                <a:ea typeface="Arial"/>
                <a:cs typeface="Arial"/>
              </a:defRPr>
            </a:pPr>
            <a:r>
              <a:rPr sz="1950" b="0">
                <a:solidFill>
                  <a:srgbClr val="223B49"/>
                </a:solidFill>
                <a:latin typeface="Arial"/>
                <a:ea typeface="Arial"/>
                <a:cs typeface="Arial"/>
              </a:rPr>
              <a:t>A passenger needs a clear way to request help and know when boarding or alighting is safe.</a:t>
            </a:r>
          </a:p>
        </p:txBody>
      </p:sp>
      <p:sp>
        <p:nvSpPr>
          <p:cNvPr id="6" name="">
            <a:extLst xmlns:a="http://schemas.openxmlformats.org/drawingml/2006/main">
              <a:ext uri="{FF2B5EF4-FFF2-40B4-BE49-F238E27FC236}">
                <a16:creationId xmlns:a16="http://schemas.microsoft.com/office/drawing/2014/main" id="{6AFEE6A0-B629-44E0-8436-43BE90D395E6}"/>
              </a:ext>
            </a:extLst>
          </p:cNvPr>
          <p:cNvSpPr>
            <a:spLocks xmlns:a="http://schemas.openxmlformats.org/drawingml/2006/main" noGrp="1"/>
          </p:cNvSpPr>
          <p:nvPr/>
        </p:nvSpPr>
        <p:spPr>
          <a:xfrm xmlns:a="http://schemas.openxmlformats.org/drawingml/2006/main">
            <a:off x="628650" y="3200400"/>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87E83"/>
                </a:solidFill>
                <a:latin typeface="Arial"/>
                <a:ea typeface="Arial"/>
                <a:cs typeface="Arial"/>
              </a:defRPr>
            </a:pPr>
            <a:r>
              <a:rPr sz="2175" b="1">
                <a:solidFill>
                  <a:srgbClr val="087E83"/>
                </a:solidFill>
                <a:latin typeface="Arial"/>
                <a:ea typeface="Arial"/>
                <a:cs typeface="Arial"/>
              </a:rPr>
              <a:t>The proposed response</a:t>
            </a:r>
          </a:p>
        </p:txBody>
      </p:sp>
      <p:sp>
        <p:nvSpPr>
          <p:cNvPr id="7" name="">
            <a:extLst xmlns:a="http://schemas.openxmlformats.org/drawingml/2006/main">
              <a:ext uri="{FF2B5EF4-FFF2-40B4-BE49-F238E27FC236}">
                <a16:creationId xmlns:a16="http://schemas.microsoft.com/office/drawing/2014/main" id="{21F574E5-20C3-4D2D-8047-5ACC086D4CFE}"/>
              </a:ext>
            </a:extLst>
          </p:cNvPr>
          <p:cNvSpPr>
            <a:spLocks xmlns:a="http://schemas.openxmlformats.org/drawingml/2006/main" noGrp="1"/>
          </p:cNvSpPr>
          <p:nvPr/>
        </p:nvSpPr>
        <p:spPr>
          <a:xfrm xmlns:a="http://schemas.openxmlformats.org/drawingml/2006/main">
            <a:off x="628650" y="3600450"/>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223B49"/>
                </a:solidFill>
                <a:latin typeface="Arial"/>
                <a:ea typeface="Arial"/>
                <a:cs typeface="Arial"/>
              </a:defRPr>
            </a:pPr>
            <a:r>
              <a:rPr sz="1950" b="0">
                <a:solidFill>
                  <a:srgbClr val="223B49"/>
                </a:solidFill>
                <a:latin typeface="Arial"/>
                <a:ea typeface="Arial"/>
                <a:cs typeface="Arial"/>
              </a:rPr>
              <a:t>Connect an explicit request to acknowledgement, safety checks, automated assistance and verified completion.</a:t>
            </a:r>
          </a:p>
        </p:txBody>
      </p:sp>
      <p:sp>
        <p:nvSpPr>
          <p:cNvPr id="8" name="">
            <a:extLst xmlns:a="http://schemas.openxmlformats.org/drawingml/2006/main">
              <a:ext uri="{FF2B5EF4-FFF2-40B4-BE49-F238E27FC236}">
                <a16:creationId xmlns:a16="http://schemas.microsoft.com/office/drawing/2014/main" id="{9106BD96-29D0-427B-90AD-CEBB60806929}"/>
              </a:ext>
            </a:extLst>
          </p:cNvPr>
          <p:cNvSpPr>
            <a:spLocks xmlns:a="http://schemas.openxmlformats.org/drawingml/2006/main" noGrp="1"/>
          </p:cNvSpPr>
          <p:nvPr/>
        </p:nvSpPr>
        <p:spPr>
          <a:xfrm xmlns:a="http://schemas.openxmlformats.org/drawingml/2006/main">
            <a:off x="628650" y="4400550"/>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87E83"/>
                </a:solidFill>
                <a:latin typeface="Arial"/>
                <a:ea typeface="Arial"/>
                <a:cs typeface="Arial"/>
              </a:defRPr>
            </a:pPr>
            <a:r>
              <a:rPr sz="2175" b="1">
                <a:solidFill>
                  <a:srgbClr val="087E83"/>
                </a:solidFill>
                <a:latin typeface="Arial"/>
                <a:ea typeface="Arial"/>
                <a:cs typeface="Arial"/>
              </a:rPr>
              <a:t>Intended users</a:t>
            </a:r>
          </a:p>
        </p:txBody>
      </p:sp>
      <p:sp>
        <p:nvSpPr>
          <p:cNvPr id="9" name="">
            <a:extLst xmlns:a="http://schemas.openxmlformats.org/drawingml/2006/main">
              <a:ext uri="{FF2B5EF4-FFF2-40B4-BE49-F238E27FC236}">
                <a16:creationId xmlns:a16="http://schemas.microsoft.com/office/drawing/2014/main" id="{C8BF3EB8-4A4A-49D5-B8D8-23B8BF7E9DF3}"/>
              </a:ext>
            </a:extLst>
          </p:cNvPr>
          <p:cNvSpPr>
            <a:spLocks xmlns:a="http://schemas.openxmlformats.org/drawingml/2006/main" noGrp="1"/>
          </p:cNvSpPr>
          <p:nvPr/>
        </p:nvSpPr>
        <p:spPr>
          <a:xfrm xmlns:a="http://schemas.openxmlformats.org/drawingml/2006/main">
            <a:off x="628650" y="4800600"/>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223B49"/>
                </a:solidFill>
                <a:latin typeface="Arial"/>
                <a:ea typeface="Arial"/>
                <a:cs typeface="Arial"/>
              </a:defRPr>
            </a:pPr>
            <a:r>
              <a:rPr sz="1950" b="0">
                <a:solidFill>
                  <a:srgbClr val="223B49"/>
                </a:solidFill>
                <a:latin typeface="Arial"/>
                <a:ea typeface="Arial"/>
                <a:cs typeface="Arial"/>
              </a:rPr>
              <a:t>People using mobility aids and passengers who choose extra time or audio, visual or haptic guidance.</a:t>
            </a:r>
          </a:p>
        </p:txBody>
      </p:sp>
    </p:spTree>
    <p:extLst>
      <p:ext uri="{BB962C8B-B14F-4D97-AF65-F5344CB8AC3E}">
        <p14:creationId xmlns:p14="http://schemas.microsoft.com/office/powerpoint/2010/main" val="194460860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76D09BE-64B8-4FD4-B2B9-884B3D506645}"/>
              </a:ext>
            </a:extLst>
          </p:cNvPr>
          <p:cNvSpPr>
            <a:spLocks xmlns:a="http://schemas.openxmlformats.org/drawingml/2006/main" noGrp="1"/>
          </p:cNvSpPr>
          <p:nvPr/>
        </p:nvSpPr>
        <p:spPr>
          <a:xfrm xmlns:a="http://schemas.openxmlformats.org/drawingml/2006/main">
            <a:off x="609600" y="4381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83447"/>
                </a:solidFill>
                <a:latin typeface="Arial"/>
                <a:ea typeface="Arial"/>
                <a:cs typeface="Arial"/>
              </a:defRPr>
            </a:pPr>
            <a:r>
              <a:rPr sz="3300" b="1">
                <a:solidFill>
                  <a:srgbClr val="183447"/>
                </a:solidFill>
                <a:latin typeface="Arial"/>
                <a:ea typeface="Arial"/>
                <a:cs typeface="Arial"/>
              </a:rPr>
              <a:t>Intended request-to-completion journey</a:t>
            </a:r>
          </a:p>
        </p:txBody>
      </p:sp>
      <p:sp>
        <p:nvSpPr>
          <p:cNvPr id="2" name="">
            <a:extLst xmlns:a="http://schemas.openxmlformats.org/drawingml/2006/main">
              <a:ext uri="{FF2B5EF4-FFF2-40B4-BE49-F238E27FC236}">
                <a16:creationId xmlns:a16="http://schemas.microsoft.com/office/drawing/2014/main" id="{B70AC087-8183-4926-B658-95602ECE4472}"/>
              </a:ext>
            </a:extLst>
          </p:cNvPr>
          <p:cNvSpPr>
            <a:spLocks xmlns:a="http://schemas.openxmlformats.org/drawingml/2006/main" noGrp="1"/>
          </p:cNvSpPr>
          <p:nvPr/>
        </p:nvSpPr>
        <p:spPr>
          <a:xfrm xmlns:a="http://schemas.openxmlformats.org/drawingml/2006/main">
            <a:off x="11077575"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66F"/>
                </a:solidFill>
                <a:latin typeface="Arial"/>
                <a:ea typeface="Arial"/>
                <a:cs typeface="Arial"/>
              </a:defRPr>
            </a:pPr>
            <a:r>
              <a:rPr sz="1350" b="0">
                <a:solidFill>
                  <a:srgbClr val="52666F"/>
                </a:solidFill>
                <a:latin typeface="Arial"/>
                <a:ea typeface="Arial"/>
                <a:cs typeface="Arial"/>
              </a:rPr>
              <a:t>03</a:t>
            </a:r>
          </a:p>
        </p:txBody>
      </p:sp>
      <p:graphicFrame>
        <p:nvGraphicFramePr>
          <p:cNvPr id="7" name=""/>
          <p:cNvGraphicFramePr/>
          <p:nvPr/>
        </p:nvGraphicFramePr>
        <p:xfrm>
          <a:off xmlns:a="http://schemas.openxmlformats.org/drawingml/2006/main" x="628650" y="1647825"/>
          <a:ext xmlns:a="http://schemas.openxmlformats.org/drawingml/2006/main" cx="10934700" cy="4229100"/>
        </p:xfrm>
        <a:graphic xmlns:a="http://schemas.openxmlformats.org/drawingml/2006/main">
          <a:graphicData uri="http://schemas.openxmlformats.org/drawingml/2006/table">
            <a:tbl>
              <a:tblPr/>
              <a:tblGrid>
                <a:gridCol w="2286000"/>
                <a:gridCol w="4324350"/>
                <a:gridCol w="4324350"/>
              </a:tblGrid>
              <a:tr h="704850">
                <a:tc>
                  <a:txBody>
                    <a:bodyPr/>
                    <a:lstStyle/>
                    <a:p>
                      <a:r>
                        <a:rPr sz="1725" b="1">
                          <a:solidFill>
                            <a:srgbClr val="FFFFFF"/>
                          </a:solidFill>
                          <a:latin typeface="Arial"/>
                          <a:ea typeface="Arial"/>
                          <a:cs typeface="Arial"/>
                        </a:rPr>
                        <a:t>Stage</a:t>
                      </a:r>
                    </a:p>
                  </a:txBody>
                  <a:tcPr marL="133350" marR="133350" marT="95250" marB="85725" anchor="ctr">
                    <a:solidFill>
                      <a:srgbClr val="183447"/>
                    </a:solidFill>
                  </a:tcPr>
                </a:tc>
                <a:tc>
                  <a:txBody>
                    <a:bodyPr/>
                    <a:lstStyle/>
                    <a:p>
                      <a:r>
                        <a:rPr sz="1725" b="1">
                          <a:solidFill>
                            <a:srgbClr val="FFFFFF"/>
                          </a:solidFill>
                          <a:latin typeface="Arial"/>
                          <a:ea typeface="Arial"/>
                          <a:cs typeface="Arial"/>
                        </a:rPr>
                        <a:t>Passenger or system action</a:t>
                      </a:r>
                    </a:p>
                  </a:txBody>
                  <a:tcPr marL="133350" marR="133350" marT="95250" marB="85725" anchor="ctr">
                    <a:solidFill>
                      <a:srgbClr val="183447"/>
                    </a:solidFill>
                  </a:tcPr>
                </a:tc>
                <a:tc>
                  <a:txBody>
                    <a:bodyPr/>
                    <a:lstStyle/>
                    <a:p>
                      <a:r>
                        <a:rPr sz="1725" b="1">
                          <a:solidFill>
                            <a:srgbClr val="FFFFFF"/>
                          </a:solidFill>
                          <a:latin typeface="Arial"/>
                          <a:ea typeface="Arial"/>
                          <a:cs typeface="Arial"/>
                        </a:rPr>
                        <a:t>Required outcome</a:t>
                      </a:r>
                    </a:p>
                  </a:txBody>
                  <a:tcPr marL="133350" marR="133350" marT="95250" marB="85725" anchor="ctr">
                    <a:solidFill>
                      <a:srgbClr val="183447"/>
                    </a:solidFill>
                  </a:tcPr>
                </a:tc>
              </a:tr>
              <a:tr h="704850">
                <a:tc>
                  <a:txBody>
                    <a:bodyPr/>
                    <a:lstStyle/>
                    <a:p>
                      <a:r>
                        <a:rPr sz="1725">
                          <a:solidFill>
                            <a:srgbClr val="223B49"/>
                          </a:solidFill>
                          <a:latin typeface="Arial"/>
                          <a:ea typeface="Arial"/>
                          <a:cs typeface="Arial"/>
                        </a:rPr>
                        <a:t>1  Request and recognise</a:t>
                      </a:r>
                    </a:p>
                  </a:txBody>
                  <a:tcPr marL="133350" marR="133350" marT="95250" marB="85725" anchor="ctr">
                    <a:solidFill>
                      <a:srgbClr val="FFFFFF"/>
                    </a:solidFill>
                  </a:tcPr>
                </a:tc>
                <a:tc>
                  <a:txBody>
                    <a:bodyPr/>
                    <a:lstStyle/>
                    <a:p>
                      <a:r>
                        <a:rPr sz="1725">
                          <a:solidFill>
                            <a:srgbClr val="223B49"/>
                          </a:solidFill>
                          <a:latin typeface="Arial"/>
                          <a:ea typeface="Arial"/>
                          <a:cs typeface="Arial"/>
                        </a:rPr>
                        <a:t>Select assistance and bus. Perception adds cues.</a:t>
                      </a:r>
                    </a:p>
                  </a:txBody>
                  <a:tcPr marL="133350" marR="133350" marT="95250" marB="85725" anchor="ctr">
                    <a:solidFill>
                      <a:srgbClr val="FFFFFF"/>
                    </a:solidFill>
                  </a:tcPr>
                </a:tc>
                <a:tc>
                  <a:txBody>
                    <a:bodyPr/>
                    <a:lstStyle/>
                    <a:p>
                      <a:r>
                        <a:rPr sz="1725">
                          <a:solidFill>
                            <a:srgbClr val="223B49"/>
                          </a:solidFill>
                          <a:latin typeface="Arial"/>
                          <a:ea typeface="Arial"/>
                          <a:cs typeface="Arial"/>
                        </a:rPr>
                        <a:t>Explicit intent remains authoritative.</a:t>
                      </a:r>
                    </a:p>
                  </a:txBody>
                  <a:tcPr marL="133350" marR="133350" marT="95250" marB="85725" anchor="ctr">
                    <a:solidFill>
                      <a:srgbClr val="FFFFFF"/>
                    </a:solidFill>
                  </a:tcPr>
                </a:tc>
              </a:tr>
              <a:tr h="704850">
                <a:tc>
                  <a:txBody>
                    <a:bodyPr/>
                    <a:lstStyle/>
                    <a:p>
                      <a:r>
                        <a:rPr sz="1725">
                          <a:solidFill>
                            <a:srgbClr val="223B49"/>
                          </a:solidFill>
                          <a:latin typeface="Arial"/>
                          <a:ea typeface="Arial"/>
                          <a:cs typeface="Arial"/>
                        </a:rPr>
                        <a:t>2  Prepare and dock</a:t>
                      </a:r>
                    </a:p>
                  </a:txBody>
                  <a:tcPr marL="133350" marR="133350" marT="95250" marB="85725" anchor="ctr">
                    <a:solidFill>
                      <a:srgbClr val="F4F7F6"/>
                    </a:solidFill>
                  </a:tcPr>
                </a:tc>
                <a:tc>
                  <a:txBody>
                    <a:bodyPr/>
                    <a:lstStyle/>
                    <a:p>
                      <a:r>
                        <a:rPr sz="1725">
                          <a:solidFill>
                            <a:srgbClr val="223B49"/>
                          </a:solidFill>
                          <a:latin typeface="Arial"/>
                          <a:ea typeface="Arial"/>
                          <a:cs typeface="Arial"/>
                        </a:rPr>
                        <a:t>Reserve dwell and align with the boarding fixture.</a:t>
                      </a:r>
                    </a:p>
                  </a:txBody>
                  <a:tcPr marL="133350" marR="133350" marT="95250" marB="85725" anchor="ctr">
                    <a:solidFill>
                      <a:srgbClr val="F4F7F6"/>
                    </a:solidFill>
                  </a:tcPr>
                </a:tc>
                <a:tc>
                  <a:txBody>
                    <a:bodyPr/>
                    <a:lstStyle/>
                    <a:p>
                      <a:r>
                        <a:rPr sz="1725">
                          <a:solidFill>
                            <a:srgbClr val="223B49"/>
                          </a:solidFill>
                          <a:latin typeface="Arial"/>
                          <a:ea typeface="Arial"/>
                          <a:cs typeface="Arial"/>
                        </a:rPr>
                        <a:t>Correct bus, stop and ramp reach.</a:t>
                      </a:r>
                    </a:p>
                  </a:txBody>
                  <a:tcPr marL="133350" marR="133350" marT="95250" marB="85725" anchor="ctr">
                    <a:solidFill>
                      <a:srgbClr val="F4F7F6"/>
                    </a:solidFill>
                  </a:tcPr>
                </a:tc>
              </a:tr>
              <a:tr h="704850">
                <a:tc>
                  <a:txBody>
                    <a:bodyPr/>
                    <a:lstStyle/>
                    <a:p>
                      <a:r>
                        <a:rPr sz="1725">
                          <a:solidFill>
                            <a:srgbClr val="223B49"/>
                          </a:solidFill>
                          <a:latin typeface="Arial"/>
                          <a:ea typeface="Arial"/>
                          <a:cs typeface="Arial"/>
                        </a:rPr>
                        <a:t>3  Mark and check</a:t>
                      </a:r>
                    </a:p>
                  </a:txBody>
                  <a:tcPr marL="133350" marR="133350" marT="95250" marB="85725" anchor="ctr">
                    <a:solidFill>
                      <a:srgbClr val="FFFFFF"/>
                    </a:solidFill>
                  </a:tcPr>
                </a:tc>
                <a:tc>
                  <a:txBody>
                    <a:bodyPr/>
                    <a:lstStyle/>
                    <a:p>
                      <a:r>
                        <a:rPr sz="1725">
                          <a:solidFill>
                            <a:srgbClr val="223B49"/>
                          </a:solidFill>
                          <a:latin typeface="Arial"/>
                          <a:ea typeface="Arial"/>
                          <a:cs typeface="Arial"/>
                        </a:rPr>
                        <a:t>Show the ramp area and inspect its volume.</a:t>
                      </a:r>
                    </a:p>
                  </a:txBody>
                  <a:tcPr marL="133350" marR="133350" marT="95250" marB="85725" anchor="ctr">
                    <a:solidFill>
                      <a:srgbClr val="FFFFFF"/>
                    </a:solidFill>
                  </a:tcPr>
                </a:tc>
                <a:tc>
                  <a:txBody>
                    <a:bodyPr/>
                    <a:lstStyle/>
                    <a:p>
                      <a:r>
                        <a:rPr sz="1725">
                          <a:solidFill>
                            <a:srgbClr val="223B49"/>
                          </a:solidFill>
                          <a:latin typeface="Arial"/>
                          <a:ea typeface="Arial"/>
                          <a:cs typeface="Arial"/>
                        </a:rPr>
                        <a:t>Clear, fresh safety inputs.</a:t>
                      </a:r>
                    </a:p>
                  </a:txBody>
                  <a:tcPr marL="133350" marR="133350" marT="95250" marB="85725" anchor="ctr">
                    <a:solidFill>
                      <a:srgbClr val="FFFFFF"/>
                    </a:solidFill>
                  </a:tcPr>
                </a:tc>
              </a:tr>
              <a:tr h="704850">
                <a:tc>
                  <a:txBody>
                    <a:bodyPr/>
                    <a:lstStyle/>
                    <a:p>
                      <a:r>
                        <a:rPr sz="1725">
                          <a:solidFill>
                            <a:srgbClr val="223B49"/>
                          </a:solidFill>
                          <a:latin typeface="Arial"/>
                          <a:ea typeface="Arial"/>
                          <a:cs typeface="Arial"/>
                        </a:rPr>
                        <a:t>4  Deploy and board</a:t>
                      </a:r>
                    </a:p>
                  </a:txBody>
                  <a:tcPr marL="133350" marR="133350" marT="95250" marB="85725" anchor="ctr">
                    <a:solidFill>
                      <a:srgbClr val="F4F7F6"/>
                    </a:solidFill>
                  </a:tcPr>
                </a:tc>
                <a:tc>
                  <a:txBody>
                    <a:bodyPr/>
                    <a:lstStyle/>
                    <a:p>
                      <a:r>
                        <a:rPr sz="1725">
                          <a:solidFill>
                            <a:srgbClr val="223B49"/>
                          </a:solidFill>
                          <a:latin typeface="Arial"/>
                          <a:ea typeface="Arial"/>
                          <a:cs typeface="Arial"/>
                        </a:rPr>
                        <a:t>Open door, deploy ramp and maintain dwell.</a:t>
                      </a:r>
                    </a:p>
                  </a:txBody>
                  <a:tcPr marL="133350" marR="133350" marT="95250" marB="85725" anchor="ctr">
                    <a:solidFill>
                      <a:srgbClr val="F4F7F6"/>
                    </a:solidFill>
                  </a:tcPr>
                </a:tc>
                <a:tc>
                  <a:txBody>
                    <a:bodyPr/>
                    <a:lstStyle/>
                    <a:p>
                      <a:r>
                        <a:rPr sz="1725">
                          <a:solidFill>
                            <a:srgbClr val="223B49"/>
                          </a:solidFill>
                          <a:latin typeface="Arial"/>
                          <a:ea typeface="Arial"/>
                          <a:cs typeface="Arial"/>
                        </a:rPr>
                        <a:t>Verify deployed position and monitor interlocks.</a:t>
                      </a:r>
                    </a:p>
                  </a:txBody>
                  <a:tcPr marL="133350" marR="133350" marT="95250" marB="85725" anchor="ctr">
                    <a:solidFill>
                      <a:srgbClr val="F4F7F6"/>
                    </a:solidFill>
                  </a:tcPr>
                </a:tc>
              </a:tr>
              <a:tr h="704850">
                <a:tc>
                  <a:txBody>
                    <a:bodyPr/>
                    <a:lstStyle/>
                    <a:p>
                      <a:r>
                        <a:rPr sz="1725">
                          <a:solidFill>
                            <a:srgbClr val="223B49"/>
                          </a:solidFill>
                          <a:latin typeface="Arial"/>
                          <a:ea typeface="Arial"/>
                          <a:cs typeface="Arial"/>
                        </a:rPr>
                        <a:t>5  Complete</a:t>
                      </a:r>
                    </a:p>
                  </a:txBody>
                  <a:tcPr marL="133350" marR="133350" marT="95250" marB="85725" anchor="ctr">
                    <a:solidFill>
                      <a:srgbClr val="FFFFFF"/>
                    </a:solidFill>
                  </a:tcPr>
                </a:tc>
                <a:tc>
                  <a:txBody>
                    <a:bodyPr/>
                    <a:lstStyle/>
                    <a:p>
                      <a:r>
                        <a:rPr sz="1725">
                          <a:solidFill>
                            <a:srgbClr val="223B49"/>
                          </a:solidFill>
                          <a:latin typeface="Arial"/>
                          <a:ea typeface="Arial"/>
                          <a:cs typeface="Arial"/>
                        </a:rPr>
                        <a:t>Retract, verify stowed and close the door.</a:t>
                      </a:r>
                    </a:p>
                  </a:txBody>
                  <a:tcPr marL="133350" marR="133350" marT="95250" marB="85725" anchor="ctr">
                    <a:solidFill>
                      <a:srgbClr val="FFFFFF"/>
                    </a:solidFill>
                  </a:tcPr>
                </a:tc>
                <a:tc>
                  <a:txBody>
                    <a:bodyPr/>
                    <a:lstStyle/>
                    <a:p>
                      <a:r>
                        <a:rPr sz="1725">
                          <a:solidFill>
                            <a:srgbClr val="223B49"/>
                          </a:solidFill>
                          <a:latin typeface="Arial"/>
                          <a:ea typeface="Arial"/>
                          <a:cs typeface="Arial"/>
                        </a:rPr>
                        <a:t>Save outcome or escalate a fault.</a:t>
                      </a:r>
                    </a:p>
                  </a:txBody>
                  <a:tcPr marL="133350" marR="133350" marT="95250" marB="85725"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CDA6B671-4180-4EC5-A1AE-BE1730CE8320}"/>
              </a:ext>
            </a:extLst>
          </p:cNvPr>
          <p:cNvSpPr>
            <a:spLocks xmlns:a="http://schemas.openxmlformats.org/drawingml/2006/main" noGrp="1"/>
          </p:cNvSpPr>
          <p:nvPr/>
        </p:nvSpPr>
        <p:spPr>
          <a:xfrm xmlns:a="http://schemas.openxmlformats.org/drawingml/2006/main">
            <a:off x="628650" y="6048375"/>
            <a:ext cx="10744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087E83"/>
                </a:solidFill>
                <a:latin typeface="Arial"/>
                <a:ea typeface="Arial"/>
                <a:cs typeface="Arial"/>
              </a:defRPr>
            </a:pPr>
            <a:r>
              <a:rPr sz="1800" b="1">
                <a:solidFill>
                  <a:srgbClr val="087E83"/>
                </a:solidFill>
                <a:latin typeface="Arial"/>
                <a:ea typeface="Arial"/>
                <a:cs typeface="Arial"/>
              </a:rPr>
              <a:t>Second demonstration scenario: extra time and guidance without a ramp request.</a:t>
            </a:r>
          </a:p>
        </p:txBody>
      </p:sp>
    </p:spTree>
    <p:extLst>
      <p:ext uri="{BB962C8B-B14F-4D97-AF65-F5344CB8AC3E}">
        <p14:creationId xmlns:p14="http://schemas.microsoft.com/office/powerpoint/2010/main" val="68510143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B7DBC2B-429B-43AB-A4C0-A36FE95849C0}"/>
              </a:ext>
            </a:extLst>
          </p:cNvPr>
          <p:cNvSpPr>
            <a:spLocks xmlns:a="http://schemas.openxmlformats.org/drawingml/2006/main" noGrp="1"/>
          </p:cNvSpPr>
          <p:nvPr/>
        </p:nvSpPr>
        <p:spPr>
          <a:xfrm xmlns:a="http://schemas.openxmlformats.org/drawingml/2006/main">
            <a:off x="609600" y="4381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83447"/>
                </a:solidFill>
                <a:latin typeface="Arial"/>
                <a:ea typeface="Arial"/>
                <a:cs typeface="Arial"/>
              </a:defRPr>
            </a:pPr>
            <a:r>
              <a:rPr sz="3300" b="1">
                <a:solidFill>
                  <a:srgbClr val="183447"/>
                </a:solidFill>
                <a:latin typeface="Arial"/>
                <a:ea typeface="Arial"/>
                <a:cs typeface="Arial"/>
              </a:rPr>
              <a:t>System architecture and control authority</a:t>
            </a:r>
          </a:p>
        </p:txBody>
      </p:sp>
      <p:sp>
        <p:nvSpPr>
          <p:cNvPr id="2" name="">
            <a:extLst xmlns:a="http://schemas.openxmlformats.org/drawingml/2006/main">
              <a:ext uri="{FF2B5EF4-FFF2-40B4-BE49-F238E27FC236}">
                <a16:creationId xmlns:a16="http://schemas.microsoft.com/office/drawing/2014/main" id="{8E08A69E-B9E1-4640-BA5B-4B85590BB074}"/>
              </a:ext>
            </a:extLst>
          </p:cNvPr>
          <p:cNvSpPr>
            <a:spLocks xmlns:a="http://schemas.openxmlformats.org/drawingml/2006/main" noGrp="1"/>
          </p:cNvSpPr>
          <p:nvPr/>
        </p:nvSpPr>
        <p:spPr>
          <a:xfrm xmlns:a="http://schemas.openxmlformats.org/drawingml/2006/main">
            <a:off x="628650" y="1257300"/>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52666F"/>
                </a:solidFill>
                <a:latin typeface="Arial"/>
                <a:ea typeface="Arial"/>
                <a:cs typeface="Arial"/>
              </a:defRPr>
            </a:pPr>
            <a:r>
              <a:rPr sz="1875" b="0">
                <a:solidFill>
                  <a:srgbClr val="52666F"/>
                </a:solidFill>
                <a:latin typeface="Arial"/>
                <a:ea typeface="Arial"/>
                <a:cs typeface="Arial"/>
              </a:rPr>
              <a:t>Shared messages connect software, sensing and the mock bus</a:t>
            </a:r>
          </a:p>
        </p:txBody>
      </p:sp>
      <p:sp>
        <p:nvSpPr>
          <p:cNvPr id="3" name="">
            <a:extLst xmlns:a="http://schemas.openxmlformats.org/drawingml/2006/main">
              <a:ext uri="{FF2B5EF4-FFF2-40B4-BE49-F238E27FC236}">
                <a16:creationId xmlns:a16="http://schemas.microsoft.com/office/drawing/2014/main" id="{B247084E-2CF4-428F-B03F-1CE7E3CA1B2D}"/>
              </a:ext>
            </a:extLst>
          </p:cNvPr>
          <p:cNvSpPr>
            <a:spLocks xmlns:a="http://schemas.openxmlformats.org/drawingml/2006/main" noGrp="1"/>
          </p:cNvSpPr>
          <p:nvPr/>
        </p:nvSpPr>
        <p:spPr>
          <a:xfrm xmlns:a="http://schemas.openxmlformats.org/drawingml/2006/main">
            <a:off x="11077575"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66F"/>
                </a:solidFill>
                <a:latin typeface="Arial"/>
                <a:ea typeface="Arial"/>
                <a:cs typeface="Arial"/>
              </a:defRPr>
            </a:pPr>
            <a:r>
              <a:rPr sz="1350" b="0">
                <a:solidFill>
                  <a:srgbClr val="52666F"/>
                </a:solidFill>
                <a:latin typeface="Arial"/>
                <a:ea typeface="Arial"/>
                <a:cs typeface="Arial"/>
              </a:rPr>
              <a:t>04</a:t>
            </a:r>
          </a:p>
        </p:txBody>
      </p:sp>
      <p:graphicFrame>
        <p:nvGraphicFramePr>
          <p:cNvPr id="10" name=""/>
          <p:cNvGraphicFramePr/>
          <p:nvPr/>
        </p:nvGraphicFramePr>
        <p:xfrm>
          <a:off xmlns:a="http://schemas.openxmlformats.org/drawingml/2006/main" x="628650" y="1914525"/>
          <a:ext xmlns:a="http://schemas.openxmlformats.org/drawingml/2006/main" cx="10934700" cy="3257550"/>
        </p:xfrm>
        <a:graphic xmlns:a="http://schemas.openxmlformats.org/drawingml/2006/main">
          <a:graphicData uri="http://schemas.openxmlformats.org/drawingml/2006/table">
            <a:tbl>
              <a:tblPr/>
              <a:tblGrid>
                <a:gridCol w="1857375"/>
                <a:gridCol w="4105275"/>
                <a:gridCol w="4972050"/>
              </a:tblGrid>
              <a:tr h="651510">
                <a:tc>
                  <a:txBody>
                    <a:bodyPr/>
                    <a:lstStyle/>
                    <a:p>
                      <a:r>
                        <a:rPr sz="1800" b="1">
                          <a:solidFill>
                            <a:srgbClr val="FFFFFF"/>
                          </a:solidFill>
                          <a:latin typeface="Arial"/>
                          <a:ea typeface="Arial"/>
                          <a:cs typeface="Arial"/>
                        </a:rPr>
                        <a:t>Layer</a:t>
                      </a:r>
                    </a:p>
                  </a:txBody>
                  <a:tcPr marL="133350" marR="133350" marT="95250" marB="85725" anchor="ctr">
                    <a:solidFill>
                      <a:srgbClr val="183447"/>
                    </a:solidFill>
                  </a:tcPr>
                </a:tc>
                <a:tc>
                  <a:txBody>
                    <a:bodyPr/>
                    <a:lstStyle/>
                    <a:p>
                      <a:r>
                        <a:rPr sz="1800" b="1">
                          <a:solidFill>
                            <a:srgbClr val="FFFFFF"/>
                          </a:solidFill>
                          <a:latin typeface="Arial"/>
                          <a:ea typeface="Arial"/>
                          <a:cs typeface="Arial"/>
                        </a:rPr>
                        <a:t>Main components</a:t>
                      </a:r>
                    </a:p>
                  </a:txBody>
                  <a:tcPr marL="133350" marR="133350" marT="95250" marB="85725" anchor="ctr">
                    <a:solidFill>
                      <a:srgbClr val="183447"/>
                    </a:solidFill>
                  </a:tcPr>
                </a:tc>
                <a:tc>
                  <a:txBody>
                    <a:bodyPr/>
                    <a:lstStyle/>
                    <a:p>
                      <a:r>
                        <a:rPr sz="1800" b="1">
                          <a:solidFill>
                            <a:srgbClr val="FFFFFF"/>
                          </a:solidFill>
                          <a:latin typeface="Arial"/>
                          <a:ea typeface="Arial"/>
                          <a:cs typeface="Arial"/>
                        </a:rPr>
                        <a:t>Responsibility</a:t>
                      </a:r>
                    </a:p>
                  </a:txBody>
                  <a:tcPr marL="133350" marR="133350" marT="95250" marB="85725" anchor="ctr">
                    <a:solidFill>
                      <a:srgbClr val="183447"/>
                    </a:solidFill>
                  </a:tcPr>
                </a:tc>
              </a:tr>
              <a:tr h="651510">
                <a:tc>
                  <a:txBody>
                    <a:bodyPr/>
                    <a:lstStyle/>
                    <a:p>
                      <a:r>
                        <a:rPr sz="1800">
                          <a:solidFill>
                            <a:srgbClr val="223B49"/>
                          </a:solidFill>
                          <a:latin typeface="Arial"/>
                          <a:ea typeface="Arial"/>
                          <a:cs typeface="Arial"/>
                        </a:rPr>
                        <a:t>Passenger</a:t>
                      </a:r>
                    </a:p>
                  </a:txBody>
                  <a:tcPr marL="133350" marR="133350" marT="95250" marB="85725" anchor="ctr">
                    <a:solidFill>
                      <a:srgbClr val="FFFFFF"/>
                    </a:solidFill>
                  </a:tcPr>
                </a:tc>
                <a:tc>
                  <a:txBody>
                    <a:bodyPr/>
                    <a:lstStyle/>
                    <a:p>
                      <a:r>
                        <a:rPr sz="1800">
                          <a:solidFill>
                            <a:srgbClr val="223B49"/>
                          </a:solidFill>
                          <a:latin typeface="Arial"/>
                          <a:ea typeface="Arial"/>
                          <a:cs typeface="Arial"/>
                        </a:rPr>
                        <a:t>App, tactile stop unit, optional NFC</a:t>
                      </a:r>
                    </a:p>
                  </a:txBody>
                  <a:tcPr marL="133350" marR="133350" marT="95250" marB="85725" anchor="ctr">
                    <a:solidFill>
                      <a:srgbClr val="FFFFFF"/>
                    </a:solidFill>
                  </a:tcPr>
                </a:tc>
                <a:tc>
                  <a:txBody>
                    <a:bodyPr/>
                    <a:lstStyle/>
                    <a:p>
                      <a:r>
                        <a:rPr sz="1800">
                          <a:solidFill>
                            <a:srgbClr val="223B49"/>
                          </a:solidFill>
                          <a:latin typeface="Arial"/>
                          <a:ea typeface="Arial"/>
                          <a:cs typeface="Arial"/>
                        </a:rPr>
                        <a:t>Record request, confirmation and cancellation.</a:t>
                      </a:r>
                    </a:p>
                  </a:txBody>
                  <a:tcPr marL="133350" marR="133350" marT="95250" marB="85725" anchor="ctr">
                    <a:solidFill>
                      <a:srgbClr val="FFFFFF"/>
                    </a:solidFill>
                  </a:tcPr>
                </a:tc>
              </a:tr>
              <a:tr h="651510">
                <a:tc>
                  <a:txBody>
                    <a:bodyPr/>
                    <a:lstStyle/>
                    <a:p>
                      <a:r>
                        <a:rPr sz="1800">
                          <a:solidFill>
                            <a:srgbClr val="223B49"/>
                          </a:solidFill>
                          <a:latin typeface="Arial"/>
                          <a:ea typeface="Arial"/>
                          <a:cs typeface="Arial"/>
                        </a:rPr>
                        <a:t>Perception</a:t>
                      </a:r>
                    </a:p>
                  </a:txBody>
                  <a:tcPr marL="133350" marR="133350" marT="95250" marB="85725" anchor="ctr">
                    <a:solidFill>
                      <a:srgbClr val="F4F7F6"/>
                    </a:solidFill>
                  </a:tcPr>
                </a:tc>
                <a:tc>
                  <a:txBody>
                    <a:bodyPr/>
                    <a:lstStyle/>
                    <a:p>
                      <a:r>
                        <a:rPr sz="1800">
                          <a:solidFill>
                            <a:srgbClr val="223B49"/>
                          </a:solidFill>
                          <a:latin typeface="Arial"/>
                          <a:ea typeface="Arial"/>
                          <a:cs typeface="Arial"/>
                        </a:rPr>
                        <a:t>Camera, edge observer, ToF/IR</a:t>
                      </a:r>
                    </a:p>
                  </a:txBody>
                  <a:tcPr marL="133350" marR="133350" marT="95250" marB="85725" anchor="ctr">
                    <a:solidFill>
                      <a:srgbClr val="F4F7F6"/>
                    </a:solidFill>
                  </a:tcPr>
                </a:tc>
                <a:tc>
                  <a:txBody>
                    <a:bodyPr/>
                    <a:lstStyle/>
                    <a:p>
                      <a:r>
                        <a:rPr sz="1800">
                          <a:solidFill>
                            <a:srgbClr val="223B49"/>
                          </a:solidFill>
                          <a:latin typeface="Arial"/>
                          <a:ea typeface="Arial"/>
                          <a:cs typeface="Arial"/>
                        </a:rPr>
                        <a:t>Publish observations and sensor health.</a:t>
                      </a:r>
                    </a:p>
                  </a:txBody>
                  <a:tcPr marL="133350" marR="133350" marT="95250" marB="85725" anchor="ctr">
                    <a:solidFill>
                      <a:srgbClr val="F4F7F6"/>
                    </a:solidFill>
                  </a:tcPr>
                </a:tc>
              </a:tr>
              <a:tr h="651510">
                <a:tc>
                  <a:txBody>
                    <a:bodyPr/>
                    <a:lstStyle/>
                    <a:p>
                      <a:r>
                        <a:rPr sz="1800">
                          <a:solidFill>
                            <a:srgbClr val="223B49"/>
                          </a:solidFill>
                          <a:latin typeface="Arial"/>
                          <a:ea typeface="Arial"/>
                          <a:cs typeface="Arial"/>
                        </a:rPr>
                        <a:t>Decision</a:t>
                      </a:r>
                    </a:p>
                  </a:txBody>
                  <a:tcPr marL="133350" marR="133350" marT="95250" marB="85725" anchor="ctr">
                    <a:solidFill>
                      <a:srgbClr val="FFFFFF"/>
                    </a:solidFill>
                  </a:tcPr>
                </a:tc>
                <a:tc>
                  <a:txBody>
                    <a:bodyPr/>
                    <a:lstStyle/>
                    <a:p>
                      <a:r>
                        <a:rPr sz="1800">
                          <a:solidFill>
                            <a:srgbClr val="223B49"/>
                          </a:solidFill>
                          <a:latin typeface="Arial"/>
                          <a:ea typeface="Arial"/>
                          <a:cs typeface="Arial"/>
                        </a:rPr>
                        <a:t>Backend case state machine, operator console</a:t>
                      </a:r>
                    </a:p>
                  </a:txBody>
                  <a:tcPr marL="133350" marR="133350" marT="95250" marB="85725" anchor="ctr">
                    <a:solidFill>
                      <a:srgbClr val="FFFFFF"/>
                    </a:solidFill>
                  </a:tcPr>
                </a:tc>
                <a:tc>
                  <a:txBody>
                    <a:bodyPr/>
                    <a:lstStyle/>
                    <a:p>
                      <a:r>
                        <a:rPr sz="1800">
                          <a:solidFill>
                            <a:srgbClr val="223B49"/>
                          </a:solidFill>
                          <a:latin typeface="Arial"/>
                          <a:ea typeface="Arial"/>
                          <a:cs typeface="Arial"/>
                        </a:rPr>
                        <a:t>Match the case and apply deterministic safety gates.</a:t>
                      </a:r>
                    </a:p>
                  </a:txBody>
                  <a:tcPr marL="133350" marR="133350" marT="95250" marB="85725" anchor="ctr">
                    <a:solidFill>
                      <a:srgbClr val="FFFFFF"/>
                    </a:solidFill>
                  </a:tcPr>
                </a:tc>
              </a:tr>
              <a:tr h="651510">
                <a:tc>
                  <a:txBody>
                    <a:bodyPr/>
                    <a:lstStyle/>
                    <a:p>
                      <a:r>
                        <a:rPr sz="1800">
                          <a:solidFill>
                            <a:srgbClr val="223B49"/>
                          </a:solidFill>
                          <a:latin typeface="Arial"/>
                          <a:ea typeface="Arial"/>
                          <a:cs typeface="Arial"/>
                        </a:rPr>
                        <a:t>Vehicle</a:t>
                      </a:r>
                    </a:p>
                  </a:txBody>
                  <a:tcPr marL="133350" marR="133350" marT="95250" marB="85725" anchor="ctr">
                    <a:solidFill>
                      <a:srgbClr val="F4F7F6"/>
                    </a:solidFill>
                  </a:tcPr>
                </a:tc>
                <a:tc>
                  <a:txBody>
                    <a:bodyPr/>
                    <a:lstStyle/>
                    <a:p>
                      <a:r>
                        <a:rPr sz="1800">
                          <a:solidFill>
                            <a:srgbClr val="223B49"/>
                          </a:solidFill>
                          <a:latin typeface="Arial"/>
                          <a:ea typeface="Arial"/>
                          <a:cs typeface="Arial"/>
                        </a:rPr>
                        <a:t>ESP32 controller, ramp/door, limit switches</a:t>
                      </a:r>
                    </a:p>
                  </a:txBody>
                  <a:tcPr marL="133350" marR="133350" marT="95250" marB="85725" anchor="ctr">
                    <a:solidFill>
                      <a:srgbClr val="F4F7F6"/>
                    </a:solidFill>
                  </a:tcPr>
                </a:tc>
                <a:tc>
                  <a:txBody>
                    <a:bodyPr/>
                    <a:lstStyle/>
                    <a:p>
                      <a:r>
                        <a:rPr sz="1800">
                          <a:solidFill>
                            <a:srgbClr val="223B49"/>
                          </a:solidFill>
                          <a:latin typeface="Arial"/>
                          <a:ea typeface="Arial"/>
                          <a:cs typeface="Arial"/>
                        </a:rPr>
                        <a:t>Repeat local interlocks and verify motion outcome.</a:t>
                      </a:r>
                    </a:p>
                  </a:txBody>
                  <a:tcPr marL="133350" marR="133350" marT="95250" marB="85725" anchor="ctr">
                    <a:solidFill>
                      <a:srgbClr val="F4F7F6"/>
                    </a:solidFill>
                  </a:tcPr>
                </a:tc>
              </a:tr>
            </a:tbl>
          </a:graphicData>
        </a:graphic>
      </p:graphicFrame>
      <p:sp>
        <p:nvSpPr>
          <p:cNvPr id="5" name="">
            <a:extLst xmlns:a="http://schemas.openxmlformats.org/drawingml/2006/main">
              <a:ext uri="{FF2B5EF4-FFF2-40B4-BE49-F238E27FC236}">
                <a16:creationId xmlns:a16="http://schemas.microsoft.com/office/drawing/2014/main" id="{B6CE5B76-C171-455C-8D42-565E4A2E0F09}"/>
              </a:ext>
            </a:extLst>
          </p:cNvPr>
          <p:cNvSpPr>
            <a:spLocks xmlns:a="http://schemas.openxmlformats.org/drawingml/2006/main" noGrp="1"/>
          </p:cNvSpPr>
          <p:nvPr/>
        </p:nvSpPr>
        <p:spPr>
          <a:xfrm xmlns:a="http://schemas.openxmlformats.org/drawingml/2006/main">
            <a:off x="628650" y="54673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87E83"/>
                </a:solidFill>
                <a:latin typeface="Arial"/>
                <a:ea typeface="Arial"/>
                <a:cs typeface="Arial"/>
              </a:defRPr>
            </a:pPr>
            <a:r>
              <a:rPr sz="2175" b="1">
                <a:solidFill>
                  <a:srgbClr val="087E83"/>
                </a:solidFill>
                <a:latin typeface="Arial"/>
                <a:ea typeface="Arial"/>
                <a:cs typeface="Arial"/>
              </a:rPr>
              <a:t>Only passenger or operator confirmation establishes ramp intent.</a:t>
            </a:r>
          </a:p>
        </p:txBody>
      </p:sp>
      <p:sp>
        <p:nvSpPr>
          <p:cNvPr id="6" name="">
            <a:extLst xmlns:a="http://schemas.openxmlformats.org/drawingml/2006/main">
              <a:ext uri="{FF2B5EF4-FFF2-40B4-BE49-F238E27FC236}">
                <a16:creationId xmlns:a16="http://schemas.microsoft.com/office/drawing/2014/main" id="{3F9A9E01-DC0F-48D6-B49F-0BD0CE696729}"/>
              </a:ext>
            </a:extLst>
          </p:cNvPr>
          <p:cNvSpPr>
            <a:spLocks xmlns:a="http://schemas.openxmlformats.org/drawingml/2006/main" noGrp="1"/>
          </p:cNvSpPr>
          <p:nvPr/>
        </p:nvSpPr>
        <p:spPr>
          <a:xfrm xmlns:a="http://schemas.openxmlformats.org/drawingml/2006/main">
            <a:off x="628650" y="5924550"/>
            <a:ext cx="10810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223B49"/>
                </a:solidFill>
                <a:latin typeface="Arial"/>
                <a:ea typeface="Arial"/>
                <a:cs typeface="Arial"/>
              </a:defRPr>
            </a:pPr>
            <a:r>
              <a:rPr sz="1950" b="0">
                <a:solidFill>
                  <a:srgbClr val="223B49"/>
                </a:solidFill>
                <a:latin typeface="Arial"/>
                <a:ea typeface="Arial"/>
                <a:cs typeface="Arial"/>
              </a:rPr>
              <a:t>ML supports decisions. It cannot override a safety interlock.</a:t>
            </a:r>
          </a:p>
        </p:txBody>
      </p:sp>
    </p:spTree>
    <p:extLst>
      <p:ext uri="{BB962C8B-B14F-4D97-AF65-F5344CB8AC3E}">
        <p14:creationId xmlns:p14="http://schemas.microsoft.com/office/powerpoint/2010/main" val="55869694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7B1AEE6-CB69-4D44-BDE3-64E26D7B0871}"/>
              </a:ext>
            </a:extLst>
          </p:cNvPr>
          <p:cNvSpPr>
            <a:spLocks xmlns:a="http://schemas.openxmlformats.org/drawingml/2006/main" noGrp="1"/>
          </p:cNvSpPr>
          <p:nvPr/>
        </p:nvSpPr>
        <p:spPr>
          <a:xfrm xmlns:a="http://schemas.openxmlformats.org/drawingml/2006/main">
            <a:off x="609600" y="4381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83447"/>
                </a:solidFill>
                <a:latin typeface="Arial"/>
                <a:ea typeface="Arial"/>
                <a:cs typeface="Arial"/>
              </a:defRPr>
            </a:pPr>
            <a:r>
              <a:rPr sz="3300" b="1">
                <a:solidFill>
                  <a:srgbClr val="183447"/>
                </a:solidFill>
                <a:latin typeface="Arial"/>
                <a:ea typeface="Arial"/>
                <a:cs typeface="Arial"/>
              </a:rPr>
              <a:t>Current progress at a glance</a:t>
            </a:r>
          </a:p>
        </p:txBody>
      </p:sp>
      <p:sp>
        <p:nvSpPr>
          <p:cNvPr id="2" name="">
            <a:extLst xmlns:a="http://schemas.openxmlformats.org/drawingml/2006/main">
              <a:ext uri="{FF2B5EF4-FFF2-40B4-BE49-F238E27FC236}">
                <a16:creationId xmlns:a16="http://schemas.microsoft.com/office/drawing/2014/main" id="{626F3A7A-5C81-4752-A0CF-CAD06843C0EE}"/>
              </a:ext>
            </a:extLst>
          </p:cNvPr>
          <p:cNvSpPr>
            <a:spLocks xmlns:a="http://schemas.openxmlformats.org/drawingml/2006/main" noGrp="1"/>
          </p:cNvSpPr>
          <p:nvPr/>
        </p:nvSpPr>
        <p:spPr>
          <a:xfrm xmlns:a="http://schemas.openxmlformats.org/drawingml/2006/main">
            <a:off x="628650" y="1257300"/>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52666F"/>
                </a:solidFill>
                <a:latin typeface="Arial"/>
                <a:ea typeface="Arial"/>
                <a:cs typeface="Arial"/>
              </a:defRPr>
            </a:pPr>
            <a:r>
              <a:rPr sz="1875" b="0">
                <a:solidFill>
                  <a:srgbClr val="52666F"/>
                </a:solidFill>
                <a:latin typeface="Arial"/>
                <a:ea typeface="Arial"/>
                <a:cs typeface="Arial"/>
              </a:rPr>
              <a:t>Evidence reviewed as of 25 September 2026</a:t>
            </a:r>
          </a:p>
        </p:txBody>
      </p:sp>
      <p:sp>
        <p:nvSpPr>
          <p:cNvPr id="3" name="">
            <a:extLst xmlns:a="http://schemas.openxmlformats.org/drawingml/2006/main">
              <a:ext uri="{FF2B5EF4-FFF2-40B4-BE49-F238E27FC236}">
                <a16:creationId xmlns:a16="http://schemas.microsoft.com/office/drawing/2014/main" id="{8F68BDBC-2545-42F9-89EF-A4D3509A7417}"/>
              </a:ext>
            </a:extLst>
          </p:cNvPr>
          <p:cNvSpPr>
            <a:spLocks xmlns:a="http://schemas.openxmlformats.org/drawingml/2006/main" noGrp="1"/>
          </p:cNvSpPr>
          <p:nvPr/>
        </p:nvSpPr>
        <p:spPr>
          <a:xfrm xmlns:a="http://schemas.openxmlformats.org/drawingml/2006/main">
            <a:off x="11077575"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66F"/>
                </a:solidFill>
                <a:latin typeface="Arial"/>
                <a:ea typeface="Arial"/>
                <a:cs typeface="Arial"/>
              </a:defRPr>
            </a:pPr>
            <a:r>
              <a:rPr sz="1350" b="0">
                <a:solidFill>
                  <a:srgbClr val="52666F"/>
                </a:solidFill>
                <a:latin typeface="Arial"/>
                <a:ea typeface="Arial"/>
                <a:cs typeface="Arial"/>
              </a:rPr>
              <a:t>05</a:t>
            </a:r>
          </a:p>
        </p:txBody>
      </p:sp>
      <p:graphicFrame>
        <p:nvGraphicFramePr>
          <p:cNvPr id="8" name=""/>
          <p:cNvGraphicFramePr/>
          <p:nvPr/>
        </p:nvGraphicFramePr>
        <p:xfrm>
          <a:off xmlns:a="http://schemas.openxmlformats.org/drawingml/2006/main" x="628650" y="1885950"/>
          <a:ext xmlns:a="http://schemas.openxmlformats.org/drawingml/2006/main" cx="10934700" cy="4038600"/>
        </p:xfrm>
        <a:graphic xmlns:a="http://schemas.openxmlformats.org/drawingml/2006/main">
          <a:graphicData uri="http://schemas.openxmlformats.org/drawingml/2006/table">
            <a:tbl>
              <a:tblPr/>
              <a:tblGrid>
                <a:gridCol w="1971675"/>
                <a:gridCol w="4848225"/>
                <a:gridCol w="4114800"/>
              </a:tblGrid>
              <a:tr h="673100">
                <a:tc>
                  <a:txBody>
                    <a:bodyPr/>
                    <a:lstStyle/>
                    <a:p>
                      <a:r>
                        <a:rPr sz="1725" b="1">
                          <a:solidFill>
                            <a:srgbClr val="FFFFFF"/>
                          </a:solidFill>
                          <a:latin typeface="Arial"/>
                          <a:ea typeface="Arial"/>
                          <a:cs typeface="Arial"/>
                        </a:rPr>
                        <a:t>Workstream</a:t>
                      </a:r>
                    </a:p>
                  </a:txBody>
                  <a:tcPr marL="133350" marR="133350" marT="95250" marB="85725" anchor="ctr">
                    <a:solidFill>
                      <a:srgbClr val="183447"/>
                    </a:solidFill>
                  </a:tcPr>
                </a:tc>
                <a:tc>
                  <a:txBody>
                    <a:bodyPr/>
                    <a:lstStyle/>
                    <a:p>
                      <a:r>
                        <a:rPr sz="1725" b="1">
                          <a:solidFill>
                            <a:srgbClr val="FFFFFF"/>
                          </a:solidFill>
                          <a:latin typeface="Arial"/>
                          <a:ea typeface="Arial"/>
                          <a:cs typeface="Arial"/>
                        </a:rPr>
                        <a:t>Evidence available</a:t>
                      </a:r>
                    </a:p>
                  </a:txBody>
                  <a:tcPr marL="133350" marR="133350" marT="95250" marB="85725" anchor="ctr">
                    <a:solidFill>
                      <a:srgbClr val="183447"/>
                    </a:solidFill>
                  </a:tcPr>
                </a:tc>
                <a:tc>
                  <a:txBody>
                    <a:bodyPr/>
                    <a:lstStyle/>
                    <a:p>
                      <a:r>
                        <a:rPr sz="1725" b="1">
                          <a:solidFill>
                            <a:srgbClr val="FFFFFF"/>
                          </a:solidFill>
                          <a:latin typeface="Arial"/>
                          <a:ea typeface="Arial"/>
                          <a:cs typeface="Arial"/>
                        </a:rPr>
                        <a:t>Current boundary</a:t>
                      </a:r>
                    </a:p>
                  </a:txBody>
                  <a:tcPr marL="133350" marR="133350" marT="95250" marB="85725" anchor="ctr">
                    <a:solidFill>
                      <a:srgbClr val="183447"/>
                    </a:solidFill>
                  </a:tcPr>
                </a:tc>
              </a:tr>
              <a:tr h="673100">
                <a:tc>
                  <a:txBody>
                    <a:bodyPr/>
                    <a:lstStyle/>
                    <a:p>
                      <a:r>
                        <a:rPr sz="1725">
                          <a:solidFill>
                            <a:srgbClr val="223B49"/>
                          </a:solidFill>
                          <a:latin typeface="Arial"/>
                          <a:ea typeface="Arial"/>
                          <a:cs typeface="Arial"/>
                        </a:rPr>
                        <a:t>Software</a:t>
                      </a:r>
                    </a:p>
                  </a:txBody>
                  <a:tcPr marL="133350" marR="133350" marT="95250" marB="85725" anchor="ctr">
                    <a:solidFill>
                      <a:srgbClr val="FFFFFF"/>
                    </a:solidFill>
                  </a:tcPr>
                </a:tc>
                <a:tc>
                  <a:txBody>
                    <a:bodyPr/>
                    <a:lstStyle/>
                    <a:p>
                      <a:r>
                        <a:rPr sz="1725">
                          <a:solidFill>
                            <a:srgbClr val="223B49"/>
                          </a:solidFill>
                          <a:latin typeface="Arial"/>
                          <a:ea typeface="Arial"/>
                          <a:cs typeface="Arial"/>
                        </a:rPr>
                        <a:t>App, backend, operator console and documented automated tests</a:t>
                      </a:r>
                    </a:p>
                  </a:txBody>
                  <a:tcPr marL="133350" marR="133350" marT="95250" marB="85725" anchor="ctr">
                    <a:solidFill>
                      <a:srgbClr val="FFFFFF"/>
                    </a:solidFill>
                  </a:tcPr>
                </a:tc>
                <a:tc>
                  <a:txBody>
                    <a:bodyPr/>
                    <a:lstStyle/>
                    <a:p>
                      <a:r>
                        <a:rPr sz="1725">
                          <a:solidFill>
                            <a:srgbClr val="223B49"/>
                          </a:solidFill>
                          <a:latin typeface="Arial"/>
                          <a:ea typeface="Arial"/>
                          <a:cs typeface="Arial"/>
                        </a:rPr>
                        <a:t>Mock and fixture evidence</a:t>
                      </a:r>
                    </a:p>
                  </a:txBody>
                  <a:tcPr marL="133350" marR="133350" marT="95250" marB="85725" anchor="ctr">
                    <a:solidFill>
                      <a:srgbClr val="FFFFFF"/>
                    </a:solidFill>
                  </a:tcPr>
                </a:tc>
              </a:tr>
              <a:tr h="673100">
                <a:tc>
                  <a:txBody>
                    <a:bodyPr/>
                    <a:lstStyle/>
                    <a:p>
                      <a:r>
                        <a:rPr sz="1725">
                          <a:solidFill>
                            <a:srgbClr val="223B49"/>
                          </a:solidFill>
                          <a:latin typeface="Arial"/>
                          <a:ea typeface="Arial"/>
                          <a:cs typeface="Arial"/>
                        </a:rPr>
                        <a:t>Mechanical</a:t>
                      </a:r>
                    </a:p>
                  </a:txBody>
                  <a:tcPr marL="133350" marR="133350" marT="95250" marB="85725" anchor="ctr">
                    <a:solidFill>
                      <a:srgbClr val="F4F7F6"/>
                    </a:solidFill>
                  </a:tcPr>
                </a:tc>
                <a:tc>
                  <a:txBody>
                    <a:bodyPr/>
                    <a:lstStyle/>
                    <a:p>
                      <a:r>
                        <a:rPr sz="1725">
                          <a:solidFill>
                            <a:srgbClr val="223B49"/>
                          </a:solidFill>
                          <a:latin typeface="Arial"/>
                          <a:ea typeface="Arial"/>
                          <a:cs typeface="Arial"/>
                        </a:rPr>
                        <a:t>Fusion v2 model and discrete clearance checks</a:t>
                      </a:r>
                    </a:p>
                  </a:txBody>
                  <a:tcPr marL="133350" marR="133350" marT="95250" marB="85725" anchor="ctr">
                    <a:solidFill>
                      <a:srgbClr val="F4F7F6"/>
                    </a:solidFill>
                  </a:tcPr>
                </a:tc>
                <a:tc>
                  <a:txBody>
                    <a:bodyPr/>
                    <a:lstStyle/>
                    <a:p>
                      <a:r>
                        <a:rPr sz="1725">
                          <a:solidFill>
                            <a:srgbClr val="223B49"/>
                          </a:solidFill>
                          <a:latin typeface="Arial"/>
                          <a:ea typeface="Arial"/>
                          <a:cs typeface="Arial"/>
                        </a:rPr>
                        <a:t>Physical reliability remains unverified</a:t>
                      </a:r>
                    </a:p>
                  </a:txBody>
                  <a:tcPr marL="133350" marR="133350" marT="95250" marB="85725" anchor="ctr">
                    <a:solidFill>
                      <a:srgbClr val="F4F7F6"/>
                    </a:solidFill>
                  </a:tcPr>
                </a:tc>
              </a:tr>
              <a:tr h="673100">
                <a:tc>
                  <a:txBody>
                    <a:bodyPr/>
                    <a:lstStyle/>
                    <a:p>
                      <a:r>
                        <a:rPr sz="1725">
                          <a:solidFill>
                            <a:srgbClr val="223B49"/>
                          </a:solidFill>
                          <a:latin typeface="Arial"/>
                          <a:ea typeface="Arial"/>
                          <a:cs typeface="Arial"/>
                        </a:rPr>
                        <a:t>Electronics</a:t>
                      </a:r>
                    </a:p>
                  </a:txBody>
                  <a:tcPr marL="133350" marR="133350" marT="95250" marB="85725" anchor="ctr">
                    <a:solidFill>
                      <a:srgbClr val="FFFFFF"/>
                    </a:solidFill>
                  </a:tcPr>
                </a:tc>
                <a:tc>
                  <a:txBody>
                    <a:bodyPr/>
                    <a:lstStyle/>
                    <a:p>
                      <a:r>
                        <a:rPr sz="1725">
                          <a:solidFill>
                            <a:srgbClr val="223B49"/>
                          </a:solidFill>
                          <a:latin typeface="Arial"/>
                          <a:ea typeface="Arial"/>
                          <a:cs typeface="Arial"/>
                        </a:rPr>
                        <a:t>ESP32-S3 upload and live VL53L0X readings</a:t>
                      </a:r>
                    </a:p>
                  </a:txBody>
                  <a:tcPr marL="133350" marR="133350" marT="95250" marB="85725" anchor="ctr">
                    <a:solidFill>
                      <a:srgbClr val="FFFFFF"/>
                    </a:solidFill>
                  </a:tcPr>
                </a:tc>
                <a:tc>
                  <a:txBody>
                    <a:bodyPr/>
                    <a:lstStyle/>
                    <a:p>
                      <a:r>
                        <a:rPr sz="1725">
                          <a:solidFill>
                            <a:srgbClr val="223B49"/>
                          </a:solidFill>
                          <a:latin typeface="Arial"/>
                          <a:ea typeface="Arial"/>
                          <a:cs typeface="Arial"/>
                        </a:rPr>
                        <a:t>Single sensor bench result</a:t>
                      </a:r>
                    </a:p>
                  </a:txBody>
                  <a:tcPr marL="133350" marR="133350" marT="95250" marB="85725" anchor="ctr">
                    <a:solidFill>
                      <a:srgbClr val="FFFFFF"/>
                    </a:solidFill>
                  </a:tcPr>
                </a:tc>
              </a:tr>
              <a:tr h="673100">
                <a:tc>
                  <a:txBody>
                    <a:bodyPr/>
                    <a:lstStyle/>
                    <a:p>
                      <a:r>
                        <a:rPr sz="1725">
                          <a:solidFill>
                            <a:srgbClr val="223B49"/>
                          </a:solidFill>
                          <a:latin typeface="Arial"/>
                          <a:ea typeface="Arial"/>
                          <a:cs typeface="Arial"/>
                        </a:rPr>
                        <a:t>Machine learning</a:t>
                      </a:r>
                    </a:p>
                  </a:txBody>
                  <a:tcPr marL="133350" marR="133350" marT="95250" marB="85725" anchor="ctr">
                    <a:solidFill>
                      <a:srgbClr val="F4F7F6"/>
                    </a:solidFill>
                  </a:tcPr>
                </a:tc>
                <a:tc>
                  <a:txBody>
                    <a:bodyPr/>
                    <a:lstStyle/>
                    <a:p>
                      <a:r>
                        <a:rPr sz="1725">
                          <a:solidFill>
                            <a:srgbClr val="223B49"/>
                          </a:solidFill>
                          <a:latin typeface="Arial"/>
                          <a:ea typeface="Arial"/>
                          <a:cs typeface="Arial"/>
                        </a:rPr>
                        <a:t>ML1 label guide, training and evaluation scripts</a:t>
                      </a:r>
                    </a:p>
                  </a:txBody>
                  <a:tcPr marL="133350" marR="133350" marT="95250" marB="85725" anchor="ctr">
                    <a:solidFill>
                      <a:srgbClr val="F4F7F6"/>
                    </a:solidFill>
                  </a:tcPr>
                </a:tc>
                <a:tc>
                  <a:txBody>
                    <a:bodyPr/>
                    <a:lstStyle/>
                    <a:p>
                      <a:r>
                        <a:rPr sz="1725">
                          <a:solidFill>
                            <a:srgbClr val="223B49"/>
                          </a:solidFill>
                          <a:latin typeface="Arial"/>
                          <a:ea typeface="Arial"/>
                          <a:cs typeface="Arial"/>
                        </a:rPr>
                        <a:t>Measured model results remain incomplete</a:t>
                      </a:r>
                    </a:p>
                  </a:txBody>
                  <a:tcPr marL="133350" marR="133350" marT="95250" marB="85725" anchor="ctr">
                    <a:solidFill>
                      <a:srgbClr val="F4F7F6"/>
                    </a:solidFill>
                  </a:tcPr>
                </a:tc>
              </a:tr>
              <a:tr h="673100">
                <a:tc>
                  <a:txBody>
                    <a:bodyPr/>
                    <a:lstStyle/>
                    <a:p>
                      <a:r>
                        <a:rPr sz="1725">
                          <a:solidFill>
                            <a:srgbClr val="223B49"/>
                          </a:solidFill>
                          <a:latin typeface="Arial"/>
                          <a:ea typeface="Arial"/>
                          <a:cs typeface="Arial"/>
                        </a:rPr>
                        <a:t>Integration and users</a:t>
                      </a:r>
                    </a:p>
                  </a:txBody>
                  <a:tcPr marL="133350" marR="133350" marT="95250" marB="85725" anchor="ctr">
                    <a:solidFill>
                      <a:srgbClr val="FFFFFF"/>
                    </a:solidFill>
                  </a:tcPr>
                </a:tc>
                <a:tc>
                  <a:txBody>
                    <a:bodyPr/>
                    <a:lstStyle/>
                    <a:p>
                      <a:r>
                        <a:rPr sz="1725">
                          <a:solidFill>
                            <a:srgbClr val="223B49"/>
                          </a:solidFill>
                          <a:latin typeface="Arial"/>
                          <a:ea typeface="Arial"/>
                          <a:cs typeface="Arial"/>
                        </a:rPr>
                        <a:t>Interfaces and validation plans</a:t>
                      </a:r>
                    </a:p>
                  </a:txBody>
                  <a:tcPr marL="133350" marR="133350" marT="95250" marB="85725" anchor="ctr">
                    <a:solidFill>
                      <a:srgbClr val="FFFFFF"/>
                    </a:solidFill>
                  </a:tcPr>
                </a:tc>
                <a:tc>
                  <a:txBody>
                    <a:bodyPr/>
                    <a:lstStyle/>
                    <a:p>
                      <a:r>
                        <a:rPr sz="1725">
                          <a:solidFill>
                            <a:srgbClr val="223B49"/>
                          </a:solidFill>
                          <a:latin typeface="Arial"/>
                          <a:ea typeface="Arial"/>
                          <a:cs typeface="Arial"/>
                        </a:rPr>
                        <a:t>Physical journey and user study evidence pending</a:t>
                      </a:r>
                    </a:p>
                  </a:txBody>
                  <a:tcPr marL="133350" marR="133350" marT="95250" marB="85725" anchor="ctr">
                    <a:solidFill>
                      <a:srgbClr val="FFFFFF"/>
                    </a:solidFill>
                  </a:tcPr>
                </a:tc>
              </a:tr>
            </a:tbl>
          </a:graphicData>
        </a:graphic>
      </p:graphicFrame>
    </p:spTree>
    <p:extLst>
      <p:ext uri="{BB962C8B-B14F-4D97-AF65-F5344CB8AC3E}">
        <p14:creationId xmlns:p14="http://schemas.microsoft.com/office/powerpoint/2010/main" val="20085811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A09BF45-7CEE-4DB1-B966-969966619530}"/>
              </a:ext>
            </a:extLst>
          </p:cNvPr>
          <p:cNvSpPr>
            <a:spLocks xmlns:a="http://schemas.openxmlformats.org/drawingml/2006/main" noGrp="1"/>
          </p:cNvSpPr>
          <p:nvPr/>
        </p:nvSpPr>
        <p:spPr>
          <a:xfrm xmlns:a="http://schemas.openxmlformats.org/drawingml/2006/main">
            <a:off x="609600" y="4381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83447"/>
                </a:solidFill>
                <a:latin typeface="Arial"/>
                <a:ea typeface="Arial"/>
                <a:cs typeface="Arial"/>
              </a:defRPr>
            </a:pPr>
            <a:r>
              <a:rPr sz="3300" b="1">
                <a:solidFill>
                  <a:srgbClr val="183447"/>
                </a:solidFill>
                <a:latin typeface="Arial"/>
                <a:ea typeface="Arial"/>
                <a:cs typeface="Arial"/>
              </a:rPr>
              <a:t>Software progress</a:t>
            </a:r>
          </a:p>
        </p:txBody>
      </p:sp>
      <p:sp>
        <p:nvSpPr>
          <p:cNvPr id="2" name="">
            <a:extLst xmlns:a="http://schemas.openxmlformats.org/drawingml/2006/main">
              <a:ext uri="{FF2B5EF4-FFF2-40B4-BE49-F238E27FC236}">
                <a16:creationId xmlns:a16="http://schemas.microsoft.com/office/drawing/2014/main" id="{DF5F40AF-2CA2-4658-8F81-55340B92E757}"/>
              </a:ext>
            </a:extLst>
          </p:cNvPr>
          <p:cNvSpPr>
            <a:spLocks xmlns:a="http://schemas.openxmlformats.org/drawingml/2006/main" noGrp="1"/>
          </p:cNvSpPr>
          <p:nvPr/>
        </p:nvSpPr>
        <p:spPr>
          <a:xfrm xmlns:a="http://schemas.openxmlformats.org/drawingml/2006/main">
            <a:off x="628650" y="1257300"/>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52666F"/>
                </a:solidFill>
                <a:latin typeface="Arial"/>
                <a:ea typeface="Arial"/>
                <a:cs typeface="Arial"/>
              </a:defRPr>
            </a:pPr>
            <a:r>
              <a:rPr sz="1875" b="0">
                <a:solidFill>
                  <a:srgbClr val="52666F"/>
                </a:solidFill>
                <a:latin typeface="Arial"/>
                <a:ea typeface="Arial"/>
                <a:cs typeface="Arial"/>
              </a:rPr>
              <a:t>The repository implements the competition software loop</a:t>
            </a:r>
          </a:p>
        </p:txBody>
      </p:sp>
      <p:sp>
        <p:nvSpPr>
          <p:cNvPr id="3" name="">
            <a:extLst xmlns:a="http://schemas.openxmlformats.org/drawingml/2006/main">
              <a:ext uri="{FF2B5EF4-FFF2-40B4-BE49-F238E27FC236}">
                <a16:creationId xmlns:a16="http://schemas.microsoft.com/office/drawing/2014/main" id="{2F2C324B-465E-409E-A40A-C554086B23C2}"/>
              </a:ext>
            </a:extLst>
          </p:cNvPr>
          <p:cNvSpPr>
            <a:spLocks xmlns:a="http://schemas.openxmlformats.org/drawingml/2006/main" noGrp="1"/>
          </p:cNvSpPr>
          <p:nvPr/>
        </p:nvSpPr>
        <p:spPr>
          <a:xfrm xmlns:a="http://schemas.openxmlformats.org/drawingml/2006/main">
            <a:off x="11077575"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66F"/>
                </a:solidFill>
                <a:latin typeface="Arial"/>
                <a:ea typeface="Arial"/>
                <a:cs typeface="Arial"/>
              </a:defRPr>
            </a:pPr>
            <a:r>
              <a:rPr sz="1350" b="0">
                <a:solidFill>
                  <a:srgbClr val="52666F"/>
                </a:solidFill>
                <a:latin typeface="Arial"/>
                <a:ea typeface="Arial"/>
                <a:cs typeface="Arial"/>
              </a:rPr>
              <a:t>06</a:t>
            </a:r>
          </a:p>
        </p:txBody>
      </p:sp>
      <p:sp>
        <p:nvSpPr>
          <p:cNvPr id="4" name="">
            <a:extLst xmlns:a="http://schemas.openxmlformats.org/drawingml/2006/main">
              <a:ext uri="{FF2B5EF4-FFF2-40B4-BE49-F238E27FC236}">
                <a16:creationId xmlns:a16="http://schemas.microsoft.com/office/drawing/2014/main" id="{2876DF29-FF1C-41AB-8906-063ABFB37DDA}"/>
              </a:ext>
            </a:extLst>
          </p:cNvPr>
          <p:cNvSpPr>
            <a:spLocks xmlns:a="http://schemas.openxmlformats.org/drawingml/2006/main" noGrp="1"/>
          </p:cNvSpPr>
          <p:nvPr/>
        </p:nvSpPr>
        <p:spPr>
          <a:xfrm xmlns:a="http://schemas.openxmlformats.org/drawingml/2006/main">
            <a:off x="628650" y="1914525"/>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87E83"/>
                </a:solidFill>
                <a:latin typeface="Arial"/>
                <a:ea typeface="Arial"/>
                <a:cs typeface="Arial"/>
              </a:defRPr>
            </a:pPr>
            <a:r>
              <a:rPr sz="2175" b="1">
                <a:solidFill>
                  <a:srgbClr val="087E83"/>
                </a:solidFill>
                <a:latin typeface="Arial"/>
                <a:ea typeface="Arial"/>
                <a:cs typeface="Arial"/>
              </a:rPr>
              <a:t>Passenger and operator interfaces</a:t>
            </a:r>
          </a:p>
        </p:txBody>
      </p:sp>
      <p:sp>
        <p:nvSpPr>
          <p:cNvPr id="5" name="">
            <a:extLst xmlns:a="http://schemas.openxmlformats.org/drawingml/2006/main">
              <a:ext uri="{FF2B5EF4-FFF2-40B4-BE49-F238E27FC236}">
                <a16:creationId xmlns:a16="http://schemas.microsoft.com/office/drawing/2014/main" id="{EE7AE101-AE1D-4B87-9A25-0A571B099677}"/>
              </a:ext>
            </a:extLst>
          </p:cNvPr>
          <p:cNvSpPr>
            <a:spLocks xmlns:a="http://schemas.openxmlformats.org/drawingml/2006/main" noGrp="1"/>
          </p:cNvSpPr>
          <p:nvPr/>
        </p:nvSpPr>
        <p:spPr>
          <a:xfrm xmlns:a="http://schemas.openxmlformats.org/drawingml/2006/main">
            <a:off x="628650" y="2314575"/>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223B49"/>
                </a:solidFill>
                <a:latin typeface="Arial"/>
                <a:ea typeface="Arial"/>
                <a:cs typeface="Arial"/>
              </a:defRPr>
            </a:pPr>
            <a:r>
              <a:rPr sz="1950" b="0">
                <a:solidFill>
                  <a:srgbClr val="223B49"/>
                </a:solidFill>
                <a:latin typeface="Arial"/>
                <a:ea typeface="Arial"/>
                <a:cs typeface="Arial"/>
              </a:rPr>
              <a:t>Request assistance, track case status, cancel and expose reasons for blocked or escalated actions.</a:t>
            </a:r>
          </a:p>
        </p:txBody>
      </p:sp>
      <p:sp>
        <p:nvSpPr>
          <p:cNvPr id="6" name="">
            <a:extLst xmlns:a="http://schemas.openxmlformats.org/drawingml/2006/main">
              <a:ext uri="{FF2B5EF4-FFF2-40B4-BE49-F238E27FC236}">
                <a16:creationId xmlns:a16="http://schemas.microsoft.com/office/drawing/2014/main" id="{1838F64A-D37F-4975-B289-7F487292FE75}"/>
              </a:ext>
            </a:extLst>
          </p:cNvPr>
          <p:cNvSpPr>
            <a:spLocks xmlns:a="http://schemas.openxmlformats.org/drawingml/2006/main" noGrp="1"/>
          </p:cNvSpPr>
          <p:nvPr/>
        </p:nvSpPr>
        <p:spPr>
          <a:xfrm xmlns:a="http://schemas.openxmlformats.org/drawingml/2006/main">
            <a:off x="628650" y="3095625"/>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87E83"/>
                </a:solidFill>
                <a:latin typeface="Arial"/>
                <a:ea typeface="Arial"/>
                <a:cs typeface="Arial"/>
              </a:defRPr>
            </a:pPr>
            <a:r>
              <a:rPr sz="2175" b="1">
                <a:solidFill>
                  <a:srgbClr val="087E83"/>
                </a:solidFill>
                <a:latin typeface="Arial"/>
                <a:ea typeface="Arial"/>
                <a:cs typeface="Arial"/>
              </a:rPr>
              <a:t>Backend and mock control</a:t>
            </a:r>
          </a:p>
        </p:txBody>
      </p:sp>
      <p:sp>
        <p:nvSpPr>
          <p:cNvPr id="7" name="">
            <a:extLst xmlns:a="http://schemas.openxmlformats.org/drawingml/2006/main">
              <a:ext uri="{FF2B5EF4-FFF2-40B4-BE49-F238E27FC236}">
                <a16:creationId xmlns:a16="http://schemas.microsoft.com/office/drawing/2014/main" id="{1667B9C8-EFD4-4A6C-A553-E1250D5EF9AD}"/>
              </a:ext>
            </a:extLst>
          </p:cNvPr>
          <p:cNvSpPr>
            <a:spLocks xmlns:a="http://schemas.openxmlformats.org/drawingml/2006/main" noGrp="1"/>
          </p:cNvSpPr>
          <p:nvPr/>
        </p:nvSpPr>
        <p:spPr>
          <a:xfrm xmlns:a="http://schemas.openxmlformats.org/drawingml/2006/main">
            <a:off x="628650" y="3495675"/>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223B49"/>
                </a:solidFill>
                <a:latin typeface="Arial"/>
                <a:ea typeface="Arial"/>
                <a:cs typeface="Arial"/>
              </a:defRPr>
            </a:pPr>
            <a:r>
              <a:rPr sz="1950" b="0">
                <a:solidFill>
                  <a:srgbClr val="223B49"/>
                </a:solidFill>
                <a:latin typeface="Arial"/>
                <a:ea typeface="Arial"/>
                <a:cs typeface="Arial"/>
              </a:rPr>
              <a:t>Persist cases and audit events. Reject duplicate actions and verify deployed/stowed telemetry.</a:t>
            </a:r>
          </a:p>
        </p:txBody>
      </p:sp>
      <p:sp>
        <p:nvSpPr>
          <p:cNvPr id="8" name="">
            <a:extLst xmlns:a="http://schemas.openxmlformats.org/drawingml/2006/main">
              <a:ext uri="{FF2B5EF4-FFF2-40B4-BE49-F238E27FC236}">
                <a16:creationId xmlns:a16="http://schemas.microsoft.com/office/drawing/2014/main" id="{297D05D7-17ED-4438-A763-54638A8FB9A4}"/>
              </a:ext>
            </a:extLst>
          </p:cNvPr>
          <p:cNvSpPr>
            <a:spLocks xmlns:a="http://schemas.openxmlformats.org/drawingml/2006/main" noGrp="1"/>
          </p:cNvSpPr>
          <p:nvPr/>
        </p:nvSpPr>
        <p:spPr>
          <a:xfrm xmlns:a="http://schemas.openxmlformats.org/drawingml/2006/main">
            <a:off x="628650" y="4276725"/>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87E83"/>
                </a:solidFill>
                <a:latin typeface="Arial"/>
                <a:ea typeface="Arial"/>
                <a:cs typeface="Arial"/>
              </a:defRPr>
            </a:pPr>
            <a:r>
              <a:rPr sz="2175" b="1">
                <a:solidFill>
                  <a:srgbClr val="087E83"/>
                </a:solidFill>
                <a:latin typeface="Arial"/>
                <a:ea typeface="Arial"/>
                <a:cs typeface="Arial"/>
              </a:rPr>
              <a:t>Verification still required</a:t>
            </a:r>
          </a:p>
        </p:txBody>
      </p:sp>
      <p:sp>
        <p:nvSpPr>
          <p:cNvPr id="9" name="">
            <a:extLst xmlns:a="http://schemas.openxmlformats.org/drawingml/2006/main">
              <a:ext uri="{FF2B5EF4-FFF2-40B4-BE49-F238E27FC236}">
                <a16:creationId xmlns:a16="http://schemas.microsoft.com/office/drawing/2014/main" id="{DFD2B4D8-9EE1-431C-A451-3D62BE3EF70D}"/>
              </a:ext>
            </a:extLst>
          </p:cNvPr>
          <p:cNvSpPr>
            <a:spLocks xmlns:a="http://schemas.openxmlformats.org/drawingml/2006/main" noGrp="1"/>
          </p:cNvSpPr>
          <p:nvPr/>
        </p:nvSpPr>
        <p:spPr>
          <a:xfrm xmlns:a="http://schemas.openxmlformats.org/drawingml/2006/main">
            <a:off x="628650" y="4676775"/>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223B49"/>
                </a:solidFill>
                <a:latin typeface="Arial"/>
                <a:ea typeface="Arial"/>
                <a:cs typeface="Arial"/>
              </a:defRPr>
            </a:pPr>
            <a:r>
              <a:rPr sz="1950" b="0">
                <a:solidFill>
                  <a:srgbClr val="223B49"/>
                </a:solidFill>
                <a:latin typeface="Arial"/>
                <a:ea typeface="Arial"/>
                <a:cs typeface="Arial"/>
              </a:rPr>
              <a:t>Physical actuation and on-device ARM64 Qwen tests. Transport arrivals and selected amenities use labelled fixtures.</a:t>
            </a:r>
          </a:p>
        </p:txBody>
      </p:sp>
    </p:spTree>
    <p:extLst>
      <p:ext uri="{BB962C8B-B14F-4D97-AF65-F5344CB8AC3E}">
        <p14:creationId xmlns:p14="http://schemas.microsoft.com/office/powerpoint/2010/main" val="159357232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0B02888-DB0A-489F-A189-0E3FE9CA51BF}"/>
              </a:ext>
            </a:extLst>
          </p:cNvPr>
          <p:cNvSpPr>
            <a:spLocks xmlns:a="http://schemas.openxmlformats.org/drawingml/2006/main" noGrp="1"/>
          </p:cNvSpPr>
          <p:nvPr/>
        </p:nvSpPr>
        <p:spPr>
          <a:xfrm xmlns:a="http://schemas.openxmlformats.org/drawingml/2006/main">
            <a:off x="609600" y="4381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83447"/>
                </a:solidFill>
                <a:latin typeface="Arial"/>
                <a:ea typeface="Arial"/>
                <a:cs typeface="Arial"/>
              </a:defRPr>
            </a:pPr>
            <a:r>
              <a:rPr sz="3300" b="1">
                <a:solidFill>
                  <a:srgbClr val="183447"/>
                </a:solidFill>
                <a:latin typeface="Arial"/>
                <a:ea typeface="Arial"/>
                <a:cs typeface="Arial"/>
              </a:rPr>
              <a:t>Mechanical design progress</a:t>
            </a:r>
          </a:p>
        </p:txBody>
      </p:sp>
      <p:sp>
        <p:nvSpPr>
          <p:cNvPr id="2" name="">
            <a:extLst xmlns:a="http://schemas.openxmlformats.org/drawingml/2006/main">
              <a:ext uri="{FF2B5EF4-FFF2-40B4-BE49-F238E27FC236}">
                <a16:creationId xmlns:a16="http://schemas.microsoft.com/office/drawing/2014/main" id="{723BDF8A-AE95-4A01-8C5E-416BBD313E39}"/>
              </a:ext>
            </a:extLst>
          </p:cNvPr>
          <p:cNvSpPr>
            <a:spLocks xmlns:a="http://schemas.openxmlformats.org/drawingml/2006/main" noGrp="1"/>
          </p:cNvSpPr>
          <p:nvPr/>
        </p:nvSpPr>
        <p:spPr>
          <a:xfrm xmlns:a="http://schemas.openxmlformats.org/drawingml/2006/main">
            <a:off x="628650" y="1257300"/>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52666F"/>
                </a:solidFill>
                <a:latin typeface="Arial"/>
                <a:ea typeface="Arial"/>
                <a:cs typeface="Arial"/>
              </a:defRPr>
            </a:pPr>
            <a:r>
              <a:rPr sz="1875" b="0">
                <a:solidFill>
                  <a:srgbClr val="52666F"/>
                </a:solidFill>
                <a:latin typeface="Arial"/>
                <a:ea typeface="Arial"/>
                <a:cs typeface="Arial"/>
              </a:rPr>
              <a:t>Robobus v2 concept in Autodesk Fusion</a:t>
            </a:r>
          </a:p>
        </p:txBody>
      </p:sp>
      <p:sp>
        <p:nvSpPr>
          <p:cNvPr id="3" name="">
            <a:extLst xmlns:a="http://schemas.openxmlformats.org/drawingml/2006/main">
              <a:ext uri="{FF2B5EF4-FFF2-40B4-BE49-F238E27FC236}">
                <a16:creationId xmlns:a16="http://schemas.microsoft.com/office/drawing/2014/main" id="{7DEDDC8A-CA6C-491C-B256-C08A5A4AAB96}"/>
              </a:ext>
            </a:extLst>
          </p:cNvPr>
          <p:cNvSpPr>
            <a:spLocks xmlns:a="http://schemas.openxmlformats.org/drawingml/2006/main" noGrp="1"/>
          </p:cNvSpPr>
          <p:nvPr/>
        </p:nvSpPr>
        <p:spPr>
          <a:xfrm xmlns:a="http://schemas.openxmlformats.org/drawingml/2006/main">
            <a:off x="11077575"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66F"/>
                </a:solidFill>
                <a:latin typeface="Arial"/>
                <a:ea typeface="Arial"/>
                <a:cs typeface="Arial"/>
              </a:defRPr>
            </a:pPr>
            <a:r>
              <a:rPr sz="1350" b="0">
                <a:solidFill>
                  <a:srgbClr val="52666F"/>
                </a:solidFill>
                <a:latin typeface="Arial"/>
                <a:ea typeface="Arial"/>
                <a:cs typeface="Arial"/>
              </a:rPr>
              <a:t>07</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d75fe1359830439f"/>
          <a:stretch xmlns:a="http://schemas.openxmlformats.org/drawingml/2006/main"/>
        </p:blipFill>
        <p:spPr>
          <a:xfrm xmlns:a="http://schemas.openxmlformats.org/drawingml/2006/main">
            <a:off x="792956" y="1924050"/>
            <a:ext cx="6100763" cy="406717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5141562D-B871-482C-BB3F-DA0006C71EF5}"/>
              </a:ext>
            </a:extLst>
          </p:cNvPr>
          <p:cNvSpPr>
            <a:spLocks xmlns:a="http://schemas.openxmlformats.org/drawingml/2006/main" noGrp="1"/>
          </p:cNvSpPr>
          <p:nvPr/>
        </p:nvSpPr>
        <p:spPr>
          <a:xfrm xmlns:a="http://schemas.openxmlformats.org/drawingml/2006/main">
            <a:off x="7524750" y="2009775"/>
            <a:ext cx="3905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625" b="1">
                <a:solidFill>
                  <a:srgbClr val="087E83"/>
                </a:solidFill>
                <a:latin typeface="Arial"/>
                <a:ea typeface="Arial"/>
                <a:cs typeface="Arial"/>
              </a:defRPr>
            </a:pPr>
            <a:r>
              <a:rPr sz="2625" b="1">
                <a:solidFill>
                  <a:srgbClr val="087E83"/>
                </a:solidFill>
                <a:latin typeface="Arial"/>
                <a:ea typeface="Arial"/>
                <a:cs typeface="Arial"/>
              </a:rPr>
              <a:t>73 sampled poses</a:t>
            </a:r>
          </a:p>
        </p:txBody>
      </p:sp>
      <p:sp>
        <p:nvSpPr>
          <p:cNvPr id="6" name="">
            <a:extLst xmlns:a="http://schemas.openxmlformats.org/drawingml/2006/main">
              <a:ext uri="{FF2B5EF4-FFF2-40B4-BE49-F238E27FC236}">
                <a16:creationId xmlns:a16="http://schemas.microsoft.com/office/drawing/2014/main" id="{52A12A62-14AF-41A4-87D6-BFD2EAC8D1CD}"/>
              </a:ext>
            </a:extLst>
          </p:cNvPr>
          <p:cNvSpPr>
            <a:spLocks xmlns:a="http://schemas.openxmlformats.org/drawingml/2006/main" noGrp="1"/>
          </p:cNvSpPr>
          <p:nvPr/>
        </p:nvSpPr>
        <p:spPr>
          <a:xfrm xmlns:a="http://schemas.openxmlformats.org/drawingml/2006/main">
            <a:off x="7524750" y="2571750"/>
            <a:ext cx="3905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223B49"/>
                </a:solidFill>
                <a:latin typeface="Arial"/>
                <a:ea typeface="Arial"/>
                <a:cs typeface="Arial"/>
              </a:defRPr>
            </a:pPr>
            <a:r>
              <a:rPr sz="2025" b="0">
                <a:solidFill>
                  <a:srgbClr val="223B49"/>
                </a:solidFill>
                <a:latin typeface="Arial"/>
                <a:ea typeface="Arial"/>
                <a:cs typeface="Arial"/>
              </a:rPr>
              <a:t>Zero moving-part intersection volumes in the discrete CAD check.</a:t>
            </a:r>
          </a:p>
        </p:txBody>
      </p:sp>
      <p:sp>
        <p:nvSpPr>
          <p:cNvPr id="7" name="">
            <a:extLst xmlns:a="http://schemas.openxmlformats.org/drawingml/2006/main">
              <a:ext uri="{FF2B5EF4-FFF2-40B4-BE49-F238E27FC236}">
                <a16:creationId xmlns:a16="http://schemas.microsoft.com/office/drawing/2014/main" id="{E763BD86-E0BE-4482-A224-8038B751C037}"/>
              </a:ext>
            </a:extLst>
          </p:cNvPr>
          <p:cNvSpPr>
            <a:spLocks xmlns:a="http://schemas.openxmlformats.org/drawingml/2006/main" noGrp="1"/>
          </p:cNvSpPr>
          <p:nvPr/>
        </p:nvSpPr>
        <p:spPr>
          <a:xfrm xmlns:a="http://schemas.openxmlformats.org/drawingml/2006/main">
            <a:off x="7524750" y="3848100"/>
            <a:ext cx="39052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1">
                <a:solidFill>
                  <a:srgbClr val="087E83"/>
                </a:solidFill>
                <a:latin typeface="Arial"/>
                <a:ea typeface="Arial"/>
                <a:cs typeface="Arial"/>
              </a:defRPr>
            </a:pPr>
            <a:r>
              <a:rPr sz="2250" b="1">
                <a:solidFill>
                  <a:srgbClr val="087E83"/>
                </a:solidFill>
                <a:latin typeface="Arial"/>
                <a:ea typeface="Arial"/>
                <a:cs typeface="Arial"/>
              </a:rPr>
              <a:t>Native geometry</a:t>
            </a:r>
          </a:p>
        </p:txBody>
      </p:sp>
      <p:sp>
        <p:nvSpPr>
          <p:cNvPr id="8" name="">
            <a:extLst xmlns:a="http://schemas.openxmlformats.org/drawingml/2006/main">
              <a:ext uri="{FF2B5EF4-FFF2-40B4-BE49-F238E27FC236}">
                <a16:creationId xmlns:a16="http://schemas.microsoft.com/office/drawing/2014/main" id="{79F290CE-C08D-491F-84A1-634348FF97B0}"/>
              </a:ext>
            </a:extLst>
          </p:cNvPr>
          <p:cNvSpPr>
            <a:spLocks xmlns:a="http://schemas.openxmlformats.org/drawingml/2006/main" noGrp="1"/>
          </p:cNvSpPr>
          <p:nvPr/>
        </p:nvSpPr>
        <p:spPr>
          <a:xfrm xmlns:a="http://schemas.openxmlformats.org/drawingml/2006/main">
            <a:off x="7524750" y="4333875"/>
            <a:ext cx="39052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223B49"/>
                </a:solidFill>
                <a:latin typeface="Arial"/>
                <a:ea typeface="Arial"/>
                <a:cs typeface="Arial"/>
              </a:defRPr>
            </a:pPr>
            <a:r>
              <a:rPr sz="1950" b="0">
                <a:solidFill>
                  <a:srgbClr val="223B49"/>
                </a:solidFill>
                <a:latin typeface="Arial"/>
                <a:ea typeface="Arial"/>
                <a:cs typeface="Arial"/>
              </a:rPr>
              <a:t>189 solid bodies and eight as-built joints. Travel and deployed exports available.</a:t>
            </a:r>
          </a:p>
        </p:txBody>
      </p:sp>
      <p:sp>
        <p:nvSpPr>
          <p:cNvPr id="9" name="">
            <a:extLst xmlns:a="http://schemas.openxmlformats.org/drawingml/2006/main">
              <a:ext uri="{FF2B5EF4-FFF2-40B4-BE49-F238E27FC236}">
                <a16:creationId xmlns:a16="http://schemas.microsoft.com/office/drawing/2014/main" id="{713C4FEF-26D6-4B86-A976-8A886090C00B}"/>
              </a:ext>
            </a:extLst>
          </p:cNvPr>
          <p:cNvSpPr>
            <a:spLocks xmlns:a="http://schemas.openxmlformats.org/drawingml/2006/main" noGrp="1"/>
          </p:cNvSpPr>
          <p:nvPr/>
        </p:nvSpPr>
        <p:spPr>
          <a:xfrm xmlns:a="http://schemas.openxmlformats.org/drawingml/2006/main">
            <a:off x="628650" y="6105525"/>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52666F"/>
                </a:solidFill>
                <a:latin typeface="Arial"/>
                <a:ea typeface="Arial"/>
                <a:cs typeface="Arial"/>
              </a:defRPr>
            </a:pPr>
            <a:r>
              <a:rPr sz="1650" b="0">
                <a:solidFill>
                  <a:srgbClr val="52666F"/>
                </a:solidFill>
                <a:latin typeface="Arial"/>
                <a:ea typeface="Arial"/>
                <a:cs typeface="Arial"/>
              </a:rPr>
              <a:t>CAD packaging evidence only. Structural performance and physical ramp safety remain unverified.</a:t>
            </a:r>
          </a:p>
        </p:txBody>
      </p:sp>
    </p:spTree>
    <p:extLst>
      <p:ext uri="{BB962C8B-B14F-4D97-AF65-F5344CB8AC3E}">
        <p14:creationId xmlns:p14="http://schemas.microsoft.com/office/powerpoint/2010/main" val="47608257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780A9C5-7AE5-49E2-A84D-8E04B2918458}"/>
              </a:ext>
            </a:extLst>
          </p:cNvPr>
          <p:cNvSpPr>
            <a:spLocks xmlns:a="http://schemas.openxmlformats.org/drawingml/2006/main" noGrp="1"/>
          </p:cNvSpPr>
          <p:nvPr/>
        </p:nvSpPr>
        <p:spPr>
          <a:xfrm xmlns:a="http://schemas.openxmlformats.org/drawingml/2006/main">
            <a:off x="609600" y="4381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83447"/>
                </a:solidFill>
                <a:latin typeface="Arial"/>
                <a:ea typeface="Arial"/>
                <a:cs typeface="Arial"/>
              </a:defRPr>
            </a:pPr>
            <a:r>
              <a:rPr sz="3300" b="1">
                <a:solidFill>
                  <a:srgbClr val="183447"/>
                </a:solidFill>
                <a:latin typeface="Arial"/>
                <a:ea typeface="Arial"/>
                <a:cs typeface="Arial"/>
              </a:rPr>
              <a:t>Electronics bench progress</a:t>
            </a:r>
          </a:p>
        </p:txBody>
      </p:sp>
      <p:sp>
        <p:nvSpPr>
          <p:cNvPr id="2" name="">
            <a:extLst xmlns:a="http://schemas.openxmlformats.org/drawingml/2006/main">
              <a:ext uri="{FF2B5EF4-FFF2-40B4-BE49-F238E27FC236}">
                <a16:creationId xmlns:a16="http://schemas.microsoft.com/office/drawing/2014/main" id="{868A88A6-46A5-408D-AB19-45FD304641BB}"/>
              </a:ext>
            </a:extLst>
          </p:cNvPr>
          <p:cNvSpPr>
            <a:spLocks xmlns:a="http://schemas.openxmlformats.org/drawingml/2006/main" noGrp="1"/>
          </p:cNvSpPr>
          <p:nvPr/>
        </p:nvSpPr>
        <p:spPr>
          <a:xfrm xmlns:a="http://schemas.openxmlformats.org/drawingml/2006/main">
            <a:off x="628650" y="1257300"/>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52666F"/>
                </a:solidFill>
                <a:latin typeface="Arial"/>
                <a:ea typeface="Arial"/>
                <a:cs typeface="Arial"/>
              </a:defRPr>
            </a:pPr>
            <a:r>
              <a:rPr sz="1875" b="0">
                <a:solidFill>
                  <a:srgbClr val="52666F"/>
                </a:solidFill>
                <a:latin typeface="Arial"/>
                <a:ea typeface="Arial"/>
                <a:cs typeface="Arial"/>
              </a:rPr>
              <a:t>ESP32-S3 and VL53L0X live ranging verified on 23 September</a:t>
            </a:r>
          </a:p>
        </p:txBody>
      </p:sp>
      <p:sp>
        <p:nvSpPr>
          <p:cNvPr id="3" name="">
            <a:extLst xmlns:a="http://schemas.openxmlformats.org/drawingml/2006/main">
              <a:ext uri="{FF2B5EF4-FFF2-40B4-BE49-F238E27FC236}">
                <a16:creationId xmlns:a16="http://schemas.microsoft.com/office/drawing/2014/main" id="{5BF0ED8A-445B-4FDC-A2CF-3681F1C9E49B}"/>
              </a:ext>
            </a:extLst>
          </p:cNvPr>
          <p:cNvSpPr>
            <a:spLocks xmlns:a="http://schemas.openxmlformats.org/drawingml/2006/main" noGrp="1"/>
          </p:cNvSpPr>
          <p:nvPr/>
        </p:nvSpPr>
        <p:spPr>
          <a:xfrm xmlns:a="http://schemas.openxmlformats.org/drawingml/2006/main">
            <a:off x="11077575"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66F"/>
                </a:solidFill>
                <a:latin typeface="Arial"/>
                <a:ea typeface="Arial"/>
                <a:cs typeface="Arial"/>
              </a:defRPr>
            </a:pPr>
            <a:r>
              <a:rPr sz="1350" b="0">
                <a:solidFill>
                  <a:srgbClr val="52666F"/>
                </a:solidFill>
                <a:latin typeface="Arial"/>
                <a:ea typeface="Arial"/>
                <a:cs typeface="Arial"/>
              </a:rPr>
              <a:t>08</a:t>
            </a:r>
          </a:p>
        </p:txBody>
      </p:sp>
      <p:sp>
        <p:nvSpPr>
          <p:cNvPr id="4" name="">
            <a:extLst xmlns:a="http://schemas.openxmlformats.org/drawingml/2006/main">
              <a:ext uri="{FF2B5EF4-FFF2-40B4-BE49-F238E27FC236}">
                <a16:creationId xmlns:a16="http://schemas.microsoft.com/office/drawing/2014/main" id="{5AB4A0D1-34B0-4496-9E22-D28B93994EB8}"/>
              </a:ext>
            </a:extLst>
          </p:cNvPr>
          <p:cNvSpPr>
            <a:spLocks xmlns:a="http://schemas.openxmlformats.org/drawingml/2006/main" noGrp="1"/>
          </p:cNvSpPr>
          <p:nvPr/>
        </p:nvSpPr>
        <p:spPr>
          <a:xfrm xmlns:a="http://schemas.openxmlformats.org/drawingml/2006/main">
            <a:off x="628650" y="1962150"/>
            <a:ext cx="10810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087E83"/>
                </a:solidFill>
                <a:latin typeface="Arial"/>
                <a:ea typeface="Arial"/>
                <a:cs typeface="Arial"/>
              </a:defRPr>
            </a:pPr>
            <a:r>
              <a:rPr sz="3300" b="1">
                <a:solidFill>
                  <a:srgbClr val="087E83"/>
                </a:solidFill>
                <a:latin typeface="Arial"/>
                <a:ea typeface="Arial"/>
                <a:cs typeface="Arial"/>
              </a:rPr>
              <a:t>27 consecutive valid samples</a:t>
            </a:r>
          </a:p>
        </p:txBody>
      </p:sp>
      <p:sp>
        <p:nvSpPr>
          <p:cNvPr id="5" name="">
            <a:extLst xmlns:a="http://schemas.openxmlformats.org/drawingml/2006/main">
              <a:ext uri="{FF2B5EF4-FFF2-40B4-BE49-F238E27FC236}">
                <a16:creationId xmlns:a16="http://schemas.microsoft.com/office/drawing/2014/main" id="{8C284200-0659-4EEE-93BE-26FBC4C5FDF0}"/>
              </a:ext>
            </a:extLst>
          </p:cNvPr>
          <p:cNvSpPr>
            <a:spLocks xmlns:a="http://schemas.openxmlformats.org/drawingml/2006/main" noGrp="1"/>
          </p:cNvSpPr>
          <p:nvPr/>
        </p:nvSpPr>
        <p:spPr>
          <a:xfrm xmlns:a="http://schemas.openxmlformats.org/drawingml/2006/main">
            <a:off x="628650" y="2714625"/>
            <a:ext cx="108108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223B49"/>
                </a:solidFill>
                <a:latin typeface="Arial"/>
                <a:ea typeface="Arial"/>
                <a:cs typeface="Arial"/>
              </a:defRPr>
            </a:pPr>
            <a:r>
              <a:rPr sz="2250" b="0">
                <a:solidFill>
                  <a:srgbClr val="223B49"/>
                </a:solidFill>
                <a:latin typeface="Arial"/>
                <a:ea typeface="Arial"/>
                <a:cs typeface="Arial"/>
              </a:rPr>
              <a:t>30–136 mm after a full sensor power cycle</a:t>
            </a:r>
          </a:p>
        </p:txBody>
      </p:sp>
      <p:sp>
        <p:nvSpPr>
          <p:cNvPr id="6" name="">
            <a:extLst xmlns:a="http://schemas.openxmlformats.org/drawingml/2006/main">
              <a:ext uri="{FF2B5EF4-FFF2-40B4-BE49-F238E27FC236}">
                <a16:creationId xmlns:a16="http://schemas.microsoft.com/office/drawing/2014/main" id="{F1BEE7D9-BAB2-4591-ACA2-212EA526B4BB}"/>
              </a:ext>
            </a:extLst>
          </p:cNvPr>
          <p:cNvSpPr>
            <a:spLocks xmlns:a="http://schemas.openxmlformats.org/drawingml/2006/main" noGrp="1"/>
          </p:cNvSpPr>
          <p:nvPr/>
        </p:nvSpPr>
        <p:spPr>
          <a:xfrm xmlns:a="http://schemas.openxmlformats.org/drawingml/2006/main">
            <a:off x="628650" y="3638550"/>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87E83"/>
                </a:solidFill>
                <a:latin typeface="Arial"/>
                <a:ea typeface="Arial"/>
                <a:cs typeface="Arial"/>
              </a:defRPr>
            </a:pPr>
            <a:r>
              <a:rPr sz="2175" b="1">
                <a:solidFill>
                  <a:srgbClr val="087E83"/>
                </a:solidFill>
                <a:latin typeface="Arial"/>
                <a:ea typeface="Arial"/>
                <a:cs typeface="Arial"/>
              </a:rPr>
              <a:t>What this establishes</a:t>
            </a:r>
          </a:p>
        </p:txBody>
      </p:sp>
      <p:sp>
        <p:nvSpPr>
          <p:cNvPr id="7" name="">
            <a:extLst xmlns:a="http://schemas.openxmlformats.org/drawingml/2006/main">
              <a:ext uri="{FF2B5EF4-FFF2-40B4-BE49-F238E27FC236}">
                <a16:creationId xmlns:a16="http://schemas.microsoft.com/office/drawing/2014/main" id="{2E7EDD22-0343-4681-B804-4C4E8643FFC3}"/>
              </a:ext>
            </a:extLst>
          </p:cNvPr>
          <p:cNvSpPr>
            <a:spLocks xmlns:a="http://schemas.openxmlformats.org/drawingml/2006/main" noGrp="1"/>
          </p:cNvSpPr>
          <p:nvPr/>
        </p:nvSpPr>
        <p:spPr>
          <a:xfrm xmlns:a="http://schemas.openxmlformats.org/drawingml/2006/main">
            <a:off x="628650" y="4038600"/>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223B49"/>
                </a:solidFill>
                <a:latin typeface="Arial"/>
                <a:ea typeface="Arial"/>
                <a:cs typeface="Arial"/>
              </a:defRPr>
            </a:pPr>
            <a:r>
              <a:rPr sz="1950" b="0">
                <a:solidFill>
                  <a:srgbClr val="223B49"/>
                </a:solidFill>
                <a:latin typeface="Arial"/>
                <a:ea typeface="Arial"/>
                <a:cs typeface="Arial"/>
              </a:rPr>
              <a:t>The controller can identify the connected sensor and receive live distance readings.</a:t>
            </a:r>
          </a:p>
        </p:txBody>
      </p:sp>
      <p:sp>
        <p:nvSpPr>
          <p:cNvPr id="8" name="">
            <a:extLst xmlns:a="http://schemas.openxmlformats.org/drawingml/2006/main">
              <a:ext uri="{FF2B5EF4-FFF2-40B4-BE49-F238E27FC236}">
                <a16:creationId xmlns:a16="http://schemas.microsoft.com/office/drawing/2014/main" id="{DD6C1290-6B7C-4591-95EF-65A455F617A2}"/>
              </a:ext>
            </a:extLst>
          </p:cNvPr>
          <p:cNvSpPr>
            <a:spLocks xmlns:a="http://schemas.openxmlformats.org/drawingml/2006/main" noGrp="1"/>
          </p:cNvSpPr>
          <p:nvPr/>
        </p:nvSpPr>
        <p:spPr>
          <a:xfrm xmlns:a="http://schemas.openxmlformats.org/drawingml/2006/main">
            <a:off x="628650" y="4714875"/>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87E83"/>
                </a:solidFill>
                <a:latin typeface="Arial"/>
                <a:ea typeface="Arial"/>
                <a:cs typeface="Arial"/>
              </a:defRPr>
            </a:pPr>
            <a:r>
              <a:rPr sz="2175" b="1">
                <a:solidFill>
                  <a:srgbClr val="087E83"/>
                </a:solidFill>
                <a:latin typeface="Arial"/>
                <a:ea typeface="Arial"/>
                <a:cs typeface="Arial"/>
              </a:rPr>
              <a:t>Integration issue</a:t>
            </a:r>
          </a:p>
        </p:txBody>
      </p:sp>
      <p:sp>
        <p:nvSpPr>
          <p:cNvPr id="9" name="">
            <a:extLst xmlns:a="http://schemas.openxmlformats.org/drawingml/2006/main">
              <a:ext uri="{FF2B5EF4-FFF2-40B4-BE49-F238E27FC236}">
                <a16:creationId xmlns:a16="http://schemas.microsoft.com/office/drawing/2014/main" id="{163405D6-A3F9-4614-8F96-C4B2234DDB3B}"/>
              </a:ext>
            </a:extLst>
          </p:cNvPr>
          <p:cNvSpPr>
            <a:spLocks xmlns:a="http://schemas.openxmlformats.org/drawingml/2006/main" noGrp="1"/>
          </p:cNvSpPr>
          <p:nvPr/>
        </p:nvSpPr>
        <p:spPr>
          <a:xfrm xmlns:a="http://schemas.openxmlformats.org/drawingml/2006/main">
            <a:off x="628650" y="5114925"/>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223B49"/>
                </a:solidFill>
                <a:latin typeface="Arial"/>
                <a:ea typeface="Arial"/>
                <a:cs typeface="Arial"/>
              </a:defRPr>
            </a:pPr>
            <a:r>
              <a:rPr sz="1950" b="0">
                <a:solidFill>
                  <a:srgbClr val="223B49"/>
                </a:solidFill>
                <a:latin typeface="Arial"/>
                <a:ea typeface="Arial"/>
                <a:cs typeface="Arial"/>
              </a:rPr>
              <a:t>The physical sensor is single-zone VL53L0X. Ramp firmware expects a VL53L5CX 8×8 sensor.</a:t>
            </a:r>
          </a:p>
        </p:txBody>
      </p:sp>
      <p:sp>
        <p:nvSpPr>
          <p:cNvPr id="10" name="">
            <a:extLst xmlns:a="http://schemas.openxmlformats.org/drawingml/2006/main">
              <a:ext uri="{FF2B5EF4-FFF2-40B4-BE49-F238E27FC236}">
                <a16:creationId xmlns:a16="http://schemas.microsoft.com/office/drawing/2014/main" id="{10F1B4A4-0F88-4DCE-81F8-D07E5B782BF4}"/>
              </a:ext>
            </a:extLst>
          </p:cNvPr>
          <p:cNvSpPr>
            <a:spLocks xmlns:a="http://schemas.openxmlformats.org/drawingml/2006/main" noGrp="1"/>
          </p:cNvSpPr>
          <p:nvPr/>
        </p:nvSpPr>
        <p:spPr>
          <a:xfrm xmlns:a="http://schemas.openxmlformats.org/drawingml/2006/main">
            <a:off x="628650" y="5981700"/>
            <a:ext cx="10810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52666F"/>
                </a:solidFill>
                <a:latin typeface="Arial"/>
                <a:ea typeface="Arial"/>
                <a:cs typeface="Arial"/>
              </a:defRPr>
            </a:pPr>
            <a:r>
              <a:rPr sz="1800" b="0">
                <a:solidFill>
                  <a:srgbClr val="52666F"/>
                </a:solidFill>
                <a:latin typeface="Arial"/>
                <a:ea typeface="Arial"/>
                <a:cs typeface="Arial"/>
              </a:rPr>
              <a:t>Accuracy, calibrated ramp coverage and physical safety performance remain unverified.</a:t>
            </a:r>
          </a:p>
        </p:txBody>
      </p:sp>
    </p:spTree>
    <p:extLst>
      <p:ext uri="{BB962C8B-B14F-4D97-AF65-F5344CB8AC3E}">
        <p14:creationId xmlns:p14="http://schemas.microsoft.com/office/powerpoint/2010/main" val="8584769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69E3B3A-5248-401F-AF69-69992AE53336}"/>
              </a:ext>
            </a:extLst>
          </p:cNvPr>
          <p:cNvSpPr>
            <a:spLocks xmlns:a="http://schemas.openxmlformats.org/drawingml/2006/main" noGrp="1"/>
          </p:cNvSpPr>
          <p:nvPr/>
        </p:nvSpPr>
        <p:spPr>
          <a:xfrm xmlns:a="http://schemas.openxmlformats.org/drawingml/2006/main">
            <a:off x="609600" y="4381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83447"/>
                </a:solidFill>
                <a:latin typeface="Arial"/>
                <a:ea typeface="Arial"/>
                <a:cs typeface="Arial"/>
              </a:defRPr>
            </a:pPr>
            <a:r>
              <a:rPr sz="3300" b="1">
                <a:solidFill>
                  <a:srgbClr val="183447"/>
                </a:solidFill>
                <a:latin typeface="Arial"/>
                <a:ea typeface="Arial"/>
                <a:cs typeface="Arial"/>
              </a:rPr>
              <a:t>Machine-learning progress and remaining evidence</a:t>
            </a:r>
          </a:p>
        </p:txBody>
      </p:sp>
      <p:sp>
        <p:nvSpPr>
          <p:cNvPr id="2" name="">
            <a:extLst xmlns:a="http://schemas.openxmlformats.org/drawingml/2006/main">
              <a:ext uri="{FF2B5EF4-FFF2-40B4-BE49-F238E27FC236}">
                <a16:creationId xmlns:a16="http://schemas.microsoft.com/office/drawing/2014/main" id="{9C07FFC7-687E-4182-A104-69F724A9EE64}"/>
              </a:ext>
            </a:extLst>
          </p:cNvPr>
          <p:cNvSpPr>
            <a:spLocks xmlns:a="http://schemas.openxmlformats.org/drawingml/2006/main" noGrp="1"/>
          </p:cNvSpPr>
          <p:nvPr/>
        </p:nvSpPr>
        <p:spPr>
          <a:xfrm xmlns:a="http://schemas.openxmlformats.org/drawingml/2006/main">
            <a:off x="11077575"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66F"/>
                </a:solidFill>
                <a:latin typeface="Arial"/>
                <a:ea typeface="Arial"/>
                <a:cs typeface="Arial"/>
              </a:defRPr>
            </a:pPr>
            <a:r>
              <a:rPr sz="1350" b="0">
                <a:solidFill>
                  <a:srgbClr val="52666F"/>
                </a:solidFill>
                <a:latin typeface="Arial"/>
                <a:ea typeface="Arial"/>
                <a:cs typeface="Arial"/>
              </a:rPr>
              <a:t>09</a:t>
            </a:r>
          </a:p>
        </p:txBody>
      </p:sp>
      <p:graphicFrame>
        <p:nvGraphicFramePr>
          <p:cNvPr id="7" name=""/>
          <p:cNvGraphicFramePr/>
          <p:nvPr/>
        </p:nvGraphicFramePr>
        <p:xfrm>
          <a:off xmlns:a="http://schemas.openxmlformats.org/drawingml/2006/main" x="628650" y="1781175"/>
          <a:ext xmlns:a="http://schemas.openxmlformats.org/drawingml/2006/main" cx="10934700" cy="3419475"/>
        </p:xfrm>
        <a:graphic xmlns:a="http://schemas.openxmlformats.org/drawingml/2006/main">
          <a:graphicData uri="http://schemas.openxmlformats.org/drawingml/2006/table">
            <a:tbl>
              <a:tblPr/>
              <a:tblGrid>
                <a:gridCol w="2143125"/>
                <a:gridCol w="3286125"/>
                <a:gridCol w="5505450"/>
              </a:tblGrid>
              <a:tr h="854869">
                <a:tc>
                  <a:txBody>
                    <a:bodyPr/>
                    <a:lstStyle/>
                    <a:p>
                      <a:r>
                        <a:rPr sz="1800" b="1">
                          <a:solidFill>
                            <a:srgbClr val="FFFFFF"/>
                          </a:solidFill>
                          <a:latin typeface="Arial"/>
                          <a:ea typeface="Arial"/>
                          <a:cs typeface="Arial"/>
                        </a:rPr>
                        <a:t>Module</a:t>
                      </a:r>
                    </a:p>
                  </a:txBody>
                  <a:tcPr marL="133350" marR="133350" marT="95250" marB="85725" anchor="ctr">
                    <a:solidFill>
                      <a:srgbClr val="183447"/>
                    </a:solidFill>
                  </a:tcPr>
                </a:tc>
                <a:tc>
                  <a:txBody>
                    <a:bodyPr/>
                    <a:lstStyle/>
                    <a:p>
                      <a:r>
                        <a:rPr sz="1800" b="1">
                          <a:solidFill>
                            <a:srgbClr val="FFFFFF"/>
                          </a:solidFill>
                          <a:latin typeface="Arial"/>
                          <a:ea typeface="Arial"/>
                          <a:cs typeface="Arial"/>
                        </a:rPr>
                        <a:t>Intended decision</a:t>
                      </a:r>
                    </a:p>
                  </a:txBody>
                  <a:tcPr marL="133350" marR="133350" marT="95250" marB="85725" anchor="ctr">
                    <a:solidFill>
                      <a:srgbClr val="183447"/>
                    </a:solidFill>
                  </a:tcPr>
                </a:tc>
                <a:tc>
                  <a:txBody>
                    <a:bodyPr/>
                    <a:lstStyle/>
                    <a:p>
                      <a:r>
                        <a:rPr sz="1800" b="1">
                          <a:solidFill>
                            <a:srgbClr val="FFFFFF"/>
                          </a:solidFill>
                          <a:latin typeface="Arial"/>
                          <a:ea typeface="Arial"/>
                          <a:cs typeface="Arial"/>
                        </a:rPr>
                        <a:t>Current evidence / next evidence</a:t>
                      </a:r>
                    </a:p>
                  </a:txBody>
                  <a:tcPr marL="133350" marR="133350" marT="95250" marB="85725" anchor="ctr">
                    <a:solidFill>
                      <a:srgbClr val="183447"/>
                    </a:solidFill>
                  </a:tcPr>
                </a:tc>
              </a:tr>
              <a:tr h="854869">
                <a:tc>
                  <a:txBody>
                    <a:bodyPr/>
                    <a:lstStyle/>
                    <a:p>
                      <a:r>
                        <a:rPr sz="1800">
                          <a:solidFill>
                            <a:srgbClr val="223B49"/>
                          </a:solidFill>
                          <a:latin typeface="Arial"/>
                          <a:ea typeface="Arial"/>
                          <a:cs typeface="Arial"/>
                        </a:rPr>
                        <a:t>ML1  Assistance cue</a:t>
                      </a:r>
                    </a:p>
                  </a:txBody>
                  <a:tcPr marL="133350" marR="133350" marT="95250" marB="85725" anchor="ctr">
                    <a:solidFill>
                      <a:srgbClr val="FFFFFF"/>
                    </a:solidFill>
                  </a:tcPr>
                </a:tc>
                <a:tc>
                  <a:txBody>
                    <a:bodyPr/>
                    <a:lstStyle/>
                    <a:p>
                      <a:r>
                        <a:rPr sz="1800">
                          <a:solidFill>
                            <a:srgbClr val="223B49"/>
                          </a:solidFill>
                          <a:latin typeface="Arial"/>
                          <a:ea typeface="Arial"/>
                          <a:cs typeface="Arial"/>
                        </a:rPr>
                        <a:t>Recognise selected observable aids.</a:t>
                      </a:r>
                    </a:p>
                  </a:txBody>
                  <a:tcPr marL="133350" marR="133350" marT="95250" marB="85725" anchor="ctr">
                    <a:solidFill>
                      <a:srgbClr val="FFFFFF"/>
                    </a:solidFill>
                  </a:tcPr>
                </a:tc>
                <a:tc>
                  <a:txBody>
                    <a:bodyPr/>
                    <a:lstStyle/>
                    <a:p>
                      <a:r>
                        <a:rPr sz="1800">
                          <a:solidFill>
                            <a:srgbClr val="223B49"/>
                          </a:solidFill>
                          <a:latin typeface="Arial"/>
                          <a:ea typeface="Arial"/>
                          <a:cs typeface="Arial"/>
                        </a:rPr>
                        <a:t>Scripts and label guide ready. Add trained weights, held-out metrics and device latency.</a:t>
                      </a:r>
                    </a:p>
                  </a:txBody>
                  <a:tcPr marL="133350" marR="133350" marT="95250" marB="85725" anchor="ctr">
                    <a:solidFill>
                      <a:srgbClr val="FFFFFF"/>
                    </a:solidFill>
                  </a:tcPr>
                </a:tc>
              </a:tr>
              <a:tr h="854869">
                <a:tc>
                  <a:txBody>
                    <a:bodyPr/>
                    <a:lstStyle/>
                    <a:p>
                      <a:r>
                        <a:rPr sz="1800">
                          <a:solidFill>
                            <a:srgbClr val="223B49"/>
                          </a:solidFill>
                          <a:latin typeface="Arial"/>
                          <a:ea typeface="Arial"/>
                          <a:cs typeface="Arial"/>
                        </a:rPr>
                        <a:t>ML2  Ramp zone</a:t>
                      </a:r>
                    </a:p>
                  </a:txBody>
                  <a:tcPr marL="133350" marR="133350" marT="95250" marB="85725" anchor="ctr">
                    <a:solidFill>
                      <a:srgbClr val="F4F7F6"/>
                    </a:solidFill>
                  </a:tcPr>
                </a:tc>
                <a:tc>
                  <a:txBody>
                    <a:bodyPr/>
                    <a:lstStyle/>
                    <a:p>
                      <a:r>
                        <a:rPr sz="1800">
                          <a:solidFill>
                            <a:srgbClr val="223B49"/>
                          </a:solidFill>
                          <a:latin typeface="Arial"/>
                          <a:ea typeface="Arial"/>
                          <a:cs typeface="Arial"/>
                        </a:rPr>
                        <a:t>Describe objects within the deployment area.</a:t>
                      </a:r>
                    </a:p>
                  </a:txBody>
                  <a:tcPr marL="133350" marR="133350" marT="95250" marB="85725" anchor="ctr">
                    <a:solidFill>
                      <a:srgbClr val="F4F7F6"/>
                    </a:solidFill>
                  </a:tcPr>
                </a:tc>
                <a:tc>
                  <a:txBody>
                    <a:bodyPr/>
                    <a:lstStyle/>
                    <a:p>
                      <a:r>
                        <a:rPr sz="1800">
                          <a:solidFill>
                            <a:srgbClr val="223B49"/>
                          </a:solidFill>
                          <a:latin typeface="Arial"/>
                          <a:ea typeface="Arial"/>
                          <a:cs typeface="Arial"/>
                        </a:rPr>
                        <a:t>Fusion and sensor interfaces exist. Add trained/evaluated perception and physical obstruction trials.</a:t>
                      </a:r>
                    </a:p>
                  </a:txBody>
                  <a:tcPr marL="133350" marR="133350" marT="95250" marB="85725" anchor="ctr">
                    <a:solidFill>
                      <a:srgbClr val="F4F7F6"/>
                    </a:solidFill>
                  </a:tcPr>
                </a:tc>
              </a:tr>
              <a:tr h="854869">
                <a:tc>
                  <a:txBody>
                    <a:bodyPr/>
                    <a:lstStyle/>
                    <a:p>
                      <a:r>
                        <a:rPr sz="1800">
                          <a:solidFill>
                            <a:srgbClr val="223B49"/>
                          </a:solidFill>
                          <a:latin typeface="Arial"/>
                          <a:ea typeface="Arial"/>
                          <a:cs typeface="Arial"/>
                        </a:rPr>
                        <a:t>ML3  Dwell state</a:t>
                      </a:r>
                    </a:p>
                  </a:txBody>
                  <a:tcPr marL="133350" marR="133350" marT="95250" marB="85725" anchor="ctr">
                    <a:solidFill>
                      <a:srgbClr val="FFFFFF"/>
                    </a:solidFill>
                  </a:tcPr>
                </a:tc>
                <a:tc>
                  <a:txBody>
                    <a:bodyPr/>
                    <a:lstStyle/>
                    <a:p>
                      <a:r>
                        <a:rPr sz="1800">
                          <a:solidFill>
                            <a:srgbClr val="223B49"/>
                          </a:solidFill>
                          <a:latin typeface="Arial"/>
                          <a:ea typeface="Arial"/>
                          <a:cs typeface="Arial"/>
                        </a:rPr>
                        <a:t>Classify active, clear or uncertain boarding.</a:t>
                      </a:r>
                    </a:p>
                  </a:txBody>
                  <a:tcPr marL="133350" marR="133350" marT="95250" marB="85725" anchor="ctr">
                    <a:solidFill>
                      <a:srgbClr val="FFFFFF"/>
                    </a:solidFill>
                  </a:tcPr>
                </a:tc>
                <a:tc>
                  <a:txBody>
                    <a:bodyPr/>
                    <a:lstStyle/>
                    <a:p>
                      <a:r>
                        <a:rPr sz="1800">
                          <a:solidFill>
                            <a:srgbClr val="223B49"/>
                          </a:solidFill>
                          <a:latin typeface="Arial"/>
                          <a:ea typeface="Arial"/>
                          <a:cs typeface="Arial"/>
                        </a:rPr>
                        <a:t>Training/evaluation evidence pending. Validate the fixed-dwell sensor-clear fallback.</a:t>
                      </a:r>
                    </a:p>
                  </a:txBody>
                  <a:tcPr marL="133350" marR="133350" marT="95250" marB="85725"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91AAAD67-47B0-4262-A93A-6E0EFAEE95EC}"/>
              </a:ext>
            </a:extLst>
          </p:cNvPr>
          <p:cNvSpPr>
            <a:spLocks xmlns:a="http://schemas.openxmlformats.org/drawingml/2006/main" noGrp="1"/>
          </p:cNvSpPr>
          <p:nvPr/>
        </p:nvSpPr>
        <p:spPr>
          <a:xfrm xmlns:a="http://schemas.openxmlformats.org/drawingml/2006/main">
            <a:off x="628650" y="5524500"/>
            <a:ext cx="108108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87E83"/>
                </a:solidFill>
                <a:latin typeface="Arial"/>
                <a:ea typeface="Arial"/>
                <a:cs typeface="Arial"/>
              </a:defRPr>
            </a:pPr>
            <a:r>
              <a:rPr sz="2175" b="1">
                <a:solidFill>
                  <a:srgbClr val="087E83"/>
                </a:solidFill>
                <a:latin typeface="Arial"/>
                <a:ea typeface="Arial"/>
                <a:cs typeface="Arial"/>
              </a:rPr>
              <a:t>A detection never diagnoses disability or authorizes ramp movement by itself.</a:t>
            </a:r>
          </a:p>
        </p:txBody>
      </p:sp>
    </p:spTree>
    <p:extLst>
      <p:ext uri="{BB962C8B-B14F-4D97-AF65-F5344CB8AC3E}">
        <p14:creationId xmlns:p14="http://schemas.microsoft.com/office/powerpoint/2010/main" val="113512286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49077D2-639C-4BD6-AFBA-9A11F506B6C1}"/>
              </a:ext>
            </a:extLst>
          </p:cNvPr>
          <p:cNvSpPr>
            <a:spLocks xmlns:a="http://schemas.openxmlformats.org/drawingml/2006/main" noGrp="1"/>
          </p:cNvSpPr>
          <p:nvPr/>
        </p:nvSpPr>
        <p:spPr>
          <a:xfrm xmlns:a="http://schemas.openxmlformats.org/drawingml/2006/main">
            <a:off x="609600" y="4381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83447"/>
                </a:solidFill>
                <a:latin typeface="Arial"/>
                <a:ea typeface="Arial"/>
                <a:cs typeface="Arial"/>
              </a:defRPr>
            </a:pPr>
            <a:r>
              <a:rPr sz="3300" b="1">
                <a:solidFill>
                  <a:srgbClr val="183447"/>
                </a:solidFill>
                <a:latin typeface="Arial"/>
                <a:ea typeface="Arial"/>
                <a:cs typeface="Arial"/>
              </a:rPr>
              <a:t>Original deliverables D1–D5</a:t>
            </a:r>
          </a:p>
        </p:txBody>
      </p:sp>
      <p:sp>
        <p:nvSpPr>
          <p:cNvPr id="2" name="">
            <a:extLst xmlns:a="http://schemas.openxmlformats.org/drawingml/2006/main">
              <a:ext uri="{FF2B5EF4-FFF2-40B4-BE49-F238E27FC236}">
                <a16:creationId xmlns:a16="http://schemas.microsoft.com/office/drawing/2014/main" id="{7DCC537F-54E5-4C15-AAD9-7A902A4C00C8}"/>
              </a:ext>
            </a:extLst>
          </p:cNvPr>
          <p:cNvSpPr>
            <a:spLocks xmlns:a="http://schemas.openxmlformats.org/drawingml/2006/main" noGrp="1"/>
          </p:cNvSpPr>
          <p:nvPr/>
        </p:nvSpPr>
        <p:spPr>
          <a:xfrm xmlns:a="http://schemas.openxmlformats.org/drawingml/2006/main">
            <a:off x="628650" y="1257300"/>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52666F"/>
                </a:solidFill>
                <a:latin typeface="Arial"/>
                <a:ea typeface="Arial"/>
                <a:cs typeface="Arial"/>
              </a:defRPr>
            </a:pPr>
            <a:r>
              <a:rPr sz="1875" b="0">
                <a:solidFill>
                  <a:srgbClr val="52666F"/>
                </a:solidFill>
                <a:latin typeface="Arial"/>
                <a:ea typeface="Arial"/>
                <a:cs typeface="Arial"/>
              </a:rPr>
              <a:t>Status against the original action plan</a:t>
            </a:r>
          </a:p>
        </p:txBody>
      </p:sp>
      <p:sp>
        <p:nvSpPr>
          <p:cNvPr id="3" name="">
            <a:extLst xmlns:a="http://schemas.openxmlformats.org/drawingml/2006/main">
              <a:ext uri="{FF2B5EF4-FFF2-40B4-BE49-F238E27FC236}">
                <a16:creationId xmlns:a16="http://schemas.microsoft.com/office/drawing/2014/main" id="{146C7C90-7A5D-4BDD-9755-72E26DF872DC}"/>
              </a:ext>
            </a:extLst>
          </p:cNvPr>
          <p:cNvSpPr>
            <a:spLocks xmlns:a="http://schemas.openxmlformats.org/drawingml/2006/main" noGrp="1"/>
          </p:cNvSpPr>
          <p:nvPr/>
        </p:nvSpPr>
        <p:spPr>
          <a:xfrm xmlns:a="http://schemas.openxmlformats.org/drawingml/2006/main">
            <a:off x="11077575"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66F"/>
                </a:solidFill>
                <a:latin typeface="Arial"/>
                <a:ea typeface="Arial"/>
                <a:cs typeface="Arial"/>
              </a:defRPr>
            </a:pPr>
            <a:r>
              <a:rPr sz="1350" b="0">
                <a:solidFill>
                  <a:srgbClr val="52666F"/>
                </a:solidFill>
                <a:latin typeface="Arial"/>
                <a:ea typeface="Arial"/>
                <a:cs typeface="Arial"/>
              </a:rPr>
              <a:t>10</a:t>
            </a:r>
          </a:p>
        </p:txBody>
      </p:sp>
      <p:graphicFrame>
        <p:nvGraphicFramePr>
          <p:cNvPr id="8" name=""/>
          <p:cNvGraphicFramePr/>
          <p:nvPr/>
        </p:nvGraphicFramePr>
        <p:xfrm>
          <a:off xmlns:a="http://schemas.openxmlformats.org/drawingml/2006/main" x="628650" y="1828800"/>
          <a:ext xmlns:a="http://schemas.openxmlformats.org/drawingml/2006/main" cx="10934700" cy="4171950"/>
        </p:xfrm>
        <a:graphic xmlns:a="http://schemas.openxmlformats.org/drawingml/2006/main">
          <a:graphicData uri="http://schemas.openxmlformats.org/drawingml/2006/table">
            <a:tbl>
              <a:tblPr/>
              <a:tblGrid>
                <a:gridCol w="2276475"/>
                <a:gridCol w="3562350"/>
                <a:gridCol w="5095875"/>
              </a:tblGrid>
              <a:tr h="695325">
                <a:tc>
                  <a:txBody>
                    <a:bodyPr/>
                    <a:lstStyle/>
                    <a:p>
                      <a:r>
                        <a:rPr sz="1725" b="1">
                          <a:solidFill>
                            <a:srgbClr val="FFFFFF"/>
                          </a:solidFill>
                          <a:latin typeface="Arial"/>
                          <a:ea typeface="Arial"/>
                          <a:cs typeface="Arial"/>
                        </a:rPr>
                        <a:t>ID and owner</a:t>
                      </a:r>
                    </a:p>
                  </a:txBody>
                  <a:tcPr marL="133350" marR="133350" marT="95250" marB="85725" anchor="ctr">
                    <a:solidFill>
                      <a:srgbClr val="183447"/>
                    </a:solidFill>
                  </a:tcPr>
                </a:tc>
                <a:tc>
                  <a:txBody>
                    <a:bodyPr/>
                    <a:lstStyle/>
                    <a:p>
                      <a:r>
                        <a:rPr sz="1725" b="1">
                          <a:solidFill>
                            <a:srgbClr val="FFFFFF"/>
                          </a:solidFill>
                          <a:latin typeface="Arial"/>
                          <a:ea typeface="Arial"/>
                          <a:cs typeface="Arial"/>
                        </a:rPr>
                        <a:t>Deliverable</a:t>
                      </a:r>
                    </a:p>
                  </a:txBody>
                  <a:tcPr marL="133350" marR="133350" marT="95250" marB="85725" anchor="ctr">
                    <a:solidFill>
                      <a:srgbClr val="183447"/>
                    </a:solidFill>
                  </a:tcPr>
                </a:tc>
                <a:tc>
                  <a:txBody>
                    <a:bodyPr/>
                    <a:lstStyle/>
                    <a:p>
                      <a:r>
                        <a:rPr sz="1725" b="1">
                          <a:solidFill>
                            <a:srgbClr val="FFFFFF"/>
                          </a:solidFill>
                          <a:latin typeface="Arial"/>
                          <a:ea typeface="Arial"/>
                          <a:cs typeface="Arial"/>
                        </a:rPr>
                        <a:t>Progress / missing acceptance</a:t>
                      </a:r>
                    </a:p>
                  </a:txBody>
                  <a:tcPr marL="133350" marR="133350" marT="95250" marB="85725" anchor="ctr">
                    <a:solidFill>
                      <a:srgbClr val="183447"/>
                    </a:solidFill>
                  </a:tcPr>
                </a:tc>
              </a:tr>
              <a:tr h="695325">
                <a:tc>
                  <a:txBody>
                    <a:bodyPr/>
                    <a:lstStyle/>
                    <a:p>
                      <a:r>
                        <a:rPr sz="1725">
                          <a:solidFill>
                            <a:srgbClr val="223B49"/>
                          </a:solidFill>
                          <a:latin typeface="Arial"/>
                          <a:ea typeface="Arial"/>
                          <a:cs typeface="Arial"/>
                        </a:rPr>
                        <a:t>D1  CE1</a:t>
                      </a:r>
                    </a:p>
                  </a:txBody>
                  <a:tcPr marL="133350" marR="133350" marT="95250" marB="85725" anchor="ctr">
                    <a:solidFill>
                      <a:srgbClr val="FFFFFF"/>
                    </a:solidFill>
                  </a:tcPr>
                </a:tc>
                <a:tc>
                  <a:txBody>
                    <a:bodyPr/>
                    <a:lstStyle/>
                    <a:p>
                      <a:r>
                        <a:rPr sz="1725">
                          <a:solidFill>
                            <a:srgbClr val="223B49"/>
                          </a:solidFill>
                          <a:latin typeface="Arial"/>
                          <a:ea typeface="Arial"/>
                          <a:cs typeface="Arial"/>
                        </a:rPr>
                        <a:t>Architecture, interfaces and states</a:t>
                      </a:r>
                    </a:p>
                  </a:txBody>
                  <a:tcPr marL="133350" marR="133350" marT="95250" marB="85725" anchor="ctr">
                    <a:solidFill>
                      <a:srgbClr val="FFFFFF"/>
                    </a:solidFill>
                  </a:tcPr>
                </a:tc>
                <a:tc>
                  <a:txBody>
                    <a:bodyPr/>
                    <a:lstStyle/>
                    <a:p>
                      <a:r>
                        <a:rPr sz="1725">
                          <a:solidFill>
                            <a:srgbClr val="223B49"/>
                          </a:solidFill>
                          <a:latin typeface="Arial"/>
                          <a:ea typeface="Arial"/>
                          <a:cs typeface="Arial"/>
                        </a:rPr>
                        <a:t>Documented. Final group review pending.</a:t>
                      </a:r>
                    </a:p>
                  </a:txBody>
                  <a:tcPr marL="133350" marR="133350" marT="95250" marB="85725" anchor="ctr">
                    <a:solidFill>
                      <a:srgbClr val="FFFFFF"/>
                    </a:solidFill>
                  </a:tcPr>
                </a:tc>
              </a:tr>
              <a:tr h="695325">
                <a:tc>
                  <a:txBody>
                    <a:bodyPr/>
                    <a:lstStyle/>
                    <a:p>
                      <a:r>
                        <a:rPr sz="1725">
                          <a:solidFill>
                            <a:srgbClr val="223B49"/>
                          </a:solidFill>
                          <a:latin typeface="Arial"/>
                          <a:ea typeface="Arial"/>
                          <a:cs typeface="Arial"/>
                        </a:rPr>
                        <a:t>D2  EE1 / EE2 / ME1</a:t>
                      </a:r>
                    </a:p>
                  </a:txBody>
                  <a:tcPr marL="133350" marR="133350" marT="95250" marB="85725" anchor="ctr">
                    <a:solidFill>
                      <a:srgbClr val="F4F7F6"/>
                    </a:solidFill>
                  </a:tcPr>
                </a:tc>
                <a:tc>
                  <a:txBody>
                    <a:bodyPr/>
                    <a:lstStyle/>
                    <a:p>
                      <a:r>
                        <a:rPr sz="1725">
                          <a:solidFill>
                            <a:srgbClr val="223B49"/>
                          </a:solidFill>
                          <a:latin typeface="Arial"/>
                          <a:ea typeface="Arial"/>
                          <a:cs typeface="Arial"/>
                        </a:rPr>
                        <a:t>Integrated mock bus, stop and fixture</a:t>
                      </a:r>
                    </a:p>
                  </a:txBody>
                  <a:tcPr marL="133350" marR="133350" marT="95250" marB="85725" anchor="ctr">
                    <a:solidFill>
                      <a:srgbClr val="F4F7F6"/>
                    </a:solidFill>
                  </a:tcPr>
                </a:tc>
                <a:tc>
                  <a:txBody>
                    <a:bodyPr/>
                    <a:lstStyle/>
                    <a:p>
                      <a:r>
                        <a:rPr sz="1725">
                          <a:solidFill>
                            <a:srgbClr val="223B49"/>
                          </a:solidFill>
                          <a:latin typeface="Arial"/>
                          <a:ea typeface="Arial"/>
                          <a:cs typeface="Arial"/>
                        </a:rPr>
                        <a:t>Subsystem evidence exists. Cold-start physical trials pending.</a:t>
                      </a:r>
                    </a:p>
                  </a:txBody>
                  <a:tcPr marL="133350" marR="133350" marT="95250" marB="85725" anchor="ctr">
                    <a:solidFill>
                      <a:srgbClr val="F4F7F6"/>
                    </a:solidFill>
                  </a:tcPr>
                </a:tc>
              </a:tr>
              <a:tr h="695325">
                <a:tc>
                  <a:txBody>
                    <a:bodyPr/>
                    <a:lstStyle/>
                    <a:p>
                      <a:r>
                        <a:rPr sz="1725">
                          <a:solidFill>
                            <a:srgbClr val="223B49"/>
                          </a:solidFill>
                          <a:latin typeface="Arial"/>
                          <a:ea typeface="Arial"/>
                          <a:cs typeface="Arial"/>
                        </a:rPr>
                        <a:t>D3  CE1</a:t>
                      </a:r>
                    </a:p>
                  </a:txBody>
                  <a:tcPr marL="133350" marR="133350" marT="95250" marB="85725" anchor="ctr">
                    <a:solidFill>
                      <a:srgbClr val="FFFFFF"/>
                    </a:solidFill>
                  </a:tcPr>
                </a:tc>
                <a:tc>
                  <a:txBody>
                    <a:bodyPr/>
                    <a:lstStyle/>
                    <a:p>
                      <a:r>
                        <a:rPr sz="1725">
                          <a:solidFill>
                            <a:srgbClr val="223B49"/>
                          </a:solidFill>
                          <a:latin typeface="Arial"/>
                          <a:ea typeface="Arial"/>
                          <a:cs typeface="Arial"/>
                        </a:rPr>
                        <a:t>Passenger app and dashboard</a:t>
                      </a:r>
                    </a:p>
                  </a:txBody>
                  <a:tcPr marL="133350" marR="133350" marT="95250" marB="85725" anchor="ctr">
                    <a:solidFill>
                      <a:srgbClr val="FFFFFF"/>
                    </a:solidFill>
                  </a:tcPr>
                </a:tc>
                <a:tc>
                  <a:txBody>
                    <a:bodyPr/>
                    <a:lstStyle/>
                    <a:p>
                      <a:r>
                        <a:rPr sz="1725">
                          <a:solidFill>
                            <a:srgbClr val="223B49"/>
                          </a:solidFill>
                          <a:latin typeface="Arial"/>
                          <a:ea typeface="Arial"/>
                          <a:cs typeface="Arial"/>
                        </a:rPr>
                        <a:t>Implemented in software. Final demonstration evidence pending.</a:t>
                      </a:r>
                    </a:p>
                  </a:txBody>
                  <a:tcPr marL="133350" marR="133350" marT="95250" marB="85725" anchor="ctr">
                    <a:solidFill>
                      <a:srgbClr val="FFFFFF"/>
                    </a:solidFill>
                  </a:tcPr>
                </a:tc>
              </a:tr>
              <a:tr h="695325">
                <a:tc>
                  <a:txBody>
                    <a:bodyPr/>
                    <a:lstStyle/>
                    <a:p>
                      <a:r>
                        <a:rPr sz="1725">
                          <a:solidFill>
                            <a:srgbClr val="223B49"/>
                          </a:solidFill>
                          <a:latin typeface="Arial"/>
                          <a:ea typeface="Arial"/>
                          <a:cs typeface="Arial"/>
                        </a:rPr>
                        <a:t>D4  CE2 / EE1</a:t>
                      </a:r>
                    </a:p>
                  </a:txBody>
                  <a:tcPr marL="133350" marR="133350" marT="95250" marB="85725" anchor="ctr">
                    <a:solidFill>
                      <a:srgbClr val="F4F7F6"/>
                    </a:solidFill>
                  </a:tcPr>
                </a:tc>
                <a:tc>
                  <a:txBody>
                    <a:bodyPr/>
                    <a:lstStyle/>
                    <a:p>
                      <a:r>
                        <a:rPr sz="1725">
                          <a:solidFill>
                            <a:srgbClr val="223B49"/>
                          </a:solidFill>
                          <a:latin typeface="Arial"/>
                          <a:ea typeface="Arial"/>
                          <a:cs typeface="Arial"/>
                        </a:rPr>
                        <a:t>ML1 package</a:t>
                      </a:r>
                    </a:p>
                  </a:txBody>
                  <a:tcPr marL="133350" marR="133350" marT="95250" marB="85725" anchor="ctr">
                    <a:solidFill>
                      <a:srgbClr val="F4F7F6"/>
                    </a:solidFill>
                  </a:tcPr>
                </a:tc>
                <a:tc>
                  <a:txBody>
                    <a:bodyPr/>
                    <a:lstStyle/>
                    <a:p>
                      <a:r>
                        <a:rPr sz="1725">
                          <a:solidFill>
                            <a:srgbClr val="223B49"/>
                          </a:solidFill>
                          <a:latin typeface="Arial"/>
                          <a:ea typeface="Arial"/>
                          <a:cs typeface="Arial"/>
                        </a:rPr>
                        <a:t>Training workflow ready. Weights, metrics and model card pending.</a:t>
                      </a:r>
                    </a:p>
                  </a:txBody>
                  <a:tcPr marL="133350" marR="133350" marT="95250" marB="85725" anchor="ctr">
                    <a:solidFill>
                      <a:srgbClr val="F4F7F6"/>
                    </a:solidFill>
                  </a:tcPr>
                </a:tc>
              </a:tr>
              <a:tr h="695325">
                <a:tc>
                  <a:txBody>
                    <a:bodyPr/>
                    <a:lstStyle/>
                    <a:p>
                      <a:r>
                        <a:rPr sz="1725">
                          <a:solidFill>
                            <a:srgbClr val="223B49"/>
                          </a:solidFill>
                          <a:latin typeface="Arial"/>
                          <a:ea typeface="Arial"/>
                          <a:cs typeface="Arial"/>
                        </a:rPr>
                        <a:t>D5  CE2 / EE1 / ME1</a:t>
                      </a:r>
                    </a:p>
                  </a:txBody>
                  <a:tcPr marL="133350" marR="133350" marT="95250" marB="85725" anchor="ctr">
                    <a:solidFill>
                      <a:srgbClr val="FFFFFF"/>
                    </a:solidFill>
                  </a:tcPr>
                </a:tc>
                <a:tc>
                  <a:txBody>
                    <a:bodyPr/>
                    <a:lstStyle/>
                    <a:p>
                      <a:r>
                        <a:rPr sz="1725">
                          <a:solidFill>
                            <a:srgbClr val="223B49"/>
                          </a:solidFill>
                          <a:latin typeface="Arial"/>
                          <a:ea typeface="Arial"/>
                          <a:cs typeface="Arial"/>
                        </a:rPr>
                        <a:t>ML2 and safety-fusion package</a:t>
                      </a:r>
                    </a:p>
                  </a:txBody>
                  <a:tcPr marL="133350" marR="133350" marT="95250" marB="85725" anchor="ctr">
                    <a:solidFill>
                      <a:srgbClr val="FFFFFF"/>
                    </a:solidFill>
                  </a:tcPr>
                </a:tc>
                <a:tc>
                  <a:txBody>
                    <a:bodyPr/>
                    <a:lstStyle/>
                    <a:p>
                      <a:r>
                        <a:rPr sz="1725">
                          <a:solidFill>
                            <a:srgbClr val="223B49"/>
                          </a:solidFill>
                          <a:latin typeface="Arial"/>
                          <a:ea typeface="Arial"/>
                          <a:cs typeface="Arial"/>
                        </a:rPr>
                        <a:t>Integration logic exists. Measured perception and safety results pending.</a:t>
                      </a:r>
                    </a:p>
                  </a:txBody>
                  <a:tcPr marL="133350" marR="133350" marT="95250" marB="85725" anchor="ctr">
                    <a:solidFill>
                      <a:srgbClr val="FFFFFF"/>
                    </a:solidFill>
                  </a:tcPr>
                </a:tc>
              </a:tr>
            </a:tbl>
          </a:graphicData>
        </a:graphic>
      </p:graphicFrame>
    </p:spTree>
    <p:extLst>
      <p:ext uri="{BB962C8B-B14F-4D97-AF65-F5344CB8AC3E}">
        <p14:creationId xmlns:p14="http://schemas.microsoft.com/office/powerpoint/2010/main" val="76272149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471946D-A413-4C21-BA8C-BF6AC70C760B}"/>
              </a:ext>
            </a:extLst>
          </p:cNvPr>
          <p:cNvSpPr>
            <a:spLocks xmlns:a="http://schemas.openxmlformats.org/drawingml/2006/main" noGrp="1"/>
          </p:cNvSpPr>
          <p:nvPr/>
        </p:nvSpPr>
        <p:spPr>
          <a:xfrm xmlns:a="http://schemas.openxmlformats.org/drawingml/2006/main">
            <a:off x="609600" y="4381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83447"/>
                </a:solidFill>
                <a:latin typeface="Arial"/>
                <a:ea typeface="Arial"/>
                <a:cs typeface="Arial"/>
              </a:defRPr>
            </a:pPr>
            <a:r>
              <a:rPr sz="3300" b="1">
                <a:solidFill>
                  <a:srgbClr val="183447"/>
                </a:solidFill>
                <a:latin typeface="Arial"/>
                <a:ea typeface="Arial"/>
                <a:cs typeface="Arial"/>
              </a:rPr>
              <a:t>Original deliverables D6–D9</a:t>
            </a:r>
          </a:p>
        </p:txBody>
      </p:sp>
      <p:sp>
        <p:nvSpPr>
          <p:cNvPr id="2" name="">
            <a:extLst xmlns:a="http://schemas.openxmlformats.org/drawingml/2006/main">
              <a:ext uri="{FF2B5EF4-FFF2-40B4-BE49-F238E27FC236}">
                <a16:creationId xmlns:a16="http://schemas.microsoft.com/office/drawing/2014/main" id="{5F50F58B-99F6-4BD3-95FA-72546FEBE48A}"/>
              </a:ext>
            </a:extLst>
          </p:cNvPr>
          <p:cNvSpPr>
            <a:spLocks xmlns:a="http://schemas.openxmlformats.org/drawingml/2006/main" noGrp="1"/>
          </p:cNvSpPr>
          <p:nvPr/>
        </p:nvSpPr>
        <p:spPr>
          <a:xfrm xmlns:a="http://schemas.openxmlformats.org/drawingml/2006/main">
            <a:off x="628650" y="1257300"/>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52666F"/>
                </a:solidFill>
                <a:latin typeface="Arial"/>
                <a:ea typeface="Arial"/>
                <a:cs typeface="Arial"/>
              </a:defRPr>
            </a:pPr>
            <a:r>
              <a:rPr sz="1875" b="0">
                <a:solidFill>
                  <a:srgbClr val="52666F"/>
                </a:solidFill>
                <a:latin typeface="Arial"/>
                <a:ea typeface="Arial"/>
                <a:cs typeface="Arial"/>
              </a:rPr>
              <a:t>Role labels follow the outline. Confirm the final team roster.</a:t>
            </a:r>
          </a:p>
        </p:txBody>
      </p:sp>
      <p:sp>
        <p:nvSpPr>
          <p:cNvPr id="3" name="">
            <a:extLst xmlns:a="http://schemas.openxmlformats.org/drawingml/2006/main">
              <a:ext uri="{FF2B5EF4-FFF2-40B4-BE49-F238E27FC236}">
                <a16:creationId xmlns:a16="http://schemas.microsoft.com/office/drawing/2014/main" id="{E5171C6F-89FE-47E7-B6E7-0173D295E0A1}"/>
              </a:ext>
            </a:extLst>
          </p:cNvPr>
          <p:cNvSpPr>
            <a:spLocks xmlns:a="http://schemas.openxmlformats.org/drawingml/2006/main" noGrp="1"/>
          </p:cNvSpPr>
          <p:nvPr/>
        </p:nvSpPr>
        <p:spPr>
          <a:xfrm xmlns:a="http://schemas.openxmlformats.org/drawingml/2006/main">
            <a:off x="11077575"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66F"/>
                </a:solidFill>
                <a:latin typeface="Arial"/>
                <a:ea typeface="Arial"/>
                <a:cs typeface="Arial"/>
              </a:defRPr>
            </a:pPr>
            <a:r>
              <a:rPr sz="1350" b="0">
                <a:solidFill>
                  <a:srgbClr val="52666F"/>
                </a:solidFill>
                <a:latin typeface="Arial"/>
                <a:ea typeface="Arial"/>
                <a:cs typeface="Arial"/>
              </a:rPr>
              <a:t>11</a:t>
            </a:r>
          </a:p>
        </p:txBody>
      </p:sp>
      <p:graphicFrame>
        <p:nvGraphicFramePr>
          <p:cNvPr id="8" name=""/>
          <p:cNvGraphicFramePr/>
          <p:nvPr/>
        </p:nvGraphicFramePr>
        <p:xfrm>
          <a:off xmlns:a="http://schemas.openxmlformats.org/drawingml/2006/main" x="628650" y="1971675"/>
          <a:ext xmlns:a="http://schemas.openxmlformats.org/drawingml/2006/main" cx="10934700" cy="3609975"/>
        </p:xfrm>
        <a:graphic xmlns:a="http://schemas.openxmlformats.org/drawingml/2006/main">
          <a:graphicData uri="http://schemas.openxmlformats.org/drawingml/2006/table">
            <a:tbl>
              <a:tblPr/>
              <a:tblGrid>
                <a:gridCol w="2276475"/>
                <a:gridCol w="3562350"/>
                <a:gridCol w="5095875"/>
              </a:tblGrid>
              <a:tr h="721995">
                <a:tc>
                  <a:txBody>
                    <a:bodyPr/>
                    <a:lstStyle/>
                    <a:p>
                      <a:r>
                        <a:rPr sz="1725" b="1">
                          <a:solidFill>
                            <a:srgbClr val="FFFFFF"/>
                          </a:solidFill>
                          <a:latin typeface="Arial"/>
                          <a:ea typeface="Arial"/>
                          <a:cs typeface="Arial"/>
                        </a:rPr>
                        <a:t>ID and owner</a:t>
                      </a:r>
                    </a:p>
                  </a:txBody>
                  <a:tcPr marL="133350" marR="133350" marT="95250" marB="85725" anchor="ctr">
                    <a:solidFill>
                      <a:srgbClr val="183447"/>
                    </a:solidFill>
                  </a:tcPr>
                </a:tc>
                <a:tc>
                  <a:txBody>
                    <a:bodyPr/>
                    <a:lstStyle/>
                    <a:p>
                      <a:r>
                        <a:rPr sz="1725" b="1">
                          <a:solidFill>
                            <a:srgbClr val="FFFFFF"/>
                          </a:solidFill>
                          <a:latin typeface="Arial"/>
                          <a:ea typeface="Arial"/>
                          <a:cs typeface="Arial"/>
                        </a:rPr>
                        <a:t>Deliverable</a:t>
                      </a:r>
                    </a:p>
                  </a:txBody>
                  <a:tcPr marL="133350" marR="133350" marT="95250" marB="85725" anchor="ctr">
                    <a:solidFill>
                      <a:srgbClr val="183447"/>
                    </a:solidFill>
                  </a:tcPr>
                </a:tc>
                <a:tc>
                  <a:txBody>
                    <a:bodyPr/>
                    <a:lstStyle/>
                    <a:p>
                      <a:r>
                        <a:rPr sz="1725" b="1">
                          <a:solidFill>
                            <a:srgbClr val="FFFFFF"/>
                          </a:solidFill>
                          <a:latin typeface="Arial"/>
                          <a:ea typeface="Arial"/>
                          <a:cs typeface="Arial"/>
                        </a:rPr>
                        <a:t>Progress / missing acceptance</a:t>
                      </a:r>
                    </a:p>
                  </a:txBody>
                  <a:tcPr marL="133350" marR="133350" marT="95250" marB="85725" anchor="ctr">
                    <a:solidFill>
                      <a:srgbClr val="183447"/>
                    </a:solidFill>
                  </a:tcPr>
                </a:tc>
              </a:tr>
              <a:tr h="721995">
                <a:tc>
                  <a:txBody>
                    <a:bodyPr/>
                    <a:lstStyle/>
                    <a:p>
                      <a:r>
                        <a:rPr sz="1725">
                          <a:solidFill>
                            <a:srgbClr val="223B49"/>
                          </a:solidFill>
                          <a:latin typeface="Arial"/>
                          <a:ea typeface="Arial"/>
                          <a:cs typeface="Arial"/>
                        </a:rPr>
                        <a:t>D6  CE2 / CE1 / EE2</a:t>
                      </a:r>
                    </a:p>
                  </a:txBody>
                  <a:tcPr marL="133350" marR="133350" marT="95250" marB="85725" anchor="ctr">
                    <a:solidFill>
                      <a:srgbClr val="FFFFFF"/>
                    </a:solidFill>
                  </a:tcPr>
                </a:tc>
                <a:tc>
                  <a:txBody>
                    <a:bodyPr/>
                    <a:lstStyle/>
                    <a:p>
                      <a:r>
                        <a:rPr sz="1725">
                          <a:solidFill>
                            <a:srgbClr val="223B49"/>
                          </a:solidFill>
                          <a:latin typeface="Arial"/>
                          <a:ea typeface="Arial"/>
                          <a:cs typeface="Arial"/>
                        </a:rPr>
                        <a:t>ML3 or documented fallback</a:t>
                      </a:r>
                    </a:p>
                  </a:txBody>
                  <a:tcPr marL="133350" marR="133350" marT="95250" marB="85725" anchor="ctr">
                    <a:solidFill>
                      <a:srgbClr val="FFFFFF"/>
                    </a:solidFill>
                  </a:tcPr>
                </a:tc>
                <a:tc>
                  <a:txBody>
                    <a:bodyPr/>
                    <a:lstStyle/>
                    <a:p>
                      <a:r>
                        <a:rPr sz="1725">
                          <a:solidFill>
                            <a:srgbClr val="223B49"/>
                          </a:solidFill>
                          <a:latin typeface="Arial"/>
                          <a:ea typeface="Arial"/>
                          <a:cs typeface="Arial"/>
                        </a:rPr>
                        <a:t>Trained classifier evidence pending. Validate fallback and no-premature-CLEAR cases.</a:t>
                      </a:r>
                    </a:p>
                  </a:txBody>
                  <a:tcPr marL="133350" marR="133350" marT="95250" marB="85725" anchor="ctr">
                    <a:solidFill>
                      <a:srgbClr val="FFFFFF"/>
                    </a:solidFill>
                  </a:tcPr>
                </a:tc>
              </a:tr>
              <a:tr h="721995">
                <a:tc>
                  <a:txBody>
                    <a:bodyPr/>
                    <a:lstStyle/>
                    <a:p>
                      <a:r>
                        <a:rPr sz="1725">
                          <a:solidFill>
                            <a:srgbClr val="223B49"/>
                          </a:solidFill>
                          <a:latin typeface="Arial"/>
                          <a:ea typeface="Arial"/>
                          <a:cs typeface="Arial"/>
                        </a:rPr>
                        <a:t>D7  EE2 / ME1</a:t>
                      </a:r>
                    </a:p>
                  </a:txBody>
                  <a:tcPr marL="133350" marR="133350" marT="95250" marB="85725" anchor="ctr">
                    <a:solidFill>
                      <a:srgbClr val="F4F7F6"/>
                    </a:solidFill>
                  </a:tcPr>
                </a:tc>
                <a:tc>
                  <a:txBody>
                    <a:bodyPr/>
                    <a:lstStyle/>
                    <a:p>
                      <a:r>
                        <a:rPr sz="1725">
                          <a:solidFill>
                            <a:srgbClr val="223B49"/>
                          </a:solidFill>
                          <a:latin typeface="Arial"/>
                          <a:ea typeface="Arial"/>
                          <a:cs typeface="Arial"/>
                        </a:rPr>
                        <a:t>Mechanical and electrical package</a:t>
                      </a:r>
                    </a:p>
                  </a:txBody>
                  <a:tcPr marL="133350" marR="133350" marT="95250" marB="85725" anchor="ctr">
                    <a:solidFill>
                      <a:srgbClr val="F4F7F6"/>
                    </a:solidFill>
                  </a:tcPr>
                </a:tc>
                <a:tc>
                  <a:txBody>
                    <a:bodyPr/>
                    <a:lstStyle/>
                    <a:p>
                      <a:r>
                        <a:rPr sz="1725">
                          <a:solidFill>
                            <a:srgbClr val="223B49"/>
                          </a:solidFill>
                          <a:latin typeface="Arial"/>
                          <a:ea typeface="Arial"/>
                          <a:cs typeface="Arial"/>
                        </a:rPr>
                        <a:t>CAD and circuit material available. Final BOM, power and cycle results pending.</a:t>
                      </a:r>
                    </a:p>
                  </a:txBody>
                  <a:tcPr marL="133350" marR="133350" marT="95250" marB="85725" anchor="ctr">
                    <a:solidFill>
                      <a:srgbClr val="F4F7F6"/>
                    </a:solidFill>
                  </a:tcPr>
                </a:tc>
              </a:tr>
              <a:tr h="721995">
                <a:tc>
                  <a:txBody>
                    <a:bodyPr/>
                    <a:lstStyle/>
                    <a:p>
                      <a:r>
                        <a:rPr sz="1725">
                          <a:solidFill>
                            <a:srgbClr val="223B49"/>
                          </a:solidFill>
                          <a:latin typeface="Arial"/>
                          <a:ea typeface="Arial"/>
                          <a:cs typeface="Arial"/>
                        </a:rPr>
                        <a:t>D8  All / ME1</a:t>
                      </a:r>
                    </a:p>
                  </a:txBody>
                  <a:tcPr marL="133350" marR="133350" marT="95250" marB="85725" anchor="ctr">
                    <a:solidFill>
                      <a:srgbClr val="FFFFFF"/>
                    </a:solidFill>
                  </a:tcPr>
                </a:tc>
                <a:tc>
                  <a:txBody>
                    <a:bodyPr/>
                    <a:lstStyle/>
                    <a:p>
                      <a:r>
                        <a:rPr sz="1725">
                          <a:solidFill>
                            <a:srgbClr val="223B49"/>
                          </a:solidFill>
                          <a:latin typeface="Arial"/>
                          <a:ea typeface="Arial"/>
                          <a:cs typeface="Arial"/>
                        </a:rPr>
                        <a:t>Validation and accessibility report</a:t>
                      </a:r>
                    </a:p>
                  </a:txBody>
                  <a:tcPr marL="133350" marR="133350" marT="95250" marB="85725" anchor="ctr">
                    <a:solidFill>
                      <a:srgbClr val="FFFFFF"/>
                    </a:solidFill>
                  </a:tcPr>
                </a:tc>
                <a:tc>
                  <a:txBody>
                    <a:bodyPr/>
                    <a:lstStyle/>
                    <a:p>
                      <a:r>
                        <a:rPr sz="1725">
                          <a:solidFill>
                            <a:srgbClr val="223B49"/>
                          </a:solidFill>
                          <a:latin typeface="Arial"/>
                          <a:ea typeface="Arial"/>
                          <a:cs typeface="Arial"/>
                        </a:rPr>
                        <a:t>Protocol available. Physical metrics, baseline and user findings incomplete.</a:t>
                      </a:r>
                    </a:p>
                  </a:txBody>
                  <a:tcPr marL="133350" marR="133350" marT="95250" marB="85725" anchor="ctr">
                    <a:solidFill>
                      <a:srgbClr val="FFFFFF"/>
                    </a:solidFill>
                  </a:tcPr>
                </a:tc>
              </a:tr>
              <a:tr h="721995">
                <a:tc>
                  <a:txBody>
                    <a:bodyPr/>
                    <a:lstStyle/>
                    <a:p>
                      <a:r>
                        <a:rPr sz="1725">
                          <a:solidFill>
                            <a:srgbClr val="223B49"/>
                          </a:solidFill>
                          <a:latin typeface="Arial"/>
                          <a:ea typeface="Arial"/>
                          <a:cs typeface="Arial"/>
                        </a:rPr>
                        <a:t>D9  All / CE1</a:t>
                      </a:r>
                    </a:p>
                  </a:txBody>
                  <a:tcPr marL="133350" marR="133350" marT="95250" marB="85725" anchor="ctr">
                    <a:solidFill>
                      <a:srgbClr val="F4F7F6"/>
                    </a:solidFill>
                  </a:tcPr>
                </a:tc>
                <a:tc>
                  <a:txBody>
                    <a:bodyPr/>
                    <a:lstStyle/>
                    <a:p>
                      <a:r>
                        <a:rPr sz="1725">
                          <a:solidFill>
                            <a:srgbClr val="223B49"/>
                          </a:solidFill>
                          <a:latin typeface="Arial"/>
                          <a:ea typeface="Arial"/>
                          <a:cs typeface="Arial"/>
                        </a:rPr>
                        <a:t>Competition submission pack</a:t>
                      </a:r>
                    </a:p>
                  </a:txBody>
                  <a:tcPr marL="133350" marR="133350" marT="95250" marB="85725" anchor="ctr">
                    <a:solidFill>
                      <a:srgbClr val="F4F7F6"/>
                    </a:solidFill>
                  </a:tcPr>
                </a:tc>
                <a:tc>
                  <a:txBody>
                    <a:bodyPr/>
                    <a:lstStyle/>
                    <a:p>
                      <a:r>
                        <a:rPr sz="1725">
                          <a:solidFill>
                            <a:srgbClr val="223B49"/>
                          </a:solidFill>
                          <a:latin typeface="Arial"/>
                          <a:ea typeface="Arial"/>
                          <a:cs typeface="Arial"/>
                        </a:rPr>
                        <a:t>Report and presentation drafts. Video, final evidence and packaging pending.</a:t>
                      </a:r>
                    </a:p>
                  </a:txBody>
                  <a:tcPr marL="133350" marR="133350" marT="95250" marB="85725" anchor="ctr">
                    <a:solidFill>
                      <a:srgbClr val="F4F7F6"/>
                    </a:solidFill>
                  </a:tcPr>
                </a:tc>
              </a:tr>
            </a:tbl>
          </a:graphicData>
        </a:graphic>
      </p:graphicFrame>
    </p:spTree>
    <p:extLst>
      <p:ext uri="{BB962C8B-B14F-4D97-AF65-F5344CB8AC3E}">
        <p14:creationId xmlns:p14="http://schemas.microsoft.com/office/powerpoint/2010/main" val="106463017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9910A17-B763-41C4-B353-C37EB891D33E}"/>
              </a:ext>
            </a:extLst>
          </p:cNvPr>
          <p:cNvSpPr>
            <a:spLocks xmlns:a="http://schemas.openxmlformats.org/drawingml/2006/main" noGrp="1"/>
          </p:cNvSpPr>
          <p:nvPr/>
        </p:nvSpPr>
        <p:spPr>
          <a:xfrm xmlns:a="http://schemas.openxmlformats.org/drawingml/2006/main">
            <a:off x="609600" y="4381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83447"/>
                </a:solidFill>
                <a:latin typeface="Arial"/>
                <a:ea typeface="Arial"/>
                <a:cs typeface="Arial"/>
              </a:defRPr>
            </a:pPr>
            <a:r>
              <a:rPr sz="3300" b="1">
                <a:solidFill>
                  <a:srgbClr val="183447"/>
                </a:solidFill>
                <a:latin typeface="Arial"/>
                <a:ea typeface="Arial"/>
                <a:cs typeface="Arial"/>
              </a:rPr>
              <a:t>Validation targets and results</a:t>
            </a:r>
          </a:p>
        </p:txBody>
      </p:sp>
      <p:sp>
        <p:nvSpPr>
          <p:cNvPr id="2" name="">
            <a:extLst xmlns:a="http://schemas.openxmlformats.org/drawingml/2006/main">
              <a:ext uri="{FF2B5EF4-FFF2-40B4-BE49-F238E27FC236}">
                <a16:creationId xmlns:a16="http://schemas.microsoft.com/office/drawing/2014/main" id="{648E3A26-93F8-4C15-BFB8-970A87FF11CC}"/>
              </a:ext>
            </a:extLst>
          </p:cNvPr>
          <p:cNvSpPr>
            <a:spLocks xmlns:a="http://schemas.openxmlformats.org/drawingml/2006/main" noGrp="1"/>
          </p:cNvSpPr>
          <p:nvPr/>
        </p:nvSpPr>
        <p:spPr>
          <a:xfrm xmlns:a="http://schemas.openxmlformats.org/drawingml/2006/main">
            <a:off x="628650" y="1257300"/>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52666F"/>
                </a:solidFill>
                <a:latin typeface="Arial"/>
                <a:ea typeface="Arial"/>
                <a:cs typeface="Arial"/>
              </a:defRPr>
            </a:pPr>
            <a:r>
              <a:rPr sz="1875" b="0">
                <a:solidFill>
                  <a:srgbClr val="52666F"/>
                </a:solidFill>
                <a:latin typeface="Arial"/>
                <a:ea typeface="Arial"/>
                <a:cs typeface="Arial"/>
              </a:rPr>
              <a:t>Original controlled-prototype targets. Result fields intentionally blank.</a:t>
            </a:r>
          </a:p>
        </p:txBody>
      </p:sp>
      <p:sp>
        <p:nvSpPr>
          <p:cNvPr id="3" name="">
            <a:extLst xmlns:a="http://schemas.openxmlformats.org/drawingml/2006/main">
              <a:ext uri="{FF2B5EF4-FFF2-40B4-BE49-F238E27FC236}">
                <a16:creationId xmlns:a16="http://schemas.microsoft.com/office/drawing/2014/main" id="{57977EEF-D54F-4519-BC0C-11068EF474B5}"/>
              </a:ext>
            </a:extLst>
          </p:cNvPr>
          <p:cNvSpPr>
            <a:spLocks xmlns:a="http://schemas.openxmlformats.org/drawingml/2006/main" noGrp="1"/>
          </p:cNvSpPr>
          <p:nvPr/>
        </p:nvSpPr>
        <p:spPr>
          <a:xfrm xmlns:a="http://schemas.openxmlformats.org/drawingml/2006/main">
            <a:off x="11077575"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66F"/>
                </a:solidFill>
                <a:latin typeface="Arial"/>
                <a:ea typeface="Arial"/>
                <a:cs typeface="Arial"/>
              </a:defRPr>
            </a:pPr>
            <a:r>
              <a:rPr sz="1350" b="0">
                <a:solidFill>
                  <a:srgbClr val="52666F"/>
                </a:solidFill>
                <a:latin typeface="Arial"/>
                <a:ea typeface="Arial"/>
                <a:cs typeface="Arial"/>
              </a:rPr>
              <a:t>12</a:t>
            </a:r>
          </a:p>
        </p:txBody>
      </p:sp>
      <p:graphicFrame>
        <p:nvGraphicFramePr>
          <p:cNvPr id="8" name=""/>
          <p:cNvGraphicFramePr/>
          <p:nvPr/>
        </p:nvGraphicFramePr>
        <p:xfrm>
          <a:off xmlns:a="http://schemas.openxmlformats.org/drawingml/2006/main" x="628650" y="1819275"/>
          <a:ext xmlns:a="http://schemas.openxmlformats.org/drawingml/2006/main" cx="10934700" cy="4181475"/>
        </p:xfrm>
        <a:graphic xmlns:a="http://schemas.openxmlformats.org/drawingml/2006/main">
          <a:graphicData uri="http://schemas.openxmlformats.org/drawingml/2006/table">
            <a:tbl>
              <a:tblPr/>
              <a:tblGrid>
                <a:gridCol w="2333625"/>
                <a:gridCol w="6315075"/>
                <a:gridCol w="2286000"/>
              </a:tblGrid>
              <a:tr h="522684">
                <a:tc>
                  <a:txBody>
                    <a:bodyPr/>
                    <a:lstStyle/>
                    <a:p>
                      <a:r>
                        <a:rPr sz="1725" b="1">
                          <a:solidFill>
                            <a:srgbClr val="FFFFFF"/>
                          </a:solidFill>
                          <a:latin typeface="Arial"/>
                          <a:ea typeface="Arial"/>
                          <a:cs typeface="Arial"/>
                        </a:rPr>
                        <a:t>Measure</a:t>
                      </a:r>
                    </a:p>
                  </a:txBody>
                  <a:tcPr marL="133350" marR="133350" marT="95250" marB="85725" anchor="ctr">
                    <a:solidFill>
                      <a:srgbClr val="183447"/>
                    </a:solidFill>
                  </a:tcPr>
                </a:tc>
                <a:tc>
                  <a:txBody>
                    <a:bodyPr/>
                    <a:lstStyle/>
                    <a:p>
                      <a:r>
                        <a:rPr sz="1725" b="1">
                          <a:solidFill>
                            <a:srgbClr val="FFFFFF"/>
                          </a:solidFill>
                          <a:latin typeface="Arial"/>
                          <a:ea typeface="Arial"/>
                          <a:cs typeface="Arial"/>
                        </a:rPr>
                        <a:t>Planned target</a:t>
                      </a:r>
                    </a:p>
                  </a:txBody>
                  <a:tcPr marL="133350" marR="133350" marT="95250" marB="85725" anchor="ctr">
                    <a:solidFill>
                      <a:srgbClr val="183447"/>
                    </a:solidFill>
                  </a:tcPr>
                </a:tc>
                <a:tc>
                  <a:txBody>
                    <a:bodyPr/>
                    <a:lstStyle/>
                    <a:p>
                      <a:r>
                        <a:rPr sz="1725" b="1">
                          <a:solidFill>
                            <a:srgbClr val="FFFFFF"/>
                          </a:solidFill>
                          <a:latin typeface="Arial"/>
                          <a:ea typeface="Arial"/>
                          <a:cs typeface="Arial"/>
                        </a:rPr>
                        <a:t>Measured result</a:t>
                      </a:r>
                    </a:p>
                  </a:txBody>
                  <a:tcPr marL="133350" marR="133350" marT="95250" marB="85725" anchor="ctr">
                    <a:solidFill>
                      <a:srgbClr val="183447"/>
                    </a:solidFill>
                  </a:tcPr>
                </a:tc>
              </a:tr>
              <a:tr h="522684">
                <a:tc>
                  <a:txBody>
                    <a:bodyPr/>
                    <a:lstStyle/>
                    <a:p>
                      <a:r>
                        <a:rPr sz="1725">
                          <a:solidFill>
                            <a:srgbClr val="223B49"/>
                          </a:solidFill>
                          <a:latin typeface="Arial"/>
                          <a:ea typeface="Arial"/>
                          <a:cs typeface="Arial"/>
                        </a:rPr>
                        <a:t>Request delivery</a:t>
                      </a:r>
                    </a:p>
                  </a:txBody>
                  <a:tcPr marL="133350" marR="133350" marT="95250" marB="85725" anchor="ctr">
                    <a:solidFill>
                      <a:srgbClr val="FFFFFF"/>
                    </a:solidFill>
                  </a:tcPr>
                </a:tc>
                <a:tc>
                  <a:txBody>
                    <a:bodyPr/>
                    <a:lstStyle/>
                    <a:p>
                      <a:r>
                        <a:rPr sz="1725">
                          <a:solidFill>
                            <a:srgbClr val="223B49"/>
                          </a:solidFill>
                          <a:latin typeface="Arial"/>
                          <a:ea typeface="Arial"/>
                          <a:cs typeface="Arial"/>
                        </a:rPr>
                        <a:t>20/20 local trials, acknowledgement within 2 s</a:t>
                      </a:r>
                    </a:p>
                  </a:txBody>
                  <a:tcPr marL="133350" marR="133350" marT="95250" marB="85725" anchor="ctr">
                    <a:solidFill>
                      <a:srgbClr val="FFFFFF"/>
                    </a:solidFill>
                  </a:tcPr>
                </a:tc>
                <a:tc>
                  <a:txBody>
                    <a:bodyPr/>
                    <a:lstStyle/>
                    <a:p>
                      <a:r>
                        <a:rPr sz="1725">
                          <a:solidFill>
                            <a:srgbClr val="223B49"/>
                          </a:solidFill>
                          <a:latin typeface="Arial"/>
                          <a:ea typeface="Arial"/>
                          <a:cs typeface="Arial"/>
                        </a:rPr>
                        <a:t/>
                      </a:r>
                    </a:p>
                  </a:txBody>
                  <a:tcPr marL="133350" marR="133350" marT="95250" marB="85725" anchor="ctr">
                    <a:solidFill>
                      <a:srgbClr val="FFFFFF"/>
                    </a:solidFill>
                  </a:tcPr>
                </a:tc>
              </a:tr>
              <a:tr h="522684">
                <a:tc>
                  <a:txBody>
                    <a:bodyPr/>
                    <a:lstStyle/>
                    <a:p>
                      <a:r>
                        <a:rPr sz="1725">
                          <a:solidFill>
                            <a:srgbClr val="223B49"/>
                          </a:solidFill>
                          <a:latin typeface="Arial"/>
                          <a:ea typeface="Arial"/>
                          <a:cs typeface="Arial"/>
                        </a:rPr>
                        <a:t>ML1</a:t>
                      </a:r>
                    </a:p>
                  </a:txBody>
                  <a:tcPr marL="133350" marR="133350" marT="95250" marB="85725" anchor="ctr">
                    <a:solidFill>
                      <a:srgbClr val="F4F7F6"/>
                    </a:solidFill>
                  </a:tcPr>
                </a:tc>
                <a:tc>
                  <a:txBody>
                    <a:bodyPr/>
                    <a:lstStyle/>
                    <a:p>
                      <a:r>
                        <a:rPr sz="1725">
                          <a:solidFill>
                            <a:srgbClr val="223B49"/>
                          </a:solidFill>
                          <a:latin typeface="Arial"/>
                          <a:ea typeface="Arial"/>
                          <a:cs typeface="Arial"/>
                        </a:rPr>
                        <a:t>At least 90% wheelchair/PMA recall and 10 FPS</a:t>
                      </a:r>
                    </a:p>
                  </a:txBody>
                  <a:tcPr marL="133350" marR="133350" marT="95250" marB="85725" anchor="ctr">
                    <a:solidFill>
                      <a:srgbClr val="F4F7F6"/>
                    </a:solidFill>
                  </a:tcPr>
                </a:tc>
                <a:tc>
                  <a:txBody>
                    <a:bodyPr/>
                    <a:lstStyle/>
                    <a:p>
                      <a:r>
                        <a:rPr sz="1725">
                          <a:solidFill>
                            <a:srgbClr val="223B49"/>
                          </a:solidFill>
                          <a:latin typeface="Arial"/>
                          <a:ea typeface="Arial"/>
                          <a:cs typeface="Arial"/>
                        </a:rPr>
                        <a:t/>
                      </a:r>
                    </a:p>
                  </a:txBody>
                  <a:tcPr marL="133350" marR="133350" marT="95250" marB="85725" anchor="ctr">
                    <a:solidFill>
                      <a:srgbClr val="F4F7F6"/>
                    </a:solidFill>
                  </a:tcPr>
                </a:tc>
              </a:tr>
              <a:tr h="522684">
                <a:tc>
                  <a:txBody>
                    <a:bodyPr/>
                    <a:lstStyle/>
                    <a:p>
                      <a:r>
                        <a:rPr sz="1725">
                          <a:solidFill>
                            <a:srgbClr val="223B49"/>
                          </a:solidFill>
                          <a:latin typeface="Arial"/>
                          <a:ea typeface="Arial"/>
                          <a:cs typeface="Arial"/>
                        </a:rPr>
                        <a:t>Ramp safety</a:t>
                      </a:r>
                    </a:p>
                  </a:txBody>
                  <a:tcPr marL="133350" marR="133350" marT="95250" marB="85725" anchor="ctr">
                    <a:solidFill>
                      <a:srgbClr val="FFFFFF"/>
                    </a:solidFill>
                  </a:tcPr>
                </a:tc>
                <a:tc>
                  <a:txBody>
                    <a:bodyPr/>
                    <a:lstStyle/>
                    <a:p>
                      <a:r>
                        <a:rPr sz="1725">
                          <a:solidFill>
                            <a:srgbClr val="223B49"/>
                          </a:solidFill>
                          <a:latin typeface="Arial"/>
                          <a:ea typeface="Arial"/>
                          <a:cs typeface="Arial"/>
                        </a:rPr>
                        <a:t>Zero missed obstructions in defined matrix</a:t>
                      </a:r>
                    </a:p>
                  </a:txBody>
                  <a:tcPr marL="133350" marR="133350" marT="95250" marB="85725" anchor="ctr">
                    <a:solidFill>
                      <a:srgbClr val="FFFFFF"/>
                    </a:solidFill>
                  </a:tcPr>
                </a:tc>
                <a:tc>
                  <a:txBody>
                    <a:bodyPr/>
                    <a:lstStyle/>
                    <a:p>
                      <a:r>
                        <a:rPr sz="1725">
                          <a:solidFill>
                            <a:srgbClr val="223B49"/>
                          </a:solidFill>
                          <a:latin typeface="Arial"/>
                          <a:ea typeface="Arial"/>
                          <a:cs typeface="Arial"/>
                        </a:rPr>
                        <a:t/>
                      </a:r>
                    </a:p>
                  </a:txBody>
                  <a:tcPr marL="133350" marR="133350" marT="95250" marB="85725" anchor="ctr">
                    <a:solidFill>
                      <a:srgbClr val="FFFFFF"/>
                    </a:solidFill>
                  </a:tcPr>
                </a:tc>
              </a:tr>
              <a:tr h="522684">
                <a:tc>
                  <a:txBody>
                    <a:bodyPr/>
                    <a:lstStyle/>
                    <a:p>
                      <a:r>
                        <a:rPr sz="1725">
                          <a:solidFill>
                            <a:srgbClr val="223B49"/>
                          </a:solidFill>
                          <a:latin typeface="Arial"/>
                          <a:ea typeface="Arial"/>
                          <a:cs typeface="Arial"/>
                        </a:rPr>
                        <a:t>Actuation</a:t>
                      </a:r>
                    </a:p>
                  </a:txBody>
                  <a:tcPr marL="133350" marR="133350" marT="95250" marB="85725" anchor="ctr">
                    <a:solidFill>
                      <a:srgbClr val="F4F7F6"/>
                    </a:solidFill>
                  </a:tcPr>
                </a:tc>
                <a:tc>
                  <a:txBody>
                    <a:bodyPr/>
                    <a:lstStyle/>
                    <a:p>
                      <a:r>
                        <a:rPr sz="1725">
                          <a:solidFill>
                            <a:srgbClr val="223B49"/>
                          </a:solidFill>
                          <a:latin typeface="Arial"/>
                          <a:ea typeface="Arial"/>
                          <a:cs typeface="Arial"/>
                        </a:rPr>
                        <a:t>50 cycles without binding or interlock bypass</a:t>
                      </a:r>
                    </a:p>
                  </a:txBody>
                  <a:tcPr marL="133350" marR="133350" marT="95250" marB="85725" anchor="ctr">
                    <a:solidFill>
                      <a:srgbClr val="F4F7F6"/>
                    </a:solidFill>
                  </a:tcPr>
                </a:tc>
                <a:tc>
                  <a:txBody>
                    <a:bodyPr/>
                    <a:lstStyle/>
                    <a:p>
                      <a:r>
                        <a:rPr sz="1725">
                          <a:solidFill>
                            <a:srgbClr val="223B49"/>
                          </a:solidFill>
                          <a:latin typeface="Arial"/>
                          <a:ea typeface="Arial"/>
                          <a:cs typeface="Arial"/>
                        </a:rPr>
                        <a:t/>
                      </a:r>
                    </a:p>
                  </a:txBody>
                  <a:tcPr marL="133350" marR="133350" marT="95250" marB="85725" anchor="ctr">
                    <a:solidFill>
                      <a:srgbClr val="F4F7F6"/>
                    </a:solidFill>
                  </a:tcPr>
                </a:tc>
              </a:tr>
              <a:tr h="522684">
                <a:tc>
                  <a:txBody>
                    <a:bodyPr/>
                    <a:lstStyle/>
                    <a:p>
                      <a:r>
                        <a:rPr sz="1725">
                          <a:solidFill>
                            <a:srgbClr val="223B49"/>
                          </a:solidFill>
                          <a:latin typeface="Arial"/>
                          <a:ea typeface="Arial"/>
                          <a:cs typeface="Arial"/>
                        </a:rPr>
                        <a:t>Docking</a:t>
                      </a:r>
                    </a:p>
                  </a:txBody>
                  <a:tcPr marL="133350" marR="133350" marT="95250" marB="85725" anchor="ctr">
                    <a:solidFill>
                      <a:srgbClr val="FFFFFF"/>
                    </a:solidFill>
                  </a:tcPr>
                </a:tc>
                <a:tc>
                  <a:txBody>
                    <a:bodyPr/>
                    <a:lstStyle/>
                    <a:p>
                      <a:r>
                        <a:rPr sz="1725">
                          <a:solidFill>
                            <a:srgbClr val="223B49"/>
                          </a:solidFill>
                          <a:latin typeface="Arial"/>
                          <a:ea typeface="Arial"/>
                          <a:cs typeface="Arial"/>
                        </a:rPr>
                        <a:t>10 consecutive trials within ramp reach</a:t>
                      </a:r>
                    </a:p>
                  </a:txBody>
                  <a:tcPr marL="133350" marR="133350" marT="95250" marB="85725" anchor="ctr">
                    <a:solidFill>
                      <a:srgbClr val="FFFFFF"/>
                    </a:solidFill>
                  </a:tcPr>
                </a:tc>
                <a:tc>
                  <a:txBody>
                    <a:bodyPr/>
                    <a:lstStyle/>
                    <a:p>
                      <a:r>
                        <a:rPr sz="1725">
                          <a:solidFill>
                            <a:srgbClr val="223B49"/>
                          </a:solidFill>
                          <a:latin typeface="Arial"/>
                          <a:ea typeface="Arial"/>
                          <a:cs typeface="Arial"/>
                        </a:rPr>
                        <a:t/>
                      </a:r>
                    </a:p>
                  </a:txBody>
                  <a:tcPr marL="133350" marR="133350" marT="95250" marB="85725" anchor="ctr">
                    <a:solidFill>
                      <a:srgbClr val="FFFFFF"/>
                    </a:solidFill>
                  </a:tcPr>
                </a:tc>
              </a:tr>
              <a:tr h="522684">
                <a:tc>
                  <a:txBody>
                    <a:bodyPr/>
                    <a:lstStyle/>
                    <a:p>
                      <a:r>
                        <a:rPr sz="1725">
                          <a:solidFill>
                            <a:srgbClr val="223B49"/>
                          </a:solidFill>
                          <a:latin typeface="Arial"/>
                          <a:ea typeface="Arial"/>
                          <a:cs typeface="Arial"/>
                        </a:rPr>
                        <a:t>Dwell</a:t>
                      </a:r>
                    </a:p>
                  </a:txBody>
                  <a:tcPr marL="133350" marR="133350" marT="95250" marB="85725" anchor="ctr">
                    <a:solidFill>
                      <a:srgbClr val="F4F7F6"/>
                    </a:solidFill>
                  </a:tcPr>
                </a:tc>
                <a:tc>
                  <a:txBody>
                    <a:bodyPr/>
                    <a:lstStyle/>
                    <a:p>
                      <a:r>
                        <a:rPr sz="1725">
                          <a:solidFill>
                            <a:srgbClr val="223B49"/>
                          </a:solidFill>
                          <a:latin typeface="Arial"/>
                          <a:ea typeface="Arial"/>
                          <a:cs typeface="Arial"/>
                        </a:rPr>
                        <a:t>No premature CLEAR in defined sequence tests</a:t>
                      </a:r>
                    </a:p>
                  </a:txBody>
                  <a:tcPr marL="133350" marR="133350" marT="95250" marB="85725" anchor="ctr">
                    <a:solidFill>
                      <a:srgbClr val="F4F7F6"/>
                    </a:solidFill>
                  </a:tcPr>
                </a:tc>
                <a:tc>
                  <a:txBody>
                    <a:bodyPr/>
                    <a:lstStyle/>
                    <a:p>
                      <a:r>
                        <a:rPr sz="1725">
                          <a:solidFill>
                            <a:srgbClr val="223B49"/>
                          </a:solidFill>
                          <a:latin typeface="Arial"/>
                          <a:ea typeface="Arial"/>
                          <a:cs typeface="Arial"/>
                        </a:rPr>
                        <a:t/>
                      </a:r>
                    </a:p>
                  </a:txBody>
                  <a:tcPr marL="133350" marR="133350" marT="95250" marB="85725" anchor="ctr">
                    <a:solidFill>
                      <a:srgbClr val="F4F7F6"/>
                    </a:solidFill>
                  </a:tcPr>
                </a:tc>
              </a:tr>
              <a:tr h="522684">
                <a:tc>
                  <a:txBody>
                    <a:bodyPr/>
                    <a:lstStyle/>
                    <a:p>
                      <a:r>
                        <a:rPr sz="1725">
                          <a:solidFill>
                            <a:srgbClr val="223B49"/>
                          </a:solidFill>
                          <a:latin typeface="Arial"/>
                          <a:ea typeface="Arial"/>
                          <a:cs typeface="Arial"/>
                        </a:rPr>
                        <a:t>End-to-end</a:t>
                      </a:r>
                    </a:p>
                  </a:txBody>
                  <a:tcPr marL="133350" marR="133350" marT="95250" marB="85725" anchor="ctr">
                    <a:solidFill>
                      <a:srgbClr val="FFFFFF"/>
                    </a:solidFill>
                  </a:tcPr>
                </a:tc>
                <a:tc>
                  <a:txBody>
                    <a:bodyPr/>
                    <a:lstStyle/>
                    <a:p>
                      <a:r>
                        <a:rPr sz="1725">
                          <a:solidFill>
                            <a:srgbClr val="223B49"/>
                          </a:solidFill>
                          <a:latin typeface="Arial"/>
                          <a:ea typeface="Arial"/>
                          <a:cs typeface="Arial"/>
                        </a:rPr>
                        <a:t>At least 9/10 nominal cold-start journeys</a:t>
                      </a:r>
                    </a:p>
                  </a:txBody>
                  <a:tcPr marL="133350" marR="133350" marT="95250" marB="85725" anchor="ctr">
                    <a:solidFill>
                      <a:srgbClr val="FFFFFF"/>
                    </a:solidFill>
                  </a:tcPr>
                </a:tc>
                <a:tc>
                  <a:txBody>
                    <a:bodyPr/>
                    <a:lstStyle/>
                    <a:p>
                      <a:r>
                        <a:rPr sz="1725">
                          <a:solidFill>
                            <a:srgbClr val="223B49"/>
                          </a:solidFill>
                          <a:latin typeface="Arial"/>
                          <a:ea typeface="Arial"/>
                          <a:cs typeface="Arial"/>
                        </a:rPr>
                        <a:t/>
                      </a:r>
                    </a:p>
                  </a:txBody>
                  <a:tcPr marL="133350" marR="133350" marT="95250" marB="85725" anchor="ctr">
                    <a:solidFill>
                      <a:srgbClr val="FFFFFF"/>
                    </a:solidFill>
                  </a:tcPr>
                </a:tc>
              </a:tr>
            </a:tbl>
          </a:graphicData>
        </a:graphic>
      </p:graphicFrame>
    </p:spTree>
    <p:extLst>
      <p:ext uri="{BB962C8B-B14F-4D97-AF65-F5344CB8AC3E}">
        <p14:creationId xmlns:p14="http://schemas.microsoft.com/office/powerpoint/2010/main" val="423995158"/>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B1D1FF5-602B-4C8F-8EE7-EE134133A451}"/>
              </a:ext>
            </a:extLst>
          </p:cNvPr>
          <p:cNvSpPr>
            <a:spLocks xmlns:a="http://schemas.openxmlformats.org/drawingml/2006/main" noGrp="1"/>
          </p:cNvSpPr>
          <p:nvPr/>
        </p:nvSpPr>
        <p:spPr>
          <a:xfrm xmlns:a="http://schemas.openxmlformats.org/drawingml/2006/main">
            <a:off x="609600" y="4381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83447"/>
                </a:solidFill>
                <a:latin typeface="Arial"/>
                <a:ea typeface="Arial"/>
                <a:cs typeface="Arial"/>
              </a:defRPr>
            </a:pPr>
            <a:r>
              <a:rPr sz="3300" b="1">
                <a:solidFill>
                  <a:srgbClr val="183447"/>
                </a:solidFill>
                <a:latin typeface="Arial"/>
                <a:ea typeface="Arial"/>
                <a:cs typeface="Arial"/>
              </a:rPr>
              <a:t>User feedback and measured impact</a:t>
            </a:r>
          </a:p>
        </p:txBody>
      </p:sp>
      <p:sp>
        <p:nvSpPr>
          <p:cNvPr id="2" name="">
            <a:extLst xmlns:a="http://schemas.openxmlformats.org/drawingml/2006/main">
              <a:ext uri="{FF2B5EF4-FFF2-40B4-BE49-F238E27FC236}">
                <a16:creationId xmlns:a16="http://schemas.microsoft.com/office/drawing/2014/main" id="{5F28FC3E-918A-4D7C-95D7-810483ECA7DE}"/>
              </a:ext>
            </a:extLst>
          </p:cNvPr>
          <p:cNvSpPr>
            <a:spLocks xmlns:a="http://schemas.openxmlformats.org/drawingml/2006/main" noGrp="1"/>
          </p:cNvSpPr>
          <p:nvPr/>
        </p:nvSpPr>
        <p:spPr>
          <a:xfrm xmlns:a="http://schemas.openxmlformats.org/drawingml/2006/main">
            <a:off x="628650" y="1257300"/>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52666F"/>
                </a:solidFill>
                <a:latin typeface="Arial"/>
                <a:ea typeface="Arial"/>
                <a:cs typeface="Arial"/>
              </a:defRPr>
            </a:pPr>
            <a:r>
              <a:rPr sz="1875" b="0">
                <a:solidFill>
                  <a:srgbClr val="52666F"/>
                </a:solidFill>
                <a:latin typeface="Arial"/>
                <a:ea typeface="Arial"/>
                <a:cs typeface="Arial"/>
              </a:rPr>
              <a:t>Study findings remain incomplete</a:t>
            </a:r>
          </a:p>
        </p:txBody>
      </p:sp>
      <p:sp>
        <p:nvSpPr>
          <p:cNvPr id="3" name="">
            <a:extLst xmlns:a="http://schemas.openxmlformats.org/drawingml/2006/main">
              <a:ext uri="{FF2B5EF4-FFF2-40B4-BE49-F238E27FC236}">
                <a16:creationId xmlns:a16="http://schemas.microsoft.com/office/drawing/2014/main" id="{BC2822C5-1FB8-4DF5-AE7E-53B095EEDF20}"/>
              </a:ext>
            </a:extLst>
          </p:cNvPr>
          <p:cNvSpPr>
            <a:spLocks xmlns:a="http://schemas.openxmlformats.org/drawingml/2006/main" noGrp="1"/>
          </p:cNvSpPr>
          <p:nvPr/>
        </p:nvSpPr>
        <p:spPr>
          <a:xfrm xmlns:a="http://schemas.openxmlformats.org/drawingml/2006/main">
            <a:off x="11077575"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66F"/>
                </a:solidFill>
                <a:latin typeface="Arial"/>
                <a:ea typeface="Arial"/>
                <a:cs typeface="Arial"/>
              </a:defRPr>
            </a:pPr>
            <a:r>
              <a:rPr sz="1350" b="0">
                <a:solidFill>
                  <a:srgbClr val="52666F"/>
                </a:solidFill>
                <a:latin typeface="Arial"/>
                <a:ea typeface="Arial"/>
                <a:cs typeface="Arial"/>
              </a:rPr>
              <a:t>13</a:t>
            </a:r>
          </a:p>
        </p:txBody>
      </p:sp>
      <p:graphicFrame>
        <p:nvGraphicFramePr>
          <p:cNvPr id="9" name=""/>
          <p:cNvGraphicFramePr/>
          <p:nvPr/>
        </p:nvGraphicFramePr>
        <p:xfrm>
          <a:off xmlns:a="http://schemas.openxmlformats.org/drawingml/2006/main" x="628650" y="1905000"/>
          <a:ext xmlns:a="http://schemas.openxmlformats.org/drawingml/2006/main" cx="10934700" cy="3609975"/>
        </p:xfrm>
        <a:graphic xmlns:a="http://schemas.openxmlformats.org/drawingml/2006/main">
          <a:graphicData uri="http://schemas.openxmlformats.org/drawingml/2006/table">
            <a:tbl>
              <a:tblPr/>
              <a:tblGrid>
                <a:gridCol w="4010025"/>
                <a:gridCol w="6924675"/>
              </a:tblGrid>
              <a:tr h="601663">
                <a:tc>
                  <a:txBody>
                    <a:bodyPr/>
                    <a:lstStyle/>
                    <a:p>
                      <a:r>
                        <a:rPr sz="1800" b="1">
                          <a:solidFill>
                            <a:srgbClr val="FFFFFF"/>
                          </a:solidFill>
                          <a:latin typeface="Arial"/>
                          <a:ea typeface="Arial"/>
                          <a:cs typeface="Arial"/>
                        </a:rPr>
                        <a:t>Study field</a:t>
                      </a:r>
                    </a:p>
                  </a:txBody>
                  <a:tcPr marL="133350" marR="133350" marT="95250" marB="85725" anchor="ctr">
                    <a:solidFill>
                      <a:srgbClr val="183447"/>
                    </a:solidFill>
                  </a:tcPr>
                </a:tc>
                <a:tc>
                  <a:txBody>
                    <a:bodyPr/>
                    <a:lstStyle/>
                    <a:p>
                      <a:r>
                        <a:rPr sz="1800" b="1">
                          <a:solidFill>
                            <a:srgbClr val="FFFFFF"/>
                          </a:solidFill>
                          <a:latin typeface="Arial"/>
                          <a:ea typeface="Arial"/>
                          <a:cs typeface="Arial"/>
                        </a:rPr>
                        <a:t>Evidence to add</a:t>
                      </a:r>
                    </a:p>
                  </a:txBody>
                  <a:tcPr marL="133350" marR="133350" marT="95250" marB="85725" anchor="ctr">
                    <a:solidFill>
                      <a:srgbClr val="183447"/>
                    </a:solidFill>
                  </a:tcPr>
                </a:tc>
              </a:tr>
              <a:tr h="601663">
                <a:tc>
                  <a:txBody>
                    <a:bodyPr/>
                    <a:lstStyle/>
                    <a:p>
                      <a:r>
                        <a:rPr sz="1800">
                          <a:solidFill>
                            <a:srgbClr val="223B49"/>
                          </a:solidFill>
                          <a:latin typeface="Arial"/>
                          <a:ea typeface="Arial"/>
                          <a:cs typeface="Arial"/>
                        </a:rPr>
                        <a:t>Participants, consent and test date</a:t>
                      </a:r>
                    </a:p>
                  </a:txBody>
                  <a:tcPr marL="133350" marR="133350" marT="95250" marB="85725" anchor="ctr">
                    <a:solidFill>
                      <a:srgbClr val="FFFFFF"/>
                    </a:solidFill>
                  </a:tcPr>
                </a:tc>
                <a:tc>
                  <a:txBody>
                    <a:bodyPr/>
                    <a:lstStyle/>
                    <a:p>
                      <a:r>
                        <a:rPr sz="1800">
                          <a:solidFill>
                            <a:srgbClr val="223B49"/>
                          </a:solidFill>
                          <a:latin typeface="Arial"/>
                          <a:ea typeface="Arial"/>
                          <a:cs typeface="Arial"/>
                        </a:rPr>
                        <a:t/>
                      </a:r>
                    </a:p>
                  </a:txBody>
                  <a:tcPr marL="133350" marR="133350" marT="95250" marB="85725" anchor="ctr">
                    <a:solidFill>
                      <a:srgbClr val="FFFFFF"/>
                    </a:solidFill>
                  </a:tcPr>
                </a:tc>
              </a:tr>
              <a:tr h="601663">
                <a:tc>
                  <a:txBody>
                    <a:bodyPr/>
                    <a:lstStyle/>
                    <a:p>
                      <a:r>
                        <a:rPr sz="1800">
                          <a:solidFill>
                            <a:srgbClr val="223B49"/>
                          </a:solidFill>
                          <a:latin typeface="Arial"/>
                          <a:ea typeface="Arial"/>
                          <a:cs typeface="Arial"/>
                        </a:rPr>
                        <a:t>Clarity and control</a:t>
                      </a:r>
                    </a:p>
                  </a:txBody>
                  <a:tcPr marL="133350" marR="133350" marT="95250" marB="85725" anchor="ctr">
                    <a:solidFill>
                      <a:srgbClr val="F4F7F6"/>
                    </a:solidFill>
                  </a:tcPr>
                </a:tc>
                <a:tc>
                  <a:txBody>
                    <a:bodyPr/>
                    <a:lstStyle/>
                    <a:p>
                      <a:r>
                        <a:rPr sz="1800">
                          <a:solidFill>
                            <a:srgbClr val="223B49"/>
                          </a:solidFill>
                          <a:latin typeface="Arial"/>
                          <a:ea typeface="Arial"/>
                          <a:cs typeface="Arial"/>
                        </a:rPr>
                        <a:t/>
                      </a:r>
                    </a:p>
                  </a:txBody>
                  <a:tcPr marL="133350" marR="133350" marT="95250" marB="85725" anchor="ctr">
                    <a:solidFill>
                      <a:srgbClr val="F4F7F6"/>
                    </a:solidFill>
                  </a:tcPr>
                </a:tc>
              </a:tr>
              <a:tr h="601663">
                <a:tc>
                  <a:txBody>
                    <a:bodyPr/>
                    <a:lstStyle/>
                    <a:p>
                      <a:r>
                        <a:rPr sz="1800">
                          <a:solidFill>
                            <a:srgbClr val="223B49"/>
                          </a:solidFill>
                          <a:latin typeface="Arial"/>
                          <a:ea typeface="Arial"/>
                          <a:cs typeface="Arial"/>
                        </a:rPr>
                        <a:t>Confidence and comfort</a:t>
                      </a:r>
                    </a:p>
                  </a:txBody>
                  <a:tcPr marL="133350" marR="133350" marT="95250" marB="85725" anchor="ctr">
                    <a:solidFill>
                      <a:srgbClr val="FFFFFF"/>
                    </a:solidFill>
                  </a:tcPr>
                </a:tc>
                <a:tc>
                  <a:txBody>
                    <a:bodyPr/>
                    <a:lstStyle/>
                    <a:p>
                      <a:r>
                        <a:rPr sz="1800">
                          <a:solidFill>
                            <a:srgbClr val="223B49"/>
                          </a:solidFill>
                          <a:latin typeface="Arial"/>
                          <a:ea typeface="Arial"/>
                          <a:cs typeface="Arial"/>
                        </a:rPr>
                        <a:t/>
                      </a:r>
                    </a:p>
                  </a:txBody>
                  <a:tcPr marL="133350" marR="133350" marT="95250" marB="85725" anchor="ctr">
                    <a:solidFill>
                      <a:srgbClr val="FFFFFF"/>
                    </a:solidFill>
                  </a:tcPr>
                </a:tc>
              </a:tr>
              <a:tr h="601663">
                <a:tc>
                  <a:txBody>
                    <a:bodyPr/>
                    <a:lstStyle/>
                    <a:p>
                      <a:r>
                        <a:rPr sz="1800">
                          <a:solidFill>
                            <a:srgbClr val="223B49"/>
                          </a:solidFill>
                          <a:latin typeface="Arial"/>
                          <a:ea typeface="Arial"/>
                          <a:cs typeface="Arial"/>
                        </a:rPr>
                        <a:t>Manual baseline versus GoAssist</a:t>
                      </a:r>
                    </a:p>
                  </a:txBody>
                  <a:tcPr marL="133350" marR="133350" marT="95250" marB="85725" anchor="ctr">
                    <a:solidFill>
                      <a:srgbClr val="F4F7F6"/>
                    </a:solidFill>
                  </a:tcPr>
                </a:tc>
                <a:tc>
                  <a:txBody>
                    <a:bodyPr/>
                    <a:lstStyle/>
                    <a:p>
                      <a:r>
                        <a:rPr sz="1800">
                          <a:solidFill>
                            <a:srgbClr val="223B49"/>
                          </a:solidFill>
                          <a:latin typeface="Arial"/>
                          <a:ea typeface="Arial"/>
                          <a:cs typeface="Arial"/>
                        </a:rPr>
                        <a:t/>
                      </a:r>
                    </a:p>
                  </a:txBody>
                  <a:tcPr marL="133350" marR="133350" marT="95250" marB="85725" anchor="ctr">
                    <a:solidFill>
                      <a:srgbClr val="F4F7F6"/>
                    </a:solidFill>
                  </a:tcPr>
                </a:tc>
              </a:tr>
              <a:tr h="601663">
                <a:tc>
                  <a:txBody>
                    <a:bodyPr/>
                    <a:lstStyle/>
                    <a:p>
                      <a:r>
                        <a:rPr sz="1800">
                          <a:solidFill>
                            <a:srgbClr val="223B49"/>
                          </a:solidFill>
                          <a:latin typeface="Arial"/>
                          <a:ea typeface="Arial"/>
                          <a:cs typeface="Arial"/>
                        </a:rPr>
                        <a:t>Design changes from feedback</a:t>
                      </a:r>
                    </a:p>
                  </a:txBody>
                  <a:tcPr marL="133350" marR="133350" marT="95250" marB="85725" anchor="ctr">
                    <a:solidFill>
                      <a:srgbClr val="FFFFFF"/>
                    </a:solidFill>
                  </a:tcPr>
                </a:tc>
                <a:tc>
                  <a:txBody>
                    <a:bodyPr/>
                    <a:lstStyle/>
                    <a:p>
                      <a:r>
                        <a:rPr sz="1800">
                          <a:solidFill>
                            <a:srgbClr val="223B49"/>
                          </a:solidFill>
                          <a:latin typeface="Arial"/>
                          <a:ea typeface="Arial"/>
                          <a:cs typeface="Arial"/>
                        </a:rPr>
                        <a:t/>
                      </a:r>
                    </a:p>
                  </a:txBody>
                  <a:tcPr marL="133350" marR="133350" marT="95250" marB="85725"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87F0EAE1-44F7-4816-AE84-D24A10A75F74}"/>
              </a:ext>
            </a:extLst>
          </p:cNvPr>
          <p:cNvSpPr>
            <a:spLocks xmlns:a="http://schemas.openxmlformats.org/drawingml/2006/main" noGrp="1"/>
          </p:cNvSpPr>
          <p:nvPr/>
        </p:nvSpPr>
        <p:spPr>
          <a:xfrm xmlns:a="http://schemas.openxmlformats.org/drawingml/2006/main">
            <a:off x="628650" y="5895975"/>
            <a:ext cx="108108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52666F"/>
                </a:solidFill>
                <a:latin typeface="Arial"/>
                <a:ea typeface="Arial"/>
                <a:cs typeface="Arial"/>
              </a:defRPr>
            </a:pPr>
            <a:r>
              <a:rPr sz="1800" b="0">
                <a:solidFill>
                  <a:srgbClr val="52666F"/>
                </a:solidFill>
                <a:latin typeface="Arial"/>
                <a:ea typeface="Arial"/>
                <a:cs typeface="Arial"/>
              </a:rPr>
              <a:t>Baseline measures: acknowledgement, manual interventions, completion and waiting time.</a:t>
            </a:r>
          </a:p>
        </p:txBody>
      </p:sp>
    </p:spTree>
    <p:extLst>
      <p:ext uri="{BB962C8B-B14F-4D97-AF65-F5344CB8AC3E}">
        <p14:creationId xmlns:p14="http://schemas.microsoft.com/office/powerpoint/2010/main" val="56458570"/>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1D35C87-9F53-46BB-B4EA-4E0059CBC1BC}"/>
              </a:ext>
            </a:extLst>
          </p:cNvPr>
          <p:cNvSpPr>
            <a:spLocks xmlns:a="http://schemas.openxmlformats.org/drawingml/2006/main" noGrp="1"/>
          </p:cNvSpPr>
          <p:nvPr/>
        </p:nvSpPr>
        <p:spPr>
          <a:xfrm xmlns:a="http://schemas.openxmlformats.org/drawingml/2006/main">
            <a:off x="609600" y="4381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83447"/>
                </a:solidFill>
                <a:latin typeface="Arial"/>
                <a:ea typeface="Arial"/>
                <a:cs typeface="Arial"/>
              </a:defRPr>
            </a:pPr>
            <a:r>
              <a:rPr sz="3300" b="1">
                <a:solidFill>
                  <a:srgbClr val="183447"/>
                </a:solidFill>
                <a:latin typeface="Arial"/>
                <a:ea typeface="Arial"/>
                <a:cs typeface="Arial"/>
              </a:rPr>
              <a:t>Cost and final evidence register</a:t>
            </a:r>
          </a:p>
        </p:txBody>
      </p:sp>
      <p:sp>
        <p:nvSpPr>
          <p:cNvPr id="2" name="">
            <a:extLst xmlns:a="http://schemas.openxmlformats.org/drawingml/2006/main">
              <a:ext uri="{FF2B5EF4-FFF2-40B4-BE49-F238E27FC236}">
                <a16:creationId xmlns:a16="http://schemas.microsoft.com/office/drawing/2014/main" id="{465726A9-DD8F-4450-9013-0B9091E1E513}"/>
              </a:ext>
            </a:extLst>
          </p:cNvPr>
          <p:cNvSpPr>
            <a:spLocks xmlns:a="http://schemas.openxmlformats.org/drawingml/2006/main" noGrp="1"/>
          </p:cNvSpPr>
          <p:nvPr/>
        </p:nvSpPr>
        <p:spPr>
          <a:xfrm xmlns:a="http://schemas.openxmlformats.org/drawingml/2006/main">
            <a:off x="628650" y="1257300"/>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52666F"/>
                </a:solidFill>
                <a:latin typeface="Arial"/>
                <a:ea typeface="Arial"/>
                <a:cs typeface="Arial"/>
              </a:defRPr>
            </a:pPr>
            <a:r>
              <a:rPr sz="1875" b="0">
                <a:solidFill>
                  <a:srgbClr val="52666F"/>
                </a:solidFill>
                <a:latin typeface="Arial"/>
                <a:ea typeface="Arial"/>
                <a:cs typeface="Arial"/>
              </a:rPr>
              <a:t>Complete these fields after hardware and evidence review</a:t>
            </a:r>
          </a:p>
        </p:txBody>
      </p:sp>
      <p:sp>
        <p:nvSpPr>
          <p:cNvPr id="3" name="">
            <a:extLst xmlns:a="http://schemas.openxmlformats.org/drawingml/2006/main">
              <a:ext uri="{FF2B5EF4-FFF2-40B4-BE49-F238E27FC236}">
                <a16:creationId xmlns:a16="http://schemas.microsoft.com/office/drawing/2014/main" id="{062F3EC7-1737-4BC8-A4C5-DA01CC83AADF}"/>
              </a:ext>
            </a:extLst>
          </p:cNvPr>
          <p:cNvSpPr>
            <a:spLocks xmlns:a="http://schemas.openxmlformats.org/drawingml/2006/main" noGrp="1"/>
          </p:cNvSpPr>
          <p:nvPr/>
        </p:nvSpPr>
        <p:spPr>
          <a:xfrm xmlns:a="http://schemas.openxmlformats.org/drawingml/2006/main">
            <a:off x="11077575"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66F"/>
                </a:solidFill>
                <a:latin typeface="Arial"/>
                <a:ea typeface="Arial"/>
                <a:cs typeface="Arial"/>
              </a:defRPr>
            </a:pPr>
            <a:r>
              <a:rPr sz="1350" b="0">
                <a:solidFill>
                  <a:srgbClr val="52666F"/>
                </a:solidFill>
                <a:latin typeface="Arial"/>
                <a:ea typeface="Arial"/>
                <a:cs typeface="Arial"/>
              </a:rPr>
              <a:t>14</a:t>
            </a:r>
          </a:p>
        </p:txBody>
      </p:sp>
      <p:graphicFrame>
        <p:nvGraphicFramePr>
          <p:cNvPr id="8" name=""/>
          <p:cNvGraphicFramePr/>
          <p:nvPr/>
        </p:nvGraphicFramePr>
        <p:xfrm>
          <a:off xmlns:a="http://schemas.openxmlformats.org/drawingml/2006/main" x="628650" y="1866900"/>
          <a:ext xmlns:a="http://schemas.openxmlformats.org/drawingml/2006/main" cx="10934700" cy="3981450"/>
        </p:xfrm>
        <a:graphic xmlns:a="http://schemas.openxmlformats.org/drawingml/2006/main">
          <a:graphicData uri="http://schemas.openxmlformats.org/drawingml/2006/table">
            <a:tbl>
              <a:tblPr/>
              <a:tblGrid>
                <a:gridCol w="5229225"/>
                <a:gridCol w="5705475"/>
              </a:tblGrid>
              <a:tr h="663575">
                <a:tc>
                  <a:txBody>
                    <a:bodyPr/>
                    <a:lstStyle/>
                    <a:p>
                      <a:r>
                        <a:rPr sz="1800" b="1">
                          <a:solidFill>
                            <a:srgbClr val="FFFFFF"/>
                          </a:solidFill>
                          <a:latin typeface="Arial"/>
                          <a:ea typeface="Arial"/>
                          <a:cs typeface="Arial"/>
                        </a:rPr>
                        <a:t>Budget / evidence item</a:t>
                      </a:r>
                    </a:p>
                  </a:txBody>
                  <a:tcPr marL="133350" marR="133350" marT="95250" marB="85725" anchor="ctr">
                    <a:solidFill>
                      <a:srgbClr val="183447"/>
                    </a:solidFill>
                  </a:tcPr>
                </a:tc>
                <a:tc>
                  <a:txBody>
                    <a:bodyPr/>
                    <a:lstStyle/>
                    <a:p>
                      <a:r>
                        <a:rPr sz="1800" b="1">
                          <a:solidFill>
                            <a:srgbClr val="FFFFFF"/>
                          </a:solidFill>
                          <a:latin typeface="Arial"/>
                          <a:ea typeface="Arial"/>
                          <a:cs typeface="Arial"/>
                        </a:rPr>
                        <a:t>Confirmed value or file link</a:t>
                      </a:r>
                    </a:p>
                  </a:txBody>
                  <a:tcPr marL="133350" marR="133350" marT="95250" marB="85725" anchor="ctr">
                    <a:solidFill>
                      <a:srgbClr val="183447"/>
                    </a:solidFill>
                  </a:tcPr>
                </a:tc>
              </a:tr>
              <a:tr h="663575">
                <a:tc>
                  <a:txBody>
                    <a:bodyPr/>
                    <a:lstStyle/>
                    <a:p>
                      <a:r>
                        <a:rPr sz="1800">
                          <a:solidFill>
                            <a:srgbClr val="223B49"/>
                          </a:solidFill>
                          <a:latin typeface="Arial"/>
                          <a:ea typeface="Arial"/>
                          <a:cs typeface="Arial"/>
                        </a:rPr>
                        <a:t>Total component cost (SGD)</a:t>
                      </a:r>
                    </a:p>
                  </a:txBody>
                  <a:tcPr marL="133350" marR="133350" marT="95250" marB="85725" anchor="ctr">
                    <a:solidFill>
                      <a:srgbClr val="FFFFFF"/>
                    </a:solidFill>
                  </a:tcPr>
                </a:tc>
                <a:tc>
                  <a:txBody>
                    <a:bodyPr/>
                    <a:lstStyle/>
                    <a:p>
                      <a:r>
                        <a:rPr sz="1800">
                          <a:solidFill>
                            <a:srgbClr val="223B49"/>
                          </a:solidFill>
                          <a:latin typeface="Arial"/>
                          <a:ea typeface="Arial"/>
                          <a:cs typeface="Arial"/>
                        </a:rPr>
                        <a:t/>
                      </a:r>
                    </a:p>
                  </a:txBody>
                  <a:tcPr marL="133350" marR="133350" marT="95250" marB="85725" anchor="ctr">
                    <a:solidFill>
                      <a:srgbClr val="FFFFFF"/>
                    </a:solidFill>
                  </a:tcPr>
                </a:tc>
              </a:tr>
              <a:tr h="663575">
                <a:tc>
                  <a:txBody>
                    <a:bodyPr/>
                    <a:lstStyle/>
                    <a:p>
                      <a:r>
                        <a:rPr sz="1800">
                          <a:solidFill>
                            <a:srgbClr val="223B49"/>
                          </a:solidFill>
                          <a:latin typeface="Arial"/>
                          <a:ea typeface="Arial"/>
                          <a:cs typeface="Arial"/>
                        </a:rPr>
                        <a:t>Final BOM and power budget</a:t>
                      </a:r>
                    </a:p>
                  </a:txBody>
                  <a:tcPr marL="133350" marR="133350" marT="95250" marB="85725" anchor="ctr">
                    <a:solidFill>
                      <a:srgbClr val="F4F7F6"/>
                    </a:solidFill>
                  </a:tcPr>
                </a:tc>
                <a:tc>
                  <a:txBody>
                    <a:bodyPr/>
                    <a:lstStyle/>
                    <a:p>
                      <a:r>
                        <a:rPr sz="1800">
                          <a:solidFill>
                            <a:srgbClr val="223B49"/>
                          </a:solidFill>
                          <a:latin typeface="Arial"/>
                          <a:ea typeface="Arial"/>
                          <a:cs typeface="Arial"/>
                        </a:rPr>
                        <a:t/>
                      </a:r>
                    </a:p>
                  </a:txBody>
                  <a:tcPr marL="133350" marR="133350" marT="95250" marB="85725" anchor="ctr">
                    <a:solidFill>
                      <a:srgbClr val="F4F7F6"/>
                    </a:solidFill>
                  </a:tcPr>
                </a:tc>
              </a:tr>
              <a:tr h="663575">
                <a:tc>
                  <a:txBody>
                    <a:bodyPr/>
                    <a:lstStyle/>
                    <a:p>
                      <a:r>
                        <a:rPr sz="1800">
                          <a:solidFill>
                            <a:srgbClr val="223B49"/>
                          </a:solidFill>
                          <a:latin typeface="Arial"/>
                          <a:ea typeface="Arial"/>
                          <a:cs typeface="Arial"/>
                        </a:rPr>
                        <a:t>Physical integration photos and cycle logs</a:t>
                      </a:r>
                    </a:p>
                  </a:txBody>
                  <a:tcPr marL="133350" marR="133350" marT="95250" marB="85725" anchor="ctr">
                    <a:solidFill>
                      <a:srgbClr val="FFFFFF"/>
                    </a:solidFill>
                  </a:tcPr>
                </a:tc>
                <a:tc>
                  <a:txBody>
                    <a:bodyPr/>
                    <a:lstStyle/>
                    <a:p>
                      <a:r>
                        <a:rPr sz="1800">
                          <a:solidFill>
                            <a:srgbClr val="223B49"/>
                          </a:solidFill>
                          <a:latin typeface="Arial"/>
                          <a:ea typeface="Arial"/>
                          <a:cs typeface="Arial"/>
                        </a:rPr>
                        <a:t/>
                      </a:r>
                    </a:p>
                  </a:txBody>
                  <a:tcPr marL="133350" marR="133350" marT="95250" marB="85725" anchor="ctr">
                    <a:solidFill>
                      <a:srgbClr val="FFFFFF"/>
                    </a:solidFill>
                  </a:tcPr>
                </a:tc>
              </a:tr>
              <a:tr h="663575">
                <a:tc>
                  <a:txBody>
                    <a:bodyPr/>
                    <a:lstStyle/>
                    <a:p>
                      <a:r>
                        <a:rPr sz="1800">
                          <a:solidFill>
                            <a:srgbClr val="223B49"/>
                          </a:solidFill>
                          <a:latin typeface="Arial"/>
                          <a:ea typeface="Arial"/>
                          <a:cs typeface="Arial"/>
                        </a:rPr>
                        <a:t>Model metrics and model cards</a:t>
                      </a:r>
                    </a:p>
                  </a:txBody>
                  <a:tcPr marL="133350" marR="133350" marT="95250" marB="85725" anchor="ctr">
                    <a:solidFill>
                      <a:srgbClr val="F4F7F6"/>
                    </a:solidFill>
                  </a:tcPr>
                </a:tc>
                <a:tc>
                  <a:txBody>
                    <a:bodyPr/>
                    <a:lstStyle/>
                    <a:p>
                      <a:r>
                        <a:rPr sz="1800">
                          <a:solidFill>
                            <a:srgbClr val="223B49"/>
                          </a:solidFill>
                          <a:latin typeface="Arial"/>
                          <a:ea typeface="Arial"/>
                          <a:cs typeface="Arial"/>
                        </a:rPr>
                        <a:t/>
                      </a:r>
                    </a:p>
                  </a:txBody>
                  <a:tcPr marL="133350" marR="133350" marT="95250" marB="85725" anchor="ctr">
                    <a:solidFill>
                      <a:srgbClr val="F4F7F6"/>
                    </a:solidFill>
                  </a:tcPr>
                </a:tc>
              </a:tr>
              <a:tr h="663575">
                <a:tc>
                  <a:txBody>
                    <a:bodyPr/>
                    <a:lstStyle/>
                    <a:p>
                      <a:r>
                        <a:rPr sz="1800">
                          <a:solidFill>
                            <a:srgbClr val="223B49"/>
                          </a:solidFill>
                          <a:latin typeface="Arial"/>
                          <a:ea typeface="Arial"/>
                          <a:cs typeface="Arial"/>
                        </a:rPr>
                        <a:t>Demo video and final source archive</a:t>
                      </a:r>
                    </a:p>
                  </a:txBody>
                  <a:tcPr marL="133350" marR="133350" marT="95250" marB="85725" anchor="ctr">
                    <a:solidFill>
                      <a:srgbClr val="FFFFFF"/>
                    </a:solidFill>
                  </a:tcPr>
                </a:tc>
                <a:tc>
                  <a:txBody>
                    <a:bodyPr/>
                    <a:lstStyle/>
                    <a:p>
                      <a:r>
                        <a:rPr sz="1800">
                          <a:solidFill>
                            <a:srgbClr val="223B49"/>
                          </a:solidFill>
                          <a:latin typeface="Arial"/>
                          <a:ea typeface="Arial"/>
                          <a:cs typeface="Arial"/>
                        </a:rPr>
                        <a:t/>
                      </a:r>
                    </a:p>
                  </a:txBody>
                  <a:tcPr marL="133350" marR="133350" marT="95250" marB="85725" anchor="ctr">
                    <a:solidFill>
                      <a:srgbClr val="FFFFFF"/>
                    </a:solidFill>
                  </a:tcPr>
                </a:tc>
              </a:tr>
            </a:tbl>
          </a:graphicData>
        </a:graphic>
      </p:graphicFrame>
    </p:spTree>
    <p:extLst>
      <p:ext uri="{BB962C8B-B14F-4D97-AF65-F5344CB8AC3E}">
        <p14:creationId xmlns:p14="http://schemas.microsoft.com/office/powerpoint/2010/main" val="1023508301"/>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1E96245-7BE3-4677-8079-C2219C138FC1}"/>
              </a:ext>
            </a:extLst>
          </p:cNvPr>
          <p:cNvSpPr>
            <a:spLocks xmlns:a="http://schemas.openxmlformats.org/drawingml/2006/main" noGrp="1"/>
          </p:cNvSpPr>
          <p:nvPr/>
        </p:nvSpPr>
        <p:spPr>
          <a:xfrm xmlns:a="http://schemas.openxmlformats.org/drawingml/2006/main">
            <a:off x="609600" y="4381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83447"/>
                </a:solidFill>
                <a:latin typeface="Arial"/>
                <a:ea typeface="Arial"/>
                <a:cs typeface="Arial"/>
              </a:defRPr>
            </a:pPr>
            <a:r>
              <a:rPr sz="3300" b="1">
                <a:solidFill>
                  <a:srgbClr val="183447"/>
                </a:solidFill>
                <a:latin typeface="Arial"/>
                <a:ea typeface="Arial"/>
                <a:cs typeface="Arial"/>
              </a:rPr>
              <a:t>Remaining work and planned submission dates</a:t>
            </a:r>
          </a:p>
        </p:txBody>
      </p:sp>
      <p:sp>
        <p:nvSpPr>
          <p:cNvPr id="2" name="">
            <a:extLst xmlns:a="http://schemas.openxmlformats.org/drawingml/2006/main">
              <a:ext uri="{FF2B5EF4-FFF2-40B4-BE49-F238E27FC236}">
                <a16:creationId xmlns:a16="http://schemas.microsoft.com/office/drawing/2014/main" id="{3C3FB068-9B3F-475B-8D73-940F217E3949}"/>
              </a:ext>
            </a:extLst>
          </p:cNvPr>
          <p:cNvSpPr>
            <a:spLocks xmlns:a="http://schemas.openxmlformats.org/drawingml/2006/main" noGrp="1"/>
          </p:cNvSpPr>
          <p:nvPr/>
        </p:nvSpPr>
        <p:spPr>
          <a:xfrm xmlns:a="http://schemas.openxmlformats.org/drawingml/2006/main">
            <a:off x="628650" y="1257300"/>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52666F"/>
                </a:solidFill>
                <a:latin typeface="Arial"/>
                <a:ea typeface="Arial"/>
                <a:cs typeface="Arial"/>
              </a:defRPr>
            </a:pPr>
            <a:r>
              <a:rPr sz="1875" b="0">
                <a:solidFill>
                  <a:srgbClr val="52666F"/>
                </a:solidFill>
                <a:latin typeface="Arial"/>
                <a:ea typeface="Arial"/>
                <a:cs typeface="Arial"/>
              </a:rPr>
              <a:t>The original schedule remains subject to the outstanding evidence</a:t>
            </a:r>
          </a:p>
        </p:txBody>
      </p:sp>
      <p:sp>
        <p:nvSpPr>
          <p:cNvPr id="3" name="">
            <a:extLst xmlns:a="http://schemas.openxmlformats.org/drawingml/2006/main">
              <a:ext uri="{FF2B5EF4-FFF2-40B4-BE49-F238E27FC236}">
                <a16:creationId xmlns:a16="http://schemas.microsoft.com/office/drawing/2014/main" id="{77125106-A594-4E95-A4FD-60129603F4E4}"/>
              </a:ext>
            </a:extLst>
          </p:cNvPr>
          <p:cNvSpPr>
            <a:spLocks xmlns:a="http://schemas.openxmlformats.org/drawingml/2006/main" noGrp="1"/>
          </p:cNvSpPr>
          <p:nvPr/>
        </p:nvSpPr>
        <p:spPr>
          <a:xfrm xmlns:a="http://schemas.openxmlformats.org/drawingml/2006/main">
            <a:off x="11077575"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66F"/>
                </a:solidFill>
                <a:latin typeface="Arial"/>
                <a:ea typeface="Arial"/>
                <a:cs typeface="Arial"/>
              </a:defRPr>
            </a:pPr>
            <a:r>
              <a:rPr sz="1350" b="0">
                <a:solidFill>
                  <a:srgbClr val="52666F"/>
                </a:solidFill>
                <a:latin typeface="Arial"/>
                <a:ea typeface="Arial"/>
                <a:cs typeface="Arial"/>
              </a:rPr>
              <a:t>15</a:t>
            </a:r>
          </a:p>
        </p:txBody>
      </p:sp>
      <p:graphicFrame>
        <p:nvGraphicFramePr>
          <p:cNvPr id="9" name=""/>
          <p:cNvGraphicFramePr/>
          <p:nvPr/>
        </p:nvGraphicFramePr>
        <p:xfrm>
          <a:off xmlns:a="http://schemas.openxmlformats.org/drawingml/2006/main" x="628650" y="1971675"/>
          <a:ext xmlns:a="http://schemas.openxmlformats.org/drawingml/2006/main" cx="10934700" cy="3495675"/>
        </p:xfrm>
        <a:graphic xmlns:a="http://schemas.openxmlformats.org/drawingml/2006/main">
          <a:graphicData uri="http://schemas.openxmlformats.org/drawingml/2006/table">
            <a:tbl>
              <a:tblPr/>
              <a:tblGrid>
                <a:gridCol w="2524125"/>
                <a:gridCol w="5857875"/>
                <a:gridCol w="2552700"/>
              </a:tblGrid>
              <a:tr h="699135">
                <a:tc>
                  <a:txBody>
                    <a:bodyPr/>
                    <a:lstStyle/>
                    <a:p>
                      <a:r>
                        <a:rPr sz="1725" b="1">
                          <a:solidFill>
                            <a:srgbClr val="FFFFFF"/>
                          </a:solidFill>
                          <a:latin typeface="Arial"/>
                          <a:ea typeface="Arial"/>
                          <a:cs typeface="Arial"/>
                        </a:rPr>
                        <a:t>Planned timing</a:t>
                      </a:r>
                    </a:p>
                  </a:txBody>
                  <a:tcPr marL="133350" marR="133350" marT="95250" marB="85725" anchor="ctr">
                    <a:solidFill>
                      <a:srgbClr val="183447"/>
                    </a:solidFill>
                  </a:tcPr>
                </a:tc>
                <a:tc>
                  <a:txBody>
                    <a:bodyPr/>
                    <a:lstStyle/>
                    <a:p>
                      <a:r>
                        <a:rPr sz="1725" b="1">
                          <a:solidFill>
                            <a:srgbClr val="FFFFFF"/>
                          </a:solidFill>
                          <a:latin typeface="Arial"/>
                          <a:ea typeface="Arial"/>
                          <a:cs typeface="Arial"/>
                        </a:rPr>
                        <a:t>Priority</a:t>
                      </a:r>
                    </a:p>
                  </a:txBody>
                  <a:tcPr marL="133350" marR="133350" marT="95250" marB="85725" anchor="ctr">
                    <a:solidFill>
                      <a:srgbClr val="183447"/>
                    </a:solidFill>
                  </a:tcPr>
                </a:tc>
                <a:tc>
                  <a:txBody>
                    <a:bodyPr/>
                    <a:lstStyle/>
                    <a:p>
                      <a:r>
                        <a:rPr sz="1725" b="1">
                          <a:solidFill>
                            <a:srgbClr val="FFFFFF"/>
                          </a:solidFill>
                          <a:latin typeface="Arial"/>
                          <a:ea typeface="Arial"/>
                          <a:cs typeface="Arial"/>
                        </a:rPr>
                        <a:t>Responsible roles</a:t>
                      </a:r>
                    </a:p>
                  </a:txBody>
                  <a:tcPr marL="133350" marR="133350" marT="95250" marB="85725" anchor="ctr">
                    <a:solidFill>
                      <a:srgbClr val="183447"/>
                    </a:solidFill>
                  </a:tcPr>
                </a:tc>
              </a:tr>
              <a:tr h="699135">
                <a:tc>
                  <a:txBody>
                    <a:bodyPr/>
                    <a:lstStyle/>
                    <a:p>
                      <a:r>
                        <a:rPr sz="1725">
                          <a:solidFill>
                            <a:srgbClr val="223B49"/>
                          </a:solidFill>
                          <a:latin typeface="Arial"/>
                          <a:ea typeface="Arial"/>
                          <a:cs typeface="Arial"/>
                        </a:rPr>
                        <a:t>25–26 September</a:t>
                      </a:r>
                    </a:p>
                  </a:txBody>
                  <a:tcPr marL="133350" marR="133350" marT="95250" marB="85725" anchor="ctr">
                    <a:solidFill>
                      <a:srgbClr val="FFFFFF"/>
                    </a:solidFill>
                  </a:tcPr>
                </a:tc>
                <a:tc>
                  <a:txBody>
                    <a:bodyPr/>
                    <a:lstStyle/>
                    <a:p>
                      <a:r>
                        <a:rPr sz="1725">
                          <a:solidFill>
                            <a:srgbClr val="223B49"/>
                          </a:solidFill>
                          <a:latin typeface="Arial"/>
                          <a:ea typeface="Arial"/>
                          <a:cs typeface="Arial"/>
                        </a:rPr>
                        <a:t>Resolve sensor choice. Assemble, calibrate and verify interlocks.</a:t>
                      </a:r>
                    </a:p>
                  </a:txBody>
                  <a:tcPr marL="133350" marR="133350" marT="95250" marB="85725" anchor="ctr">
                    <a:solidFill>
                      <a:srgbClr val="FFFFFF"/>
                    </a:solidFill>
                  </a:tcPr>
                </a:tc>
                <a:tc>
                  <a:txBody>
                    <a:bodyPr/>
                    <a:lstStyle/>
                    <a:p>
                      <a:r>
                        <a:rPr sz="1725">
                          <a:solidFill>
                            <a:srgbClr val="223B49"/>
                          </a:solidFill>
                          <a:latin typeface="Arial"/>
                          <a:ea typeface="Arial"/>
                          <a:cs typeface="Arial"/>
                        </a:rPr>
                        <a:t>EE1 / EE2 / ME1</a:t>
                      </a:r>
                    </a:p>
                  </a:txBody>
                  <a:tcPr marL="133350" marR="133350" marT="95250" marB="85725" anchor="ctr">
                    <a:solidFill>
                      <a:srgbClr val="FFFFFF"/>
                    </a:solidFill>
                  </a:tcPr>
                </a:tc>
              </a:tr>
              <a:tr h="699135">
                <a:tc>
                  <a:txBody>
                    <a:bodyPr/>
                    <a:lstStyle/>
                    <a:p>
                      <a:r>
                        <a:rPr sz="1725">
                          <a:solidFill>
                            <a:srgbClr val="223B49"/>
                          </a:solidFill>
                          <a:latin typeface="Arial"/>
                          <a:ea typeface="Arial"/>
                          <a:cs typeface="Arial"/>
                        </a:rPr>
                        <a:t>25–27 September</a:t>
                      </a:r>
                    </a:p>
                  </a:txBody>
                  <a:tcPr marL="133350" marR="133350" marT="95250" marB="85725" anchor="ctr">
                    <a:solidFill>
                      <a:srgbClr val="F4F7F6"/>
                    </a:solidFill>
                  </a:tcPr>
                </a:tc>
                <a:tc>
                  <a:txBody>
                    <a:bodyPr/>
                    <a:lstStyle/>
                    <a:p>
                      <a:r>
                        <a:rPr sz="1725">
                          <a:solidFill>
                            <a:srgbClr val="223B49"/>
                          </a:solidFill>
                          <a:latin typeface="Arial"/>
                          <a:ea typeface="Arial"/>
                          <a:cs typeface="Arial"/>
                        </a:rPr>
                        <a:t>Train/evaluate models or validate documented fallback. Run physical scenarios.</a:t>
                      </a:r>
                    </a:p>
                  </a:txBody>
                  <a:tcPr marL="133350" marR="133350" marT="95250" marB="85725" anchor="ctr">
                    <a:solidFill>
                      <a:srgbClr val="F4F7F6"/>
                    </a:solidFill>
                  </a:tcPr>
                </a:tc>
                <a:tc>
                  <a:txBody>
                    <a:bodyPr/>
                    <a:lstStyle/>
                    <a:p>
                      <a:r>
                        <a:rPr sz="1725">
                          <a:solidFill>
                            <a:srgbClr val="223B49"/>
                          </a:solidFill>
                          <a:latin typeface="Arial"/>
                          <a:ea typeface="Arial"/>
                          <a:cs typeface="Arial"/>
                        </a:rPr>
                        <a:t>CE2 with CE1 / EE1 / EE2</a:t>
                      </a:r>
                    </a:p>
                  </a:txBody>
                  <a:tcPr marL="133350" marR="133350" marT="95250" marB="85725" anchor="ctr">
                    <a:solidFill>
                      <a:srgbClr val="F4F7F6"/>
                    </a:solidFill>
                  </a:tcPr>
                </a:tc>
              </a:tr>
              <a:tr h="699135">
                <a:tc>
                  <a:txBody>
                    <a:bodyPr/>
                    <a:lstStyle/>
                    <a:p>
                      <a:r>
                        <a:rPr sz="1725">
                          <a:solidFill>
                            <a:srgbClr val="223B49"/>
                          </a:solidFill>
                          <a:latin typeface="Arial"/>
                          <a:ea typeface="Arial"/>
                          <a:cs typeface="Arial"/>
                        </a:rPr>
                        <a:t>27 September</a:t>
                      </a:r>
                    </a:p>
                  </a:txBody>
                  <a:tcPr marL="133350" marR="133350" marT="95250" marB="85725" anchor="ctr">
                    <a:solidFill>
                      <a:srgbClr val="FFFFFF"/>
                    </a:solidFill>
                  </a:tcPr>
                </a:tc>
                <a:tc>
                  <a:txBody>
                    <a:bodyPr/>
                    <a:lstStyle/>
                    <a:p>
                      <a:r>
                        <a:rPr sz="1725">
                          <a:solidFill>
                            <a:srgbClr val="223B49"/>
                          </a:solidFill>
                          <a:latin typeface="Arial"/>
                          <a:ea typeface="Arial"/>
                          <a:cs typeface="Arial"/>
                        </a:rPr>
                        <a:t>Freeze validation evidence and presentation content after review.</a:t>
                      </a:r>
                    </a:p>
                  </a:txBody>
                  <a:tcPr marL="133350" marR="133350" marT="95250" marB="85725" anchor="ctr">
                    <a:solidFill>
                      <a:srgbClr val="FFFFFF"/>
                    </a:solidFill>
                  </a:tcPr>
                </a:tc>
                <a:tc>
                  <a:txBody>
                    <a:bodyPr/>
                    <a:lstStyle/>
                    <a:p>
                      <a:r>
                        <a:rPr sz="1725">
                          <a:solidFill>
                            <a:srgbClr val="223B49"/>
                          </a:solidFill>
                          <a:latin typeface="Arial"/>
                          <a:ea typeface="Arial"/>
                          <a:cs typeface="Arial"/>
                        </a:rPr>
                        <a:t>All</a:t>
                      </a:r>
                    </a:p>
                  </a:txBody>
                  <a:tcPr marL="133350" marR="133350" marT="95250" marB="85725" anchor="ctr">
                    <a:solidFill>
                      <a:srgbClr val="FFFFFF"/>
                    </a:solidFill>
                  </a:tcPr>
                </a:tc>
              </a:tr>
              <a:tr h="699135">
                <a:tc>
                  <a:txBody>
                    <a:bodyPr/>
                    <a:lstStyle/>
                    <a:p>
                      <a:r>
                        <a:rPr sz="1725">
                          <a:solidFill>
                            <a:srgbClr val="223B49"/>
                          </a:solidFill>
                          <a:latin typeface="Arial"/>
                          <a:ea typeface="Arial"/>
                          <a:cs typeface="Arial"/>
                        </a:rPr>
                        <a:t>28–30 September</a:t>
                      </a:r>
                    </a:p>
                  </a:txBody>
                  <a:tcPr marL="133350" marR="133350" marT="95250" marB="85725" anchor="ctr">
                    <a:solidFill>
                      <a:srgbClr val="F4F7F6"/>
                    </a:solidFill>
                  </a:tcPr>
                </a:tc>
                <a:tc>
                  <a:txBody>
                    <a:bodyPr/>
                    <a:lstStyle/>
                    <a:p>
                      <a:r>
                        <a:rPr sz="1725">
                          <a:solidFill>
                            <a:srgbClr val="223B49"/>
                          </a:solidFill>
                          <a:latin typeface="Arial"/>
                          <a:ea typeface="Arial"/>
                          <a:cs typeface="Arial"/>
                        </a:rPr>
                        <a:t>Build and evidence audit, rehearsal, backup video and submission checks.</a:t>
                      </a:r>
                    </a:p>
                  </a:txBody>
                  <a:tcPr marL="133350" marR="133350" marT="95250" marB="85725" anchor="ctr">
                    <a:solidFill>
                      <a:srgbClr val="F4F7F6"/>
                    </a:solidFill>
                  </a:tcPr>
                </a:tc>
                <a:tc>
                  <a:txBody>
                    <a:bodyPr/>
                    <a:lstStyle/>
                    <a:p>
                      <a:r>
                        <a:rPr sz="1725">
                          <a:solidFill>
                            <a:srgbClr val="223B49"/>
                          </a:solidFill>
                          <a:latin typeface="Arial"/>
                          <a:ea typeface="Arial"/>
                          <a:cs typeface="Arial"/>
                        </a:rPr>
                        <a:t>All, packaged by CE1</a:t>
                      </a:r>
                    </a:p>
                  </a:txBody>
                  <a:tcPr marL="133350" marR="133350" marT="95250" marB="85725" anchor="ctr">
                    <a:solidFill>
                      <a:srgbClr val="F4F7F6"/>
                    </a:solidFill>
                  </a:tcPr>
                </a:tc>
              </a:tr>
            </a:tbl>
          </a:graphicData>
        </a:graphic>
      </p:graphicFrame>
      <p:sp>
        <p:nvSpPr>
          <p:cNvPr id="5" name="">
            <a:extLst xmlns:a="http://schemas.openxmlformats.org/drawingml/2006/main">
              <a:ext uri="{FF2B5EF4-FFF2-40B4-BE49-F238E27FC236}">
                <a16:creationId xmlns:a16="http://schemas.microsoft.com/office/drawing/2014/main" id="{0E2514AE-60B2-4D0A-A6E6-5DA216801626}"/>
              </a:ext>
            </a:extLst>
          </p:cNvPr>
          <p:cNvSpPr>
            <a:spLocks xmlns:a="http://schemas.openxmlformats.org/drawingml/2006/main" noGrp="1"/>
          </p:cNvSpPr>
          <p:nvPr/>
        </p:nvSpPr>
        <p:spPr>
          <a:xfrm xmlns:a="http://schemas.openxmlformats.org/drawingml/2006/main">
            <a:off x="628650" y="5829300"/>
            <a:ext cx="109347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087E83"/>
                </a:solidFill>
                <a:latin typeface="Arial"/>
                <a:ea typeface="Arial"/>
                <a:cs typeface="Arial"/>
              </a:defRPr>
            </a:pPr>
            <a:r>
              <a:rPr sz="2025" b="1">
                <a:solidFill>
                  <a:srgbClr val="087E83"/>
                </a:solidFill>
                <a:latin typeface="Arial"/>
                <a:ea typeface="Arial"/>
                <a:cs typeface="Arial"/>
              </a:rPr>
              <a:t>Preserve explicit requests, safety gates and a repeatable demonstration when reducing scope.</a:t>
            </a:r>
          </a:p>
        </p:txBody>
      </p:sp>
    </p:spTree>
    <p:extLst>
      <p:ext uri="{BB962C8B-B14F-4D97-AF65-F5344CB8AC3E}">
        <p14:creationId xmlns:p14="http://schemas.microsoft.com/office/powerpoint/2010/main" val="32323516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7F3DF92-A588-4AB8-9762-2C0E2C9856B6}"/>
              </a:ext>
            </a:extLst>
          </p:cNvPr>
          <p:cNvSpPr>
            <a:spLocks xmlns:a="http://schemas.openxmlformats.org/drawingml/2006/main" noGrp="1"/>
          </p:cNvSpPr>
          <p:nvPr/>
        </p:nvSpPr>
        <p:spPr>
          <a:xfrm xmlns:a="http://schemas.openxmlformats.org/drawingml/2006/main">
            <a:off x="609600" y="4381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83447"/>
                </a:solidFill>
                <a:latin typeface="Arial"/>
                <a:ea typeface="Arial"/>
                <a:cs typeface="Arial"/>
              </a:defRPr>
            </a:pPr>
            <a:r>
              <a:rPr sz="3300" b="1">
                <a:solidFill>
                  <a:srgbClr val="183447"/>
                </a:solidFill>
                <a:latin typeface="Arial"/>
                <a:ea typeface="Arial"/>
                <a:cs typeface="Arial"/>
              </a:rPr>
              <a:t>Project position and next demonstration</a:t>
            </a:r>
          </a:p>
        </p:txBody>
      </p:sp>
      <p:sp>
        <p:nvSpPr>
          <p:cNvPr id="2" name="">
            <a:extLst xmlns:a="http://schemas.openxmlformats.org/drawingml/2006/main">
              <a:ext uri="{FF2B5EF4-FFF2-40B4-BE49-F238E27FC236}">
                <a16:creationId xmlns:a16="http://schemas.microsoft.com/office/drawing/2014/main" id="{A3788FEC-7316-49C0-A660-1CD737451FFF}"/>
              </a:ext>
            </a:extLst>
          </p:cNvPr>
          <p:cNvSpPr>
            <a:spLocks xmlns:a="http://schemas.openxmlformats.org/drawingml/2006/main" noGrp="1"/>
          </p:cNvSpPr>
          <p:nvPr/>
        </p:nvSpPr>
        <p:spPr>
          <a:xfrm xmlns:a="http://schemas.openxmlformats.org/drawingml/2006/main">
            <a:off x="11077575"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66F"/>
                </a:solidFill>
                <a:latin typeface="Arial"/>
                <a:ea typeface="Arial"/>
                <a:cs typeface="Arial"/>
              </a:defRPr>
            </a:pPr>
            <a:r>
              <a:rPr sz="1350" b="0">
                <a:solidFill>
                  <a:srgbClr val="52666F"/>
                </a:solidFill>
                <a:latin typeface="Arial"/>
                <a:ea typeface="Arial"/>
                <a:cs typeface="Arial"/>
              </a:rPr>
              <a:t>16</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43c1bde0e909485a"/>
          <a:stretch xmlns:a="http://schemas.openxmlformats.org/drawingml/2006/main"/>
        </p:blipFill>
        <p:spPr>
          <a:xfrm xmlns:a="http://schemas.openxmlformats.org/drawingml/2006/main">
            <a:off x="6067425" y="1804988"/>
            <a:ext cx="5572125" cy="37147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02E07517-85C3-4BA7-ACB2-AE532B0CA3E2}"/>
              </a:ext>
            </a:extLst>
          </p:cNvPr>
          <p:cNvSpPr>
            <a:spLocks xmlns:a="http://schemas.openxmlformats.org/drawingml/2006/main" noGrp="1"/>
          </p:cNvSpPr>
          <p:nvPr/>
        </p:nvSpPr>
        <p:spPr>
          <a:xfrm xmlns:a="http://schemas.openxmlformats.org/drawingml/2006/main">
            <a:off x="628650" y="1866900"/>
            <a:ext cx="514350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1">
                <a:solidFill>
                  <a:srgbClr val="087E83"/>
                </a:solidFill>
                <a:latin typeface="Arial"/>
                <a:ea typeface="Arial"/>
                <a:cs typeface="Arial"/>
              </a:defRPr>
            </a:pPr>
            <a:r>
              <a:rPr sz="2850" b="1">
                <a:solidFill>
                  <a:srgbClr val="087E83"/>
                </a:solidFill>
                <a:latin typeface="Arial"/>
                <a:ea typeface="Arial"/>
                <a:cs typeface="Arial"/>
              </a:rPr>
              <a:t>Software and CAD provide a foundation for integration.</a:t>
            </a:r>
          </a:p>
        </p:txBody>
      </p:sp>
      <p:sp>
        <p:nvSpPr>
          <p:cNvPr id="5" name="">
            <a:extLst xmlns:a="http://schemas.openxmlformats.org/drawingml/2006/main">
              <a:ext uri="{FF2B5EF4-FFF2-40B4-BE49-F238E27FC236}">
                <a16:creationId xmlns:a16="http://schemas.microsoft.com/office/drawing/2014/main" id="{9A29F59C-DE67-4E74-BB28-96C205644738}"/>
              </a:ext>
            </a:extLst>
          </p:cNvPr>
          <p:cNvSpPr>
            <a:spLocks xmlns:a="http://schemas.openxmlformats.org/drawingml/2006/main" noGrp="1"/>
          </p:cNvSpPr>
          <p:nvPr/>
        </p:nvSpPr>
        <p:spPr>
          <a:xfrm xmlns:a="http://schemas.openxmlformats.org/drawingml/2006/main">
            <a:off x="628650" y="3514725"/>
            <a:ext cx="4991100" cy="1647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223B49"/>
                </a:solidFill>
                <a:latin typeface="Arial"/>
                <a:ea typeface="Arial"/>
                <a:cs typeface="Arial"/>
              </a:defRPr>
            </a:pPr>
            <a:r>
              <a:rPr sz="2175" b="0">
                <a:solidFill>
                  <a:srgbClr val="223B49"/>
                </a:solidFill>
                <a:latin typeface="Arial"/>
                <a:ea typeface="Arial"/>
                <a:cs typeface="Arial"/>
              </a:rPr>
              <a:t>The next milestone is a repeatable physical journey with measured safety, reliability and user feedback.</a:t>
            </a:r>
          </a:p>
        </p:txBody>
      </p:sp>
      <p:sp>
        <p:nvSpPr>
          <p:cNvPr id="6" name="">
            <a:extLst xmlns:a="http://schemas.openxmlformats.org/drawingml/2006/main">
              <a:ext uri="{FF2B5EF4-FFF2-40B4-BE49-F238E27FC236}">
                <a16:creationId xmlns:a16="http://schemas.microsoft.com/office/drawing/2014/main" id="{A31195FF-9540-48D6-B329-96105CDFA5FB}"/>
              </a:ext>
            </a:extLst>
          </p:cNvPr>
          <p:cNvSpPr>
            <a:spLocks xmlns:a="http://schemas.openxmlformats.org/drawingml/2006/main" noGrp="1"/>
          </p:cNvSpPr>
          <p:nvPr/>
        </p:nvSpPr>
        <p:spPr>
          <a:xfrm xmlns:a="http://schemas.openxmlformats.org/drawingml/2006/main">
            <a:off x="628650" y="5695950"/>
            <a:ext cx="4667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183447"/>
                </a:solidFill>
                <a:latin typeface="Arial"/>
                <a:ea typeface="Arial"/>
                <a:cs typeface="Arial"/>
              </a:defRPr>
            </a:pPr>
            <a:r>
              <a:rPr sz="1875" b="1">
                <a:solidFill>
                  <a:srgbClr val="183447"/>
                </a:solidFill>
                <a:latin typeface="Arial"/>
                <a:ea typeface="Arial"/>
                <a:cs typeface="Arial"/>
              </a:rPr>
              <a:t>Final demonstration result:</a:t>
            </a:r>
          </a:p>
        </p:txBody>
      </p:sp>
      <p:sp>
        <p:nvSpPr>
          <p:cNvPr id="7" name="">
            <a:extLst xmlns:a="http://schemas.openxmlformats.org/drawingml/2006/main">
              <a:ext uri="{FF2B5EF4-FFF2-40B4-BE49-F238E27FC236}">
                <a16:creationId xmlns:a16="http://schemas.microsoft.com/office/drawing/2014/main" id="{70C736B7-B4B6-4A9C-B47D-E4A39638F8E7}"/>
              </a:ext>
            </a:extLst>
          </p:cNvPr>
          <p:cNvSpPr>
            <a:spLocks xmlns:a="http://schemas.openxmlformats.org/drawingml/2006/main" noGrp="1"/>
          </p:cNvSpPr>
          <p:nvPr/>
        </p:nvSpPr>
        <p:spPr>
          <a:xfrm xmlns:a="http://schemas.openxmlformats.org/drawingml/2006/main">
            <a:off x="628650" y="6124575"/>
            <a:ext cx="10191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52666F"/>
                </a:solidFill>
                <a:latin typeface="Arial"/>
                <a:ea typeface="Arial"/>
                <a:cs typeface="Arial"/>
              </a:defRPr>
            </a:pPr>
            <a:r>
              <a:rPr sz="1950" b="0">
                <a:solidFill>
                  <a:srgbClr val="52666F"/>
                </a:solidFill>
                <a:latin typeface="Arial"/>
                <a:ea typeface="Arial"/>
                <a:cs typeface="Arial"/>
              </a:rPr>
              <a:t>________________________________________</a:t>
            </a:r>
          </a:p>
        </p:txBody>
      </p:sp>
    </p:spTree>
    <p:extLst>
      <p:ext uri="{BB962C8B-B14F-4D97-AF65-F5344CB8AC3E}">
        <p14:creationId xmlns:p14="http://schemas.microsoft.com/office/powerpoint/2010/main" val="88156154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2026-09-25T07:41:06.0190000Z</dcterms:created>
  <dcterms:modified xsi:type="dcterms:W3CDTF">2026-09-25T07:41:06.0190000Z</dcterms:modified>
</coreProperties>
</file>