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645b2119104019" /><Relationship Type="http://schemas.openxmlformats.org/officeDocument/2006/relationships/extended-properties" Target="/docProps/app.xml" Id="R1b9767c5f43e4073" /><Relationship Type="http://schemas.openxmlformats.org/officeDocument/2006/relationships/officeDocument" Target="/ppt/presentation.xml" Id="R4847228f31c24b5a" /></Relationships>
</file>

<file path=ppt/presentation.xml><?xml version="1.0" encoding="utf-8"?>
<p:presentation xmlns:p="http://schemas.openxmlformats.org/presentationml/2006/main">
  <p:sldMasterIdLst>
    <p:sldMasterId xmlns:r="http://schemas.openxmlformats.org/officeDocument/2006/relationships" id="2147483648" r:id="R5a5204f2f4974723"/>
  </p:sldMasterIdLst>
  <p:notesMasterIdLst>
    <p:notesMasterId xmlns:r="http://schemas.openxmlformats.org/officeDocument/2006/relationships" r:id="R2ed042b9cd3a48c7"/>
  </p:notesMasterIdLst>
  <p:sldIdLst>
    <p:sldId xmlns:r="http://schemas.openxmlformats.org/officeDocument/2006/relationships" id="256" r:id="Rb1aa80f0d01940a0"/>
    <p:sldId xmlns:r="http://schemas.openxmlformats.org/officeDocument/2006/relationships" id="257" r:id="Rf5ada409a04141f3"/>
    <p:sldId xmlns:r="http://schemas.openxmlformats.org/officeDocument/2006/relationships" id="258" r:id="R54be0dde5ce84f8d"/>
    <p:sldId xmlns:r="http://schemas.openxmlformats.org/officeDocument/2006/relationships" id="259" r:id="R244f5fed2c394a4d"/>
    <p:sldId xmlns:r="http://schemas.openxmlformats.org/officeDocument/2006/relationships" id="260" r:id="R33f4b34cd0474dba"/>
    <p:sldId xmlns:r="http://schemas.openxmlformats.org/officeDocument/2006/relationships" id="261" r:id="Rb84b92a69afd4b67"/>
    <p:sldId xmlns:r="http://schemas.openxmlformats.org/officeDocument/2006/relationships" id="262" r:id="Rc6e1c9b7bd60463a"/>
    <p:sldId xmlns:r="http://schemas.openxmlformats.org/officeDocument/2006/relationships" id="263" r:id="R49fb97d92b37438e"/>
    <p:sldId xmlns:r="http://schemas.openxmlformats.org/officeDocument/2006/relationships" id="264" r:id="Rb7329223e413484c"/>
    <p:sldId xmlns:r="http://schemas.openxmlformats.org/officeDocument/2006/relationships" id="265" r:id="Re1c037ab82324987"/>
    <p:sldId xmlns:r="http://schemas.openxmlformats.org/officeDocument/2006/relationships" id="266" r:id="R5995f30f534a41e9"/>
    <p:sldId xmlns:r="http://schemas.openxmlformats.org/officeDocument/2006/relationships" id="267" r:id="Rf1c00bbb937247c4"/>
    <p:sldId xmlns:r="http://schemas.openxmlformats.org/officeDocument/2006/relationships" id="268" r:id="R5d99cae1afb94f84"/>
    <p:sldId xmlns:r="http://schemas.openxmlformats.org/officeDocument/2006/relationships" id="269" r:id="Reff9530df85f44dd"/>
    <p:sldId xmlns:r="http://schemas.openxmlformats.org/officeDocument/2006/relationships" id="270" r:id="Rf11dfb53a5b94e0f"/>
    <p:sldId xmlns:r="http://schemas.openxmlformats.org/officeDocument/2006/relationships" id="271" r:id="Rbb723f8ea3ad42e7"/>
    <p:sldId xmlns:r="http://schemas.openxmlformats.org/officeDocument/2006/relationships" id="272" r:id="R0f5cd7048f774d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308f0ae3474a50" /><Relationship Type="http://schemas.openxmlformats.org/officeDocument/2006/relationships/slideMaster" Target="/ppt/slideMasters/slideMaster1.xml" Id="R5a5204f2f4974723" /><Relationship Type="http://schemas.openxmlformats.org/officeDocument/2006/relationships/notesMaster" Target="/ppt/notesMasters/notesMaster1.xml" Id="R2ed042b9cd3a48c7" /><Relationship Type="http://schemas.openxmlformats.org/officeDocument/2006/relationships/presProps" Target="/ppt/presProps.xml" Id="R2ce6a2ae23234a60" /><Relationship Type="http://schemas.openxmlformats.org/officeDocument/2006/relationships/tableStyles" Target="/ppt/tableStyles.xml" Id="R1776bf12d1774903" /><Relationship Type="http://schemas.openxmlformats.org/officeDocument/2006/relationships/slide" Target="/ppt/slides/slide1.xml" Id="Rb1aa80f0d01940a0" /><Relationship Type="http://schemas.openxmlformats.org/officeDocument/2006/relationships/slide" Target="/ppt/slides/slide2.xml" Id="Rf5ada409a04141f3" /><Relationship Type="http://schemas.openxmlformats.org/officeDocument/2006/relationships/slide" Target="/ppt/slides/slide3.xml" Id="R54be0dde5ce84f8d" /><Relationship Type="http://schemas.openxmlformats.org/officeDocument/2006/relationships/slide" Target="/ppt/slides/slide4.xml" Id="R244f5fed2c394a4d" /><Relationship Type="http://schemas.openxmlformats.org/officeDocument/2006/relationships/slide" Target="/ppt/slides/slide5.xml" Id="R33f4b34cd0474dba" /><Relationship Type="http://schemas.openxmlformats.org/officeDocument/2006/relationships/slide" Target="/ppt/slides/slide6.xml" Id="Rb84b92a69afd4b67" /><Relationship Type="http://schemas.openxmlformats.org/officeDocument/2006/relationships/slide" Target="/ppt/slides/slide7.xml" Id="Rc6e1c9b7bd60463a" /><Relationship Type="http://schemas.openxmlformats.org/officeDocument/2006/relationships/slide" Target="/ppt/slides/slide8.xml" Id="R49fb97d92b37438e" /><Relationship Type="http://schemas.openxmlformats.org/officeDocument/2006/relationships/slide" Target="/ppt/slides/slide9.xml" Id="Rb7329223e413484c" /><Relationship Type="http://schemas.openxmlformats.org/officeDocument/2006/relationships/slide" Target="/ppt/slides/slide10.xml" Id="Re1c037ab82324987" /><Relationship Type="http://schemas.openxmlformats.org/officeDocument/2006/relationships/slide" Target="/ppt/slides/slide11.xml" Id="R5995f30f534a41e9" /><Relationship Type="http://schemas.openxmlformats.org/officeDocument/2006/relationships/slide" Target="/ppt/slides/slide12.xml" Id="Rf1c00bbb937247c4" /><Relationship Type="http://schemas.openxmlformats.org/officeDocument/2006/relationships/slide" Target="/ppt/slides/slide13.xml" Id="R5d99cae1afb94f84" /><Relationship Type="http://schemas.openxmlformats.org/officeDocument/2006/relationships/slide" Target="/ppt/slides/slide14.xml" Id="Reff9530df85f44dd" /><Relationship Type="http://schemas.openxmlformats.org/officeDocument/2006/relationships/slide" Target="/ppt/slides/slide15.xml" Id="Rf11dfb53a5b94e0f" /><Relationship Type="http://schemas.openxmlformats.org/officeDocument/2006/relationships/slide" Target="/ppt/slides/slide16.xml" Id="Rbb723f8ea3ad42e7" /><Relationship Type="http://schemas.openxmlformats.org/officeDocument/2006/relationships/slide" Target="/ppt/slides/slide17.xml" Id="R0f5cd7048f774d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35e85a9eca4d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a2ee7f2d924b22" /><Relationship Type="http://schemas.openxmlformats.org/officeDocument/2006/relationships/notesMaster" Target="/ppt/notesMasters/notesMaster1.xml" Id="Rb57e4faee6134e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c84a1e3bd4a82" /><Relationship Type="http://schemas.openxmlformats.org/officeDocument/2006/relationships/notesMaster" Target="/ppt/notesMasters/notesMaster1.xml" Id="Rc7831f858adf48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bcafc696f347fd" /><Relationship Type="http://schemas.openxmlformats.org/officeDocument/2006/relationships/notesMaster" Target="/ppt/notesMasters/notesMaster1.xml" Id="R1d97e650827540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f3433579904c05" /><Relationship Type="http://schemas.openxmlformats.org/officeDocument/2006/relationships/notesMaster" Target="/ppt/notesMasters/notesMaster1.xml" Id="R82e9a6bbe5bd43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23d7ccf7884afe" /><Relationship Type="http://schemas.openxmlformats.org/officeDocument/2006/relationships/notesMaster" Target="/ppt/notesMasters/notesMaster1.xml" Id="R9d30b54b47c94b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77c6b921234cbe" /><Relationship Type="http://schemas.openxmlformats.org/officeDocument/2006/relationships/notesMaster" Target="/ppt/notesMasters/notesMaster1.xml" Id="Rf686e5fa9dda4e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9576ab91c8469e" /><Relationship Type="http://schemas.openxmlformats.org/officeDocument/2006/relationships/notesMaster" Target="/ppt/notesMasters/notesMaster1.xml" Id="Rd25f75b0c17743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2fb69024ba479c" /><Relationship Type="http://schemas.openxmlformats.org/officeDocument/2006/relationships/notesMaster" Target="/ppt/notesMasters/notesMaster1.xml" Id="Rcf95fc3682874e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42162c1c3249dd" /><Relationship Type="http://schemas.openxmlformats.org/officeDocument/2006/relationships/notesMaster" Target="/ppt/notesMasters/notesMaster1.xml" Id="R9350c8b21da142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79c2d6202c475f" /><Relationship Type="http://schemas.openxmlformats.org/officeDocument/2006/relationships/notesMaster" Target="/ppt/notesMasters/notesMaster1.xml" Id="R3ab4a8c8514947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46a2a6516240f1" /><Relationship Type="http://schemas.openxmlformats.org/officeDocument/2006/relationships/notesMaster" Target="/ppt/notesMasters/notesMaster1.xml" Id="R37d9ca7000f649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3a8413939d41e3" /><Relationship Type="http://schemas.openxmlformats.org/officeDocument/2006/relationships/notesMaster" Target="/ppt/notesMasters/notesMaster1.xml" Id="R0c59358c13d64c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369c1e665b48ba" /><Relationship Type="http://schemas.openxmlformats.org/officeDocument/2006/relationships/notesMaster" Target="/ppt/notesMasters/notesMaster1.xml" Id="R16855c6991bb44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ade09292564e52" /><Relationship Type="http://schemas.openxmlformats.org/officeDocument/2006/relationships/notesMaster" Target="/ppt/notesMasters/notesMaster1.xml" Id="Rfeecf9b54e274d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021381a7b9481b" /><Relationship Type="http://schemas.openxmlformats.org/officeDocument/2006/relationships/notesMaster" Target="/ppt/notesMasters/notesMaster1.xml" Id="R5ab373d0cd9b48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ed688b44044ed5" /><Relationship Type="http://schemas.openxmlformats.org/officeDocument/2006/relationships/notesMaster" Target="/ppt/notesMasters/notesMaster1.xml" Id="R360273d39b4d40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ff2d6677db4c4a" /><Relationship Type="http://schemas.openxmlformats.org/officeDocument/2006/relationships/notesMaster" Target="/ppt/notesMasters/notesMaster1.xml" Id="R23665001f02a47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15 seconds.</a:t>
            </a:r>
          </a:p>
          <a:p xmlns:a="http://schemas.openxmlformats.org/drawingml/2006/main">
            <a:r>
              <a:t>Presenter cue: Introduce the project and institution. Confirm the final team name, members and staff-in-charge before submission.</a:t>
            </a:r>
          </a:p>
          <a:p xmlns:a="http://schemas.openxmlformats.org/drawingml/2006/main">
            <a:r>
              <a:t>Primary source: ../SG_GoAssist_Prototype_Action_Plan.pdf, p. 1. Institution supplied for this draft. The team name remains provisional.</a:t>
            </a:r>
          </a:p>
          <a:p xmlns:a="http://schemas.openxmlformats.org/drawingml/2006/main">
            <a:r>
              <a:t>Core slides 1–8 total 300 seconds. All following slides are Q&amp;A appendices, outside the timed presentation. A separate video of up to 5 minutes is allowed and remains to be produced. Presenter: ____________________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30 seconds.</a:t>
            </a:r>
          </a:p>
          <a:p xmlns:a="http://schemas.openxmlformats.org/drawingml/2006/main">
            <a:r>
              <a:t>Presenter cue: Explain that requests must lead to understandable, verified assistance. Include passengers who ask for extra time or guidance without a visible mobility aid. State the controlled-prototype boundary.</a:t>
            </a:r>
          </a:p>
          <a:p xmlns:a="http://schemas.openxmlformats.org/drawingml/2006/main">
            <a:r>
              <a:t>Primary source: ../SG_GoAssist_Prototype_Action_Plan.pdf, pp. 1–3, 13.</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Compare design tradeoffs, not measured impact. Manual assistance provides an operator baseline. Camera-only triggering cannot establish consent. Explain why explicit intent with perception and deterministic checks is the selected prototype method.</a:t>
            </a:r>
          </a:p>
          <a:p xmlns:a="http://schemas.openxmlformats.org/drawingml/2006/main">
            <a:r>
              <a:t>Primary source: ../SG_GoAssist_Prototype_Action_Plan.pdf, pp. 2, 5–9, 13. Comparison is the team design rationale, not a completed experimental comparison.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Walk through the four layers. Emphasize that perception supports a confirmed request. The controller repeats safety checks during movement and verifies deployed and stowed positions.</a:t>
            </a:r>
          </a:p>
          <a:p xmlns:a="http://schemas.openxmlformats.org/drawingml/2006/main">
            <a:r>
              <a:t>Primary source: ../SG_GoAssist_Prototype_Action_Plan.pdf, pp. 3, 9; docs/grand-challenge-integrated-prototype.md, Safety policy; docs/task-requirements-traceability.md. Software logic exists, but physical integration acceptance remains incomplete.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Separate reused technologies from the team work. The proposed contribution is the combined intent-to-outcome assistance workflow and its safety/feedback integration. Avoid world-first claims. Judges assess only original elements, so retain implementation and authorship evidence.</a:t>
            </a:r>
          </a:p>
          <a:p xmlns:a="http://schemas.openxmlformats.org/drawingml/2006/main">
            <a:r>
              <a:t>Official guideline: ../SGBTGC 2026 - IHL Updates 18 Aug 2026.pdf, pp. 16–18 (18 August 2026 update). Originality and Creativity carries 30%. Primary source: ../SG_GoAssist_Prototype_Action_Plan.pdf, pp. 2–3, 9; docs/grand-challenge-integrated-prototype.md; cad/VALIDATION_v2.md. These are scoped project contributions, not a prior-art novelty assessment.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60 seconds.</a:t>
            </a:r>
          </a:p>
          <a:p xmlns:a="http://schemas.openxmlformats.org/drawingml/2006/main">
            <a:r>
              <a:t>Presenter cue: Distinguish software, CAD and the sensor bench. Software has documented automated tests and fixture/mock operation. The CAD check is discrete packaging evidence. Explain the 27 valid sensor samples and that accuracy is unverified. Name the VL53L0X versus VL53L5CX mismatch and the remaining physical and ML evidence.</a:t>
            </a:r>
          </a:p>
          <a:p xmlns:a="http://schemas.openxmlformats.org/drawingml/2006/main">
            <a:r>
              <a:t>Sources: docs/feature-readiness-matrix.md; docs/grand-challenge-integrated-prototype.md; cad/VALIDATION_v2.md; hardware/esp32-s3-tof-test/README.md; artifacts/apas-tof-build/serial-powercycle-test.txt; hardware/edge-observer/ml1/README.md. Image: cad/Punggol_WeRide_Robobus_v2_deployed.png, project CAD render. No full software rerun or physical integration trial performed for this draft.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State these are planned targets. Blank fields await measured results. Compare the same journey with manual assistance and collect consented feedback. Explain that physical trials must demonstrate both successful assistance and safe failure responses.</a:t>
            </a:r>
          </a:p>
          <a:p xmlns:a="http://schemas.openxmlformats.org/drawingml/2006/main">
            <a:r>
              <a:t>Primary source: ../SG_GoAssist_Prototype_Action_Plan.pdf, pp. 12–13. Original targets shown. Later docs/task-requirements-traceability.md adds 30 requests per explicit source and acknowledgement P95 under 2 seconds. Confirm the final protocol. Results intentionally blank.</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35 seconds.</a:t>
            </a:r>
          </a:p>
          <a:p xmlns:a="http://schemas.openxmlformats.org/drawingml/2006/main">
            <a:r>
              <a:t>Presenter cue: Close with the next milestone: a repeatable physical journey supported by measured evidence. State official dates carefully. The report and poster are due in September, while slideshow/video submission is in October. The organiser labels dates tentative.</a:t>
            </a:r>
          </a:p>
          <a:p xmlns:a="http://schemas.openxmlformats.org/drawingml/2006/main">
            <a:r>
              <a:t>Official guideline: ../SGBTGC 2026 - IHL Updates 18 Aug 2026.pdf, pp. 16–18 (18 August 2026 update). pp. 16–17. Action-plan 27 September content freeze is an internal planning target, not an organiser deadline. Main event permits 5-minute presentation, up to 5-minute video and 5-minute Q&amp;A. Separate video remains incomplete.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3. The original nine steps are request, recognise, prepare, dock, mark zone, check zone, deploy, board and complete. Current physical end-to-end completion has not been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5, 9; docs/grand-challenge-integrated-prototype.md, Safety policy and Portable build; docs/task-requirements-traceability.md, SR-01–04.</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Sources: README.md, Integrated assistance demonstrator and Private hybrid assistant; docs/grand-challenge-integrated-prototype.md; docs/feature-readiness-matrix.md. No assertion that all tests were rerun for this report.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Sources: hardware/esp32-s3-tof-test/README.md, Verification on 23 September 2026; artifacts/apas-tof-build/serial-powercycle-test.txt; hardware/INTEGRATED_PROTOTYPE.md. Measurements are sensor-reported values without a known-distance accuracy comparison.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5–8; hardware/edge-observer/README.md; hardware/edge-observer/ml1/README.md; hardware/edge-observer/ml1/LABEL_GUIDE.md. Dataset scope differs: original outline 300–500 ML1 images, later README 800–1,200. Team should confirm controlled-demo scope before capture. No measured trained-model evidence located in reviewed materials.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12. Status derives from reviewed repository evidence as of 25 September 2026. D1/D3 software availability does not establish completed hardware acceptance.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12; cad/VALIDATION_v2.md; hardware/INTEGRATED_PROTOTYPE.md. The draft report and this deck contribute to D9, but submission acceptance is not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13. Obtain consent before any participant study. If participants are classmates only, describe scenario testing rather than validation by disabled users. Compare the same scripted journey under manual assistance and GoAssist. Blank fields intentionally await actual evidence.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12, 14. Cost fields and final evidence links intentionally blank. These are editable working fields, not zero costs or completed submissions.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ae3805470948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05eb047a774ad0" /><Relationship Type="http://schemas.openxmlformats.org/officeDocument/2006/relationships/slideLayout" Target="/ppt/slideLayouts/slideLayout1.xml" Id="Rf62a6bde1f5646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2a6bde1f5646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7ec928950f4cb3" /><Relationship Type="http://schemas.openxmlformats.org/officeDocument/2006/relationships/notesSlide" Target="/ppt/notesSlides/notesSlide1.xml" Id="R12afcbcc0ad942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06950bb8ab4045" /><Relationship Type="http://schemas.openxmlformats.org/officeDocument/2006/relationships/notesSlide" Target="/ppt/notesSlides/notesSlide2.xml" Id="Ra36d5a54c7cc4e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7248ab26c846b8" /><Relationship Type="http://schemas.openxmlformats.org/officeDocument/2006/relationships/notesSlide" Target="/ppt/notesSlides/notesSlide3.xml" Id="R0ce9ff4e1128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00624697504d01" /><Relationship Type="http://schemas.openxmlformats.org/officeDocument/2006/relationships/notesSlide" Target="/ppt/notesSlides/notesSlide4.xml" Id="R13f83201ed9549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6dfbbb8ae94fec" /><Relationship Type="http://schemas.openxmlformats.org/officeDocument/2006/relationships/notesSlide" Target="/ppt/notesSlides/notesSlide5.xml" Id="Ra76cf15a15d140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b599a942ce45e6" /><Relationship Type="http://schemas.openxmlformats.org/officeDocument/2006/relationships/image" Target="/ppt/media/image.png" Id="R895e636a19b34e0e" /><Relationship Type="http://schemas.openxmlformats.org/officeDocument/2006/relationships/notesSlide" Target="/ppt/notesSlides/notesSlide6.xml" Id="Ra3cdabb8e75e4e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54c941b7b14942" /><Relationship Type="http://schemas.openxmlformats.org/officeDocument/2006/relationships/notesSlide" Target="/ppt/notesSlides/notesSlide7.xml" Id="Rf5c32d9c8efe41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51698778f74f00" /><Relationship Type="http://schemas.openxmlformats.org/officeDocument/2006/relationships/notesSlide" Target="/ppt/notesSlides/notesSlide8.xml" Id="R185b3e06c34e49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992d8e5315437d" /><Relationship Type="http://schemas.openxmlformats.org/officeDocument/2006/relationships/notesSlide" Target="/ppt/notesSlides/notesSlide9.xml" Id="R7f6e327195da4a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0f85f9b1924b52" /><Relationship Type="http://schemas.openxmlformats.org/officeDocument/2006/relationships/notesSlide" Target="/ppt/notesSlides/notesSlide10.xml" Id="Rd413d14dc49941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3c2ec816f643bc" /><Relationship Type="http://schemas.openxmlformats.org/officeDocument/2006/relationships/notesSlide" Target="/ppt/notesSlides/notesSlide11.xml" Id="R1ca9164bd0f34d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3dcd35b9aa47fd" /><Relationship Type="http://schemas.openxmlformats.org/officeDocument/2006/relationships/notesSlide" Target="/ppt/notesSlides/notesSlide12.xml" Id="Rd2d70e16d08845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8d97f989cf4de1" /><Relationship Type="http://schemas.openxmlformats.org/officeDocument/2006/relationships/notesSlide" Target="/ppt/notesSlides/notesSlide13.xml" Id="Ra6100bc17d5443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f220c25ee0c44da" /><Relationship Type="http://schemas.openxmlformats.org/officeDocument/2006/relationships/notesSlide" Target="/ppt/notesSlides/notesSlide14.xml" Id="R0200c30ad3b84c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b7151a30c64b9c" /><Relationship Type="http://schemas.openxmlformats.org/officeDocument/2006/relationships/notesSlide" Target="/ppt/notesSlides/notesSlide15.xml" Id="Rdfebd0cfa22145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e0311f9a8604c89" /><Relationship Type="http://schemas.openxmlformats.org/officeDocument/2006/relationships/notesSlide" Target="/ppt/notesSlides/notesSlide16.xml" Id="R33aa385f0dde40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addc5f892547ea" /><Relationship Type="http://schemas.openxmlformats.org/officeDocument/2006/relationships/notesSlide" Target="/ppt/notesSlides/notesSlide17.xml" Id="R38c94d961efe4111" /></Relationships>
</file>

<file path=ppt/slides/slide1.xml><?xml version="1.0" encoding="utf-8"?>
<p:sld xmlns:p="http://schemas.openxmlformats.org/presentationml/2006/main">
  <p:cSld>
    <p:bg>
      <p:bgPr>
        <a:solidFill xmlns:a="http://schemas.openxmlformats.org/drawingml/2006/main">
          <a:srgbClr val="18344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539198-34DD-4128-A41F-994B6CC51E42}"/>
              </a:ext>
            </a:extLst>
          </p:cNvPr>
          <p:cNvSpPr>
            <a:spLocks xmlns:a="http://schemas.openxmlformats.org/drawingml/2006/main" noGrp="1"/>
          </p:cNvSpPr>
          <p:nvPr/>
        </p:nvSpPr>
        <p:spPr>
          <a:xfrm xmlns:a="http://schemas.openxmlformats.org/drawingml/2006/main">
            <a:off x="628650" y="6191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SG GoAssist</a:t>
            </a:r>
          </a:p>
        </p:txBody>
      </p:sp>
      <p:sp>
        <p:nvSpPr>
          <p:cNvPr id="2" name="">
            <a:extLst xmlns:a="http://schemas.openxmlformats.org/drawingml/2006/main">
              <a:ext uri="{FF2B5EF4-FFF2-40B4-BE49-F238E27FC236}">
                <a16:creationId xmlns:a16="http://schemas.microsoft.com/office/drawing/2014/main" id="{DFA1E95F-20AC-4C43-B82C-BB56C3AC5C97}"/>
              </a:ext>
            </a:extLst>
          </p:cNvPr>
          <p:cNvSpPr>
            <a:spLocks xmlns:a="http://schemas.openxmlformats.org/drawingml/2006/main" noGrp="1"/>
          </p:cNvSpPr>
          <p:nvPr/>
        </p:nvSpPr>
        <p:spPr>
          <a:xfrm xmlns:a="http://schemas.openxmlformats.org/drawingml/2006/main">
            <a:off x="657225" y="16954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Autonomous Passenger Assistance System</a:t>
            </a:r>
          </a:p>
        </p:txBody>
      </p:sp>
      <p:sp>
        <p:nvSpPr>
          <p:cNvPr id="3" name="">
            <a:extLst xmlns:a="http://schemas.openxmlformats.org/drawingml/2006/main">
              <a:ext uri="{FF2B5EF4-FFF2-40B4-BE49-F238E27FC236}">
                <a16:creationId xmlns:a16="http://schemas.microsoft.com/office/drawing/2014/main" id="{A344B8E2-A6DD-44F8-8A29-029D1FE2DF8B}"/>
              </a:ext>
            </a:extLst>
          </p:cNvPr>
          <p:cNvSpPr>
            <a:spLocks xmlns:a="http://schemas.openxmlformats.org/drawingml/2006/main" noGrp="1"/>
          </p:cNvSpPr>
          <p:nvPr/>
        </p:nvSpPr>
        <p:spPr>
          <a:xfrm xmlns:a="http://schemas.openxmlformats.org/drawingml/2006/main">
            <a:off x="657225" y="25241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8ED4D0"/>
                </a:solidFill>
                <a:latin typeface="Arial"/>
                <a:ea typeface="Arial"/>
                <a:cs typeface="Arial"/>
              </a:defRPr>
            </a:pPr>
            <a:r>
              <a:rPr sz="2175" b="0">
                <a:solidFill>
                  <a:srgbClr val="8ED4D0"/>
                </a:solidFill>
                <a:latin typeface="Arial"/>
                <a:ea typeface="Arial"/>
                <a:cs typeface="Arial"/>
              </a:rPr>
              <a:t>National University of Singapore (NUS)</a:t>
            </a:r>
          </a:p>
        </p:txBody>
      </p:sp>
      <p:sp>
        <p:nvSpPr>
          <p:cNvPr id="4" name="">
            <a:extLst xmlns:a="http://schemas.openxmlformats.org/drawingml/2006/main">
              <a:ext uri="{FF2B5EF4-FFF2-40B4-BE49-F238E27FC236}">
                <a16:creationId xmlns:a16="http://schemas.microsoft.com/office/drawing/2014/main" id="{EAA01E31-FF30-4AF1-8848-6A831B83224E}"/>
              </a:ext>
            </a:extLst>
          </p:cNvPr>
          <p:cNvSpPr>
            <a:spLocks xmlns:a="http://schemas.openxmlformats.org/drawingml/2006/main" noGrp="1"/>
          </p:cNvSpPr>
          <p:nvPr/>
        </p:nvSpPr>
        <p:spPr>
          <a:xfrm xmlns:a="http://schemas.openxmlformats.org/drawingml/2006/main">
            <a:off x="657225" y="3114675"/>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Team: SG GoAssist (provisional)</a:t>
            </a:r>
          </a:p>
        </p:txBody>
      </p:sp>
      <p:sp>
        <p:nvSpPr>
          <p:cNvPr id="5" name="">
            <a:extLst xmlns:a="http://schemas.openxmlformats.org/drawingml/2006/main">
              <a:ext uri="{FF2B5EF4-FFF2-40B4-BE49-F238E27FC236}">
                <a16:creationId xmlns:a16="http://schemas.microsoft.com/office/drawing/2014/main" id="{C86D82A3-64E5-49E6-BF92-CA6A2A23DA18}"/>
              </a:ext>
            </a:extLst>
          </p:cNvPr>
          <p:cNvSpPr>
            <a:spLocks xmlns:a="http://schemas.openxmlformats.org/drawingml/2006/main" noGrp="1"/>
          </p:cNvSpPr>
          <p:nvPr/>
        </p:nvSpPr>
        <p:spPr>
          <a:xfrm xmlns:a="http://schemas.openxmlformats.org/drawingml/2006/main">
            <a:off x="657225" y="4581525"/>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Members: ______________________________</a:t>
            </a:r>
          </a:p>
        </p:txBody>
      </p:sp>
      <p:sp>
        <p:nvSpPr>
          <p:cNvPr id="6" name="">
            <a:extLst xmlns:a="http://schemas.openxmlformats.org/drawingml/2006/main">
              <a:ext uri="{FF2B5EF4-FFF2-40B4-BE49-F238E27FC236}">
                <a16:creationId xmlns:a16="http://schemas.microsoft.com/office/drawing/2014/main" id="{799C6E67-7DC4-4621-ABF4-56740494AA36}"/>
              </a:ext>
            </a:extLst>
          </p:cNvPr>
          <p:cNvSpPr>
            <a:spLocks xmlns:a="http://schemas.openxmlformats.org/drawingml/2006/main" noGrp="1"/>
          </p:cNvSpPr>
          <p:nvPr/>
        </p:nvSpPr>
        <p:spPr>
          <a:xfrm xmlns:a="http://schemas.openxmlformats.org/drawingml/2006/main">
            <a:off x="657225" y="51054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Staff-in-charge: __________________________</a:t>
            </a:r>
          </a:p>
        </p:txBody>
      </p:sp>
      <p:sp>
        <p:nvSpPr>
          <p:cNvPr id="7" name="">
            <a:extLst xmlns:a="http://schemas.openxmlformats.org/drawingml/2006/main">
              <a:ext uri="{FF2B5EF4-FFF2-40B4-BE49-F238E27FC236}">
                <a16:creationId xmlns:a16="http://schemas.microsoft.com/office/drawing/2014/main" id="{CDD24D0D-A4E1-4580-A09A-BBD0A4E6C80D}"/>
              </a:ext>
            </a:extLst>
          </p:cNvPr>
          <p:cNvSpPr>
            <a:spLocks xmlns:a="http://schemas.openxmlformats.org/drawingml/2006/main" noGrp="1"/>
          </p:cNvSpPr>
          <p:nvPr/>
        </p:nvSpPr>
        <p:spPr>
          <a:xfrm xmlns:a="http://schemas.openxmlformats.org/drawingml/2006/main">
            <a:off x="657225" y="59531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BD0D7"/>
                </a:solidFill>
                <a:latin typeface="Arial"/>
                <a:ea typeface="Arial"/>
                <a:cs typeface="Arial"/>
              </a:defRPr>
            </a:pPr>
            <a:r>
              <a:rPr sz="1725" b="0">
                <a:solidFill>
                  <a:srgbClr val="BBD0D7"/>
                </a:solidFill>
                <a:latin typeface="Arial"/>
                <a:ea typeface="Arial"/>
                <a:cs typeface="Arial"/>
              </a:rPr>
              <a:t>Draft progress as of 25 September 2026</a:t>
            </a:r>
          </a:p>
        </p:txBody>
      </p:sp>
    </p:spTree>
    <p:extLst>
      <p:ext uri="{BB962C8B-B14F-4D97-AF65-F5344CB8AC3E}">
        <p14:creationId xmlns:p14="http://schemas.microsoft.com/office/powerpoint/2010/main" val="4582599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85C81E-9A5F-4FE7-BAF1-AC852862CEA5}"/>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Problem and project objective</a:t>
            </a:r>
          </a:p>
        </p:txBody>
      </p:sp>
      <p:sp>
        <p:nvSpPr>
          <p:cNvPr id="2" name="">
            <a:extLst xmlns:a="http://schemas.openxmlformats.org/drawingml/2006/main">
              <a:ext uri="{FF2B5EF4-FFF2-40B4-BE49-F238E27FC236}">
                <a16:creationId xmlns:a16="http://schemas.microsoft.com/office/drawing/2014/main" id="{869A5BB5-FE15-4778-813C-3A058E9D2381}"/>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A controlled prototype for accessible boarding and alighting</a:t>
            </a:r>
          </a:p>
        </p:txBody>
      </p:sp>
      <p:sp>
        <p:nvSpPr>
          <p:cNvPr id="3" name="">
            <a:extLst xmlns:a="http://schemas.openxmlformats.org/drawingml/2006/main">
              <a:ext uri="{FF2B5EF4-FFF2-40B4-BE49-F238E27FC236}">
                <a16:creationId xmlns:a16="http://schemas.microsoft.com/office/drawing/2014/main" id="{42E6B396-27EE-424F-85B8-405D7F2F7CCC}"/>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84A1138-DACE-4E9C-9B66-0A05669BB5E4}"/>
              </a:ext>
            </a:extLst>
          </p:cNvPr>
          <p:cNvSpPr>
            <a:spLocks xmlns:a="http://schemas.openxmlformats.org/drawingml/2006/main" noGrp="1"/>
          </p:cNvSpPr>
          <p:nvPr/>
        </p:nvSpPr>
        <p:spPr>
          <a:xfrm xmlns:a="http://schemas.openxmlformats.org/drawingml/2006/main">
            <a:off x="628650" y="19812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need</a:t>
            </a:r>
          </a:p>
        </p:txBody>
      </p:sp>
      <p:sp>
        <p:nvSpPr>
          <p:cNvPr id="5" name="">
            <a:extLst xmlns:a="http://schemas.openxmlformats.org/drawingml/2006/main">
              <a:ext uri="{FF2B5EF4-FFF2-40B4-BE49-F238E27FC236}">
                <a16:creationId xmlns:a16="http://schemas.microsoft.com/office/drawing/2014/main" id="{0F8BB27B-32EE-4FBD-8A81-0491BEC2AD06}"/>
              </a:ext>
            </a:extLst>
          </p:cNvPr>
          <p:cNvSpPr>
            <a:spLocks xmlns:a="http://schemas.openxmlformats.org/drawingml/2006/main" noGrp="1"/>
          </p:cNvSpPr>
          <p:nvPr/>
        </p:nvSpPr>
        <p:spPr>
          <a:xfrm xmlns:a="http://schemas.openxmlformats.org/drawingml/2006/main">
            <a:off x="628650" y="23812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 clear way to request help and understand when boarding or alighting can proceed.</a:t>
            </a:r>
          </a:p>
        </p:txBody>
      </p:sp>
      <p:sp>
        <p:nvSpPr>
          <p:cNvPr id="6" name="">
            <a:extLst xmlns:a="http://schemas.openxmlformats.org/drawingml/2006/main">
              <a:ext uri="{FF2B5EF4-FFF2-40B4-BE49-F238E27FC236}">
                <a16:creationId xmlns:a16="http://schemas.microsoft.com/office/drawing/2014/main" id="{85CEA913-A650-48F5-BD85-ABCF184632DA}"/>
              </a:ext>
            </a:extLst>
          </p:cNvPr>
          <p:cNvSpPr>
            <a:spLocks xmlns:a="http://schemas.openxmlformats.org/drawingml/2006/main" noGrp="1"/>
          </p:cNvSpPr>
          <p:nvPr/>
        </p:nvSpPr>
        <p:spPr>
          <a:xfrm xmlns:a="http://schemas.openxmlformats.org/drawingml/2006/main">
            <a:off x="628650" y="31623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Project objective</a:t>
            </a:r>
          </a:p>
        </p:txBody>
      </p:sp>
      <p:sp>
        <p:nvSpPr>
          <p:cNvPr id="7" name="">
            <a:extLst xmlns:a="http://schemas.openxmlformats.org/drawingml/2006/main">
              <a:ext uri="{FF2B5EF4-FFF2-40B4-BE49-F238E27FC236}">
                <a16:creationId xmlns:a16="http://schemas.microsoft.com/office/drawing/2014/main" id="{4342D966-05EC-443C-9BF3-BC5E551BB5D3}"/>
              </a:ext>
            </a:extLst>
          </p:cNvPr>
          <p:cNvSpPr>
            <a:spLocks xmlns:a="http://schemas.openxmlformats.org/drawingml/2006/main" noGrp="1"/>
          </p:cNvSpPr>
          <p:nvPr/>
        </p:nvSpPr>
        <p:spPr>
          <a:xfrm xmlns:a="http://schemas.openxmlformats.org/drawingml/2006/main">
            <a:off x="628650" y="35623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Complete one repeatable journey from explicit request to acknowledgement, safe assistance and verified completion.</a:t>
            </a:r>
          </a:p>
        </p:txBody>
      </p:sp>
      <p:sp>
        <p:nvSpPr>
          <p:cNvPr id="8" name="">
            <a:extLst xmlns:a="http://schemas.openxmlformats.org/drawingml/2006/main">
              <a:ext uri="{FF2B5EF4-FFF2-40B4-BE49-F238E27FC236}">
                <a16:creationId xmlns:a16="http://schemas.microsoft.com/office/drawing/2014/main" id="{EE2D3112-0EB9-4E3D-A124-880566523BAF}"/>
              </a:ext>
            </a:extLst>
          </p:cNvPr>
          <p:cNvSpPr>
            <a:spLocks xmlns:a="http://schemas.openxmlformats.org/drawingml/2006/main" noGrp="1"/>
          </p:cNvSpPr>
          <p:nvPr/>
        </p:nvSpPr>
        <p:spPr>
          <a:xfrm xmlns:a="http://schemas.openxmlformats.org/drawingml/2006/main">
            <a:off x="628650" y="43434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Inclusive scope</a:t>
            </a:r>
          </a:p>
        </p:txBody>
      </p:sp>
      <p:sp>
        <p:nvSpPr>
          <p:cNvPr id="9" name="">
            <a:extLst xmlns:a="http://schemas.openxmlformats.org/drawingml/2006/main">
              <a:ext uri="{FF2B5EF4-FFF2-40B4-BE49-F238E27FC236}">
                <a16:creationId xmlns:a16="http://schemas.microsoft.com/office/drawing/2014/main" id="{D2F5763E-C211-4277-8EAF-1F5EAE9C8616}"/>
              </a:ext>
            </a:extLst>
          </p:cNvPr>
          <p:cNvSpPr>
            <a:spLocks xmlns:a="http://schemas.openxmlformats.org/drawingml/2006/main" noGrp="1"/>
          </p:cNvSpPr>
          <p:nvPr/>
        </p:nvSpPr>
        <p:spPr>
          <a:xfrm xmlns:a="http://schemas.openxmlformats.org/drawingml/2006/main">
            <a:off x="628650" y="47434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Ramp assistance, extra time and audio, visual or haptic guidance based on the passenger’s choice.</a:t>
            </a:r>
          </a:p>
        </p:txBody>
      </p:sp>
    </p:spTree>
    <p:extLst>
      <p:ext uri="{BB962C8B-B14F-4D97-AF65-F5344CB8AC3E}">
        <p14:creationId xmlns:p14="http://schemas.microsoft.com/office/powerpoint/2010/main" val="2087883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779D51-B39B-4B61-9CA8-5834FED4A76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Alternatives and selected method</a:t>
            </a:r>
          </a:p>
        </p:txBody>
      </p:sp>
      <p:sp>
        <p:nvSpPr>
          <p:cNvPr id="2" name="">
            <a:extLst xmlns:a="http://schemas.openxmlformats.org/drawingml/2006/main">
              <a:ext uri="{FF2B5EF4-FFF2-40B4-BE49-F238E27FC236}">
                <a16:creationId xmlns:a16="http://schemas.microsoft.com/office/drawing/2014/main" id="{79A030B5-DF54-4BC4-BC82-2B02DFAFE41E}"/>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03</a:t>
            </a:r>
          </a:p>
        </p:txBody>
      </p:sp>
      <p:graphicFrame>
        <p:nvGraphicFramePr>
          <p:cNvPr id="7" name=""/>
          <p:cNvGraphicFramePr/>
          <p:nvPr/>
        </p:nvGraphicFramePr>
        <p:xfrm>
          <a:off xmlns:a="http://schemas.openxmlformats.org/drawingml/2006/main" x="628650" y="1781175"/>
          <a:ext xmlns:a="http://schemas.openxmlformats.org/drawingml/2006/main" cx="10934700" cy="3676650"/>
        </p:xfrm>
        <a:graphic xmlns:a="http://schemas.openxmlformats.org/drawingml/2006/main">
          <a:graphicData uri="http://schemas.openxmlformats.org/drawingml/2006/table">
            <a:tbl>
              <a:tblPr/>
              <a:tblGrid>
                <a:gridCol w="2762250"/>
                <a:gridCol w="3429000"/>
                <a:gridCol w="4743450"/>
              </a:tblGrid>
              <a:tr h="919163">
                <a:tc>
                  <a:txBody>
                    <a:bodyPr/>
                    <a:lstStyle/>
                    <a:p>
                      <a:r>
                        <a:rPr sz="1800" b="1">
                          <a:solidFill>
                            <a:srgbClr val="FFFFFF"/>
                          </a:solidFill>
                          <a:latin typeface="Arial"/>
                          <a:ea typeface="Arial"/>
                          <a:cs typeface="Arial"/>
                        </a:rPr>
                        <a:t>Approach</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Useful feature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Tradeoff / design decision</a:t>
                      </a:r>
                    </a:p>
                  </a:txBody>
                  <a:tcPr marL="133350" marR="133350" marT="95250" marB="85725" anchor="ctr">
                    <a:solidFill>
                      <a:srgbClr val="183447"/>
                    </a:solidFill>
                  </a:tcPr>
                </a:tc>
              </a:tr>
              <a:tr h="919163">
                <a:tc>
                  <a:txBody>
                    <a:bodyPr/>
                    <a:lstStyle/>
                    <a:p>
                      <a:r>
                        <a:rPr sz="1800">
                          <a:solidFill>
                            <a:srgbClr val="223B49"/>
                          </a:solidFill>
                          <a:latin typeface="Arial"/>
                          <a:ea typeface="Arial"/>
                          <a:cs typeface="Arial"/>
                        </a:rPr>
                        <a:t>Manual assistance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Human judgement and flexible intervention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Use as the baseline. It requires an operator to coordinate each journey.</a:t>
                      </a:r>
                    </a:p>
                  </a:txBody>
                  <a:tcPr marL="133350" marR="133350" marT="95250" marB="85725" anchor="ctr">
                    <a:solidFill>
                      <a:srgbClr val="FFFFFF"/>
                    </a:solidFill>
                  </a:tcPr>
                </a:tc>
              </a:tr>
              <a:tr h="919163">
                <a:tc>
                  <a:txBody>
                    <a:bodyPr/>
                    <a:lstStyle/>
                    <a:p>
                      <a:r>
                        <a:rPr sz="1800">
                          <a:solidFill>
                            <a:srgbClr val="223B49"/>
                          </a:solidFill>
                          <a:latin typeface="Arial"/>
                          <a:ea typeface="Arial"/>
                          <a:cs typeface="Arial"/>
                        </a:rPr>
                        <a:t>Camera-only trigger</a:t>
                      </a:r>
                    </a:p>
                  </a:txBody>
                  <a:tcPr marL="133350" marR="133350" marT="95250" marB="85725" anchor="ctr">
                    <a:solidFill>
                      <a:srgbClr val="F4F7F6"/>
                    </a:solidFill>
                  </a:tcPr>
                </a:tc>
                <a:tc>
                  <a:txBody>
                    <a:bodyPr/>
                    <a:lstStyle/>
                    <a:p>
                      <a:r>
                        <a:rPr sz="1800">
                          <a:solidFill>
                            <a:srgbClr val="223B49"/>
                          </a:solidFill>
                          <a:latin typeface="Arial"/>
                          <a:ea typeface="Arial"/>
                          <a:cs typeface="Arial"/>
                        </a:rPr>
                        <a:t>Observable assistance cues without app input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A cue cannot establish a request or consent. Reject as ramp authority.</a:t>
                      </a:r>
                    </a:p>
                  </a:txBody>
                  <a:tcPr marL="133350" marR="133350" marT="95250" marB="85725" anchor="ctr">
                    <a:solidFill>
                      <a:srgbClr val="F4F7F6"/>
                    </a:solidFill>
                  </a:tcPr>
                </a:tc>
              </a:tr>
              <a:tr h="919163">
                <a:tc>
                  <a:txBody>
                    <a:bodyPr/>
                    <a:lstStyle/>
                    <a:p>
                      <a:r>
                        <a:rPr sz="1800">
                          <a:solidFill>
                            <a:srgbClr val="223B49"/>
                          </a:solidFill>
                          <a:latin typeface="Arial"/>
                          <a:ea typeface="Arial"/>
                          <a:cs typeface="Arial"/>
                        </a:rPr>
                        <a:t>Explicit request with sensor checks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Passenger control plus verified system response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Selected method. Adds integration and calibration work.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1E5F6EC-43E7-4E9F-BBA2-91B1B99A2A57}"/>
              </a:ext>
            </a:extLst>
          </p:cNvPr>
          <p:cNvSpPr>
            <a:spLocks xmlns:a="http://schemas.openxmlformats.org/drawingml/2006/main" noGrp="1"/>
          </p:cNvSpPr>
          <p:nvPr/>
        </p:nvSpPr>
        <p:spPr>
          <a:xfrm xmlns:a="http://schemas.openxmlformats.org/drawingml/2006/main">
            <a:off x="628650" y="5800725"/>
            <a:ext cx="10810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ML interprets uncertain scenes. Fixed rules and physical sensors retain safety vetoes.</a:t>
            </a:r>
          </a:p>
        </p:txBody>
      </p:sp>
    </p:spTree>
    <p:extLst>
      <p:ext uri="{BB962C8B-B14F-4D97-AF65-F5344CB8AC3E}">
        <p14:creationId xmlns:p14="http://schemas.microsoft.com/office/powerpoint/2010/main" val="9823801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291A46-8E73-473F-B919-0C12F7B4C126}"/>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Integrated system and safety principle</a:t>
            </a:r>
          </a:p>
        </p:txBody>
      </p:sp>
      <p:sp>
        <p:nvSpPr>
          <p:cNvPr id="2" name="">
            <a:extLst xmlns:a="http://schemas.openxmlformats.org/drawingml/2006/main">
              <a:ext uri="{FF2B5EF4-FFF2-40B4-BE49-F238E27FC236}">
                <a16:creationId xmlns:a16="http://schemas.microsoft.com/office/drawing/2014/main" id="{B9D25218-08D6-403A-A253-41A3A72C199E}"/>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04</a:t>
            </a:r>
          </a:p>
        </p:txBody>
      </p:sp>
      <p:graphicFrame>
        <p:nvGraphicFramePr>
          <p:cNvPr id="8" name=""/>
          <p:cNvGraphicFramePr/>
          <p:nvPr/>
        </p:nvGraphicFramePr>
        <p:xfrm>
          <a:off xmlns:a="http://schemas.openxmlformats.org/drawingml/2006/main" x="628650" y="1714500"/>
          <a:ext xmlns:a="http://schemas.openxmlformats.org/drawingml/2006/main" cx="10934700" cy="3314700"/>
        </p:xfrm>
        <a:graphic xmlns:a="http://schemas.openxmlformats.org/drawingml/2006/main">
          <a:graphicData uri="http://schemas.openxmlformats.org/drawingml/2006/table">
            <a:tbl>
              <a:tblPr/>
              <a:tblGrid>
                <a:gridCol w="3238500"/>
                <a:gridCol w="7696200"/>
              </a:tblGrid>
              <a:tr h="662940">
                <a:tc>
                  <a:txBody>
                    <a:bodyPr/>
                    <a:lstStyle/>
                    <a:p>
                      <a:r>
                        <a:rPr sz="195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950" b="1">
                          <a:solidFill>
                            <a:srgbClr val="FFFFFF"/>
                          </a:solidFill>
                          <a:latin typeface="Arial"/>
                          <a:ea typeface="Arial"/>
                          <a:cs typeface="Arial"/>
                        </a:rPr>
                        <a:t>Role in the assistance journey</a:t>
                      </a:r>
                    </a:p>
                  </a:txBody>
                  <a:tcPr marL="133350" marR="133350" marT="95250" marB="85725" anchor="ctr">
                    <a:solidFill>
                      <a:srgbClr val="183447"/>
                    </a:solidFill>
                  </a:tcPr>
                </a:tc>
              </a:tr>
              <a:tr h="662940">
                <a:tc>
                  <a:txBody>
                    <a:bodyPr/>
                    <a:lstStyle/>
                    <a:p>
                      <a:r>
                        <a:rPr sz="1950">
                          <a:solidFill>
                            <a:srgbClr val="223B49"/>
                          </a:solidFill>
                          <a:latin typeface="Arial"/>
                          <a:ea typeface="Arial"/>
                          <a:cs typeface="Arial"/>
                        </a:rPr>
                        <a:t>App and stop unit</a:t>
                      </a:r>
                    </a:p>
                  </a:txBody>
                  <a:tcPr marL="133350" marR="133350" marT="95250" marB="85725" anchor="ctr">
                    <a:solidFill>
                      <a:srgbClr val="FFFFFF"/>
                    </a:solidFill>
                  </a:tcPr>
                </a:tc>
                <a:tc>
                  <a:txBody>
                    <a:bodyPr/>
                    <a:lstStyle/>
                    <a:p>
                      <a:r>
                        <a:rPr sz="1950">
                          <a:solidFill>
                            <a:srgbClr val="223B49"/>
                          </a:solidFill>
                          <a:latin typeface="Arial"/>
                          <a:ea typeface="Arial"/>
                          <a:cs typeface="Arial"/>
                        </a:rPr>
                        <a:t>Record request, confirmation and cancellation for the selected bus.</a:t>
                      </a:r>
                    </a:p>
                  </a:txBody>
                  <a:tcPr marL="133350" marR="133350" marT="95250" marB="85725" anchor="ctr">
                    <a:solidFill>
                      <a:srgbClr val="FFFFFF"/>
                    </a:solidFill>
                  </a:tcPr>
                </a:tc>
              </a:tr>
              <a:tr h="662940">
                <a:tc>
                  <a:txBody>
                    <a:bodyPr/>
                    <a:lstStyle/>
                    <a:p>
                      <a:r>
                        <a:rPr sz="1950">
                          <a:solidFill>
                            <a:srgbClr val="223B49"/>
                          </a:solidFill>
                          <a:latin typeface="Arial"/>
                          <a:ea typeface="Arial"/>
                          <a:cs typeface="Arial"/>
                        </a:rPr>
                        <a:t>Camera and distance sensing</a:t>
                      </a:r>
                    </a:p>
                  </a:txBody>
                  <a:tcPr marL="133350" marR="133350" marT="95250" marB="85725" anchor="ctr">
                    <a:solidFill>
                      <a:srgbClr val="F4F7F6"/>
                    </a:solidFill>
                  </a:tcPr>
                </a:tc>
                <a:tc>
                  <a:txBody>
                    <a:bodyPr/>
                    <a:lstStyle/>
                    <a:p>
                      <a:r>
                        <a:rPr sz="1950">
                          <a:solidFill>
                            <a:srgbClr val="223B49"/>
                          </a:solidFill>
                          <a:latin typeface="Arial"/>
                          <a:ea typeface="Arial"/>
                          <a:cs typeface="Arial"/>
                        </a:rPr>
                        <a:t>Report observable cues, occupied zones and sensor health.</a:t>
                      </a:r>
                    </a:p>
                  </a:txBody>
                  <a:tcPr marL="133350" marR="133350" marT="95250" marB="85725" anchor="ctr">
                    <a:solidFill>
                      <a:srgbClr val="F4F7F6"/>
                    </a:solidFill>
                  </a:tcPr>
                </a:tc>
              </a:tr>
              <a:tr h="662940">
                <a:tc>
                  <a:txBody>
                    <a:bodyPr/>
                    <a:lstStyle/>
                    <a:p>
                      <a:r>
                        <a:rPr sz="1950">
                          <a:solidFill>
                            <a:srgbClr val="223B49"/>
                          </a:solidFill>
                          <a:latin typeface="Arial"/>
                          <a:ea typeface="Arial"/>
                          <a:cs typeface="Arial"/>
                        </a:rPr>
                        <a:t>Backend and operator</a:t>
                      </a:r>
                    </a:p>
                  </a:txBody>
                  <a:tcPr marL="133350" marR="133350" marT="95250" marB="85725" anchor="ctr">
                    <a:solidFill>
                      <a:srgbClr val="FFFFFF"/>
                    </a:solidFill>
                  </a:tcPr>
                </a:tc>
                <a:tc>
                  <a:txBody>
                    <a:bodyPr/>
                    <a:lstStyle/>
                    <a:p>
                      <a:r>
                        <a:rPr sz="1950">
                          <a:solidFill>
                            <a:srgbClr val="223B49"/>
                          </a:solidFill>
                          <a:latin typeface="Arial"/>
                          <a:ea typeface="Arial"/>
                          <a:cs typeface="Arial"/>
                        </a:rPr>
                        <a:t>Manage the case, expose reasons and apply safety rules.</a:t>
                      </a:r>
                    </a:p>
                  </a:txBody>
                  <a:tcPr marL="133350" marR="133350" marT="95250" marB="85725" anchor="ctr">
                    <a:solidFill>
                      <a:srgbClr val="FFFFFF"/>
                    </a:solidFill>
                  </a:tcPr>
                </a:tc>
              </a:tr>
              <a:tr h="662940">
                <a:tc>
                  <a:txBody>
                    <a:bodyPr/>
                    <a:lstStyle/>
                    <a:p>
                      <a:r>
                        <a:rPr sz="1950">
                          <a:solidFill>
                            <a:srgbClr val="223B49"/>
                          </a:solidFill>
                          <a:latin typeface="Arial"/>
                          <a:ea typeface="Arial"/>
                          <a:cs typeface="Arial"/>
                        </a:rPr>
                        <a:t>Mock-bus controller</a:t>
                      </a:r>
                    </a:p>
                  </a:txBody>
                  <a:tcPr marL="133350" marR="133350" marT="95250" marB="85725" anchor="ctr">
                    <a:solidFill>
                      <a:srgbClr val="F4F7F6"/>
                    </a:solidFill>
                  </a:tcPr>
                </a:tc>
                <a:tc>
                  <a:txBody>
                    <a:bodyPr/>
                    <a:lstStyle/>
                    <a:p>
                      <a:r>
                        <a:rPr sz="1950">
                          <a:solidFill>
                            <a:srgbClr val="223B49"/>
                          </a:solidFill>
                          <a:latin typeface="Arial"/>
                          <a:ea typeface="Arial"/>
                          <a:cs typeface="Arial"/>
                        </a:rPr>
                        <a:t>Repeat local interlocks and verify ramp limit-switch state.</a:t>
                      </a:r>
                    </a:p>
                  </a:txBody>
                  <a:tcPr marL="133350" marR="133350" marT="95250" marB="85725" anchor="ctr">
                    <a:solidFill>
                      <a:srgbClr val="F4F7F6"/>
                    </a:solidFill>
                  </a:tcPr>
                </a:tc>
              </a:tr>
            </a:tbl>
          </a:graphicData>
        </a:graphic>
      </p:graphicFrame>
      <p:sp>
        <p:nvSpPr>
          <p:cNvPr id="4" name="">
            <a:extLst xmlns:a="http://schemas.openxmlformats.org/drawingml/2006/main">
              <a:ext uri="{FF2B5EF4-FFF2-40B4-BE49-F238E27FC236}">
                <a16:creationId xmlns:a16="http://schemas.microsoft.com/office/drawing/2014/main" id="{E6A336F3-A17A-4EEB-89B9-7B27B2FE81CA}"/>
              </a:ext>
            </a:extLst>
          </p:cNvPr>
          <p:cNvSpPr>
            <a:spLocks xmlns:a="http://schemas.openxmlformats.org/drawingml/2006/main" noGrp="1"/>
          </p:cNvSpPr>
          <p:nvPr/>
        </p:nvSpPr>
        <p:spPr>
          <a:xfrm xmlns:a="http://schemas.openxmlformats.org/drawingml/2006/main">
            <a:off x="628650" y="53625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87E83"/>
                </a:solidFill>
                <a:latin typeface="Arial"/>
                <a:ea typeface="Arial"/>
                <a:cs typeface="Arial"/>
              </a:defRPr>
            </a:pPr>
            <a:r>
              <a:rPr sz="2475" b="1">
                <a:solidFill>
                  <a:srgbClr val="087E83"/>
                </a:solidFill>
                <a:latin typeface="Arial"/>
                <a:ea typeface="Arial"/>
                <a:cs typeface="Arial"/>
              </a:rPr>
              <a:t>Confirmed intent + fresh safety inputs + verified position</a:t>
            </a:r>
          </a:p>
        </p:txBody>
      </p:sp>
      <p:sp>
        <p:nvSpPr>
          <p:cNvPr id="5" name="">
            <a:extLst xmlns:a="http://schemas.openxmlformats.org/drawingml/2006/main">
              <a:ext uri="{FF2B5EF4-FFF2-40B4-BE49-F238E27FC236}">
                <a16:creationId xmlns:a16="http://schemas.microsoft.com/office/drawing/2014/main" id="{6DAC41F0-5BA1-45EC-94A2-00C55046C531}"/>
              </a:ext>
            </a:extLst>
          </p:cNvPr>
          <p:cNvSpPr>
            <a:spLocks xmlns:a="http://schemas.openxmlformats.org/drawingml/2006/main" noGrp="1"/>
          </p:cNvSpPr>
          <p:nvPr/>
        </p:nvSpPr>
        <p:spPr>
          <a:xfrm xmlns:a="http://schemas.openxmlformats.org/drawingml/2006/main">
            <a:off x="628650" y="59245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23B49"/>
                </a:solidFill>
                <a:latin typeface="Arial"/>
                <a:ea typeface="Arial"/>
                <a:cs typeface="Arial"/>
              </a:defRPr>
            </a:pPr>
            <a:r>
              <a:rPr sz="2025" b="0">
                <a:solidFill>
                  <a:srgbClr val="223B49"/>
                </a:solidFill>
                <a:latin typeface="Arial"/>
                <a:ea typeface="Arial"/>
                <a:cs typeface="Arial"/>
              </a:rPr>
              <a:t>Uncertainty blocks movement. Completion requires a verified stowed ramp.</a:t>
            </a:r>
          </a:p>
        </p:txBody>
      </p:sp>
    </p:spTree>
    <p:extLst>
      <p:ext uri="{BB962C8B-B14F-4D97-AF65-F5344CB8AC3E}">
        <p14:creationId xmlns:p14="http://schemas.microsoft.com/office/powerpoint/2010/main" val="6913961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BB1046-82B6-46E6-97E2-DBDCF2B893D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Original project contributions</a:t>
            </a:r>
          </a:p>
        </p:txBody>
      </p:sp>
      <p:sp>
        <p:nvSpPr>
          <p:cNvPr id="2" name="">
            <a:extLst xmlns:a="http://schemas.openxmlformats.org/drawingml/2006/main">
              <a:ext uri="{FF2B5EF4-FFF2-40B4-BE49-F238E27FC236}">
                <a16:creationId xmlns:a16="http://schemas.microsoft.com/office/drawing/2014/main" id="{5809D2C1-2295-4B11-946A-195CA3694109}"/>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Originality claim is limited to the team’s design and integration work</a:t>
            </a:r>
          </a:p>
        </p:txBody>
      </p:sp>
      <p:sp>
        <p:nvSpPr>
          <p:cNvPr id="3" name="">
            <a:extLst xmlns:a="http://schemas.openxmlformats.org/drawingml/2006/main">
              <a:ext uri="{FF2B5EF4-FFF2-40B4-BE49-F238E27FC236}">
                <a16:creationId xmlns:a16="http://schemas.microsoft.com/office/drawing/2014/main" id="{2F9F9783-270A-46F3-BDF0-BE7B75135DC0}"/>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CE0FA593-A99C-48C7-8D19-B684507F9495}"/>
              </a:ext>
            </a:extLst>
          </p:cNvPr>
          <p:cNvSpPr>
            <a:spLocks xmlns:a="http://schemas.openxmlformats.org/drawingml/2006/main" noGrp="1"/>
          </p:cNvSpPr>
          <p:nvPr/>
        </p:nvSpPr>
        <p:spPr>
          <a:xfrm xmlns:a="http://schemas.openxmlformats.org/drawingml/2006/main">
            <a:off x="628650" y="19431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Intent and assistance workflow</a:t>
            </a:r>
          </a:p>
        </p:txBody>
      </p:sp>
      <p:sp>
        <p:nvSpPr>
          <p:cNvPr id="5" name="">
            <a:extLst xmlns:a="http://schemas.openxmlformats.org/drawingml/2006/main">
              <a:ext uri="{FF2B5EF4-FFF2-40B4-BE49-F238E27FC236}">
                <a16:creationId xmlns:a16="http://schemas.microsoft.com/office/drawing/2014/main" id="{72A1637F-1A77-460B-B72E-8D951A20E8DF}"/>
              </a:ext>
            </a:extLst>
          </p:cNvPr>
          <p:cNvSpPr>
            <a:spLocks xmlns:a="http://schemas.openxmlformats.org/drawingml/2006/main" noGrp="1"/>
          </p:cNvSpPr>
          <p:nvPr/>
        </p:nvSpPr>
        <p:spPr>
          <a:xfrm xmlns:a="http://schemas.openxmlformats.org/drawingml/2006/main">
            <a:off x="628650" y="23431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Retain passenger choice across request, confirmation, cancellation, actuation and verified completion.</a:t>
            </a:r>
          </a:p>
        </p:txBody>
      </p:sp>
      <p:sp>
        <p:nvSpPr>
          <p:cNvPr id="6" name="">
            <a:extLst xmlns:a="http://schemas.openxmlformats.org/drawingml/2006/main">
              <a:ext uri="{FF2B5EF4-FFF2-40B4-BE49-F238E27FC236}">
                <a16:creationId xmlns:a16="http://schemas.microsoft.com/office/drawing/2014/main" id="{BCBE5F41-E9D4-4CD5-9169-4645E9B56BE1}"/>
              </a:ext>
            </a:extLst>
          </p:cNvPr>
          <p:cNvSpPr>
            <a:spLocks xmlns:a="http://schemas.openxmlformats.org/drawingml/2006/main" noGrp="1"/>
          </p:cNvSpPr>
          <p:nvPr/>
        </p:nvSpPr>
        <p:spPr>
          <a:xfrm xmlns:a="http://schemas.openxmlformats.org/drawingml/2006/main">
            <a:off x="628650" y="30289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Safety and accessible feedback integration</a:t>
            </a:r>
          </a:p>
        </p:txBody>
      </p:sp>
      <p:sp>
        <p:nvSpPr>
          <p:cNvPr id="7" name="">
            <a:extLst xmlns:a="http://schemas.openxmlformats.org/drawingml/2006/main">
              <a:ext uri="{FF2B5EF4-FFF2-40B4-BE49-F238E27FC236}">
                <a16:creationId xmlns:a16="http://schemas.microsoft.com/office/drawing/2014/main" id="{90ED3612-C783-4A70-8974-0015EC64B6C4}"/>
              </a:ext>
            </a:extLst>
          </p:cNvPr>
          <p:cNvSpPr>
            <a:spLocks xmlns:a="http://schemas.openxmlformats.org/drawingml/2006/main" noGrp="1"/>
          </p:cNvSpPr>
          <p:nvPr/>
        </p:nvSpPr>
        <p:spPr>
          <a:xfrm xmlns:a="http://schemas.openxmlformats.org/drawingml/2006/main">
            <a:off x="628650" y="34290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Connect case decisions, local interlocks, position checks and passenger/operator status in one auditable loop.</a:t>
            </a:r>
          </a:p>
        </p:txBody>
      </p:sp>
      <p:sp>
        <p:nvSpPr>
          <p:cNvPr id="8" name="">
            <a:extLst xmlns:a="http://schemas.openxmlformats.org/drawingml/2006/main">
              <a:ext uri="{FF2B5EF4-FFF2-40B4-BE49-F238E27FC236}">
                <a16:creationId xmlns:a16="http://schemas.microsoft.com/office/drawing/2014/main" id="{9F420BE4-DC13-4DF4-91F9-8963A41A4BAA}"/>
              </a:ext>
            </a:extLst>
          </p:cNvPr>
          <p:cNvSpPr>
            <a:spLocks xmlns:a="http://schemas.openxmlformats.org/drawingml/2006/main" noGrp="1"/>
          </p:cNvSpPr>
          <p:nvPr/>
        </p:nvSpPr>
        <p:spPr>
          <a:xfrm xmlns:a="http://schemas.openxmlformats.org/drawingml/2006/main">
            <a:off x="628650" y="41148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Centre-door mechanism concept</a:t>
            </a:r>
          </a:p>
        </p:txBody>
      </p:sp>
      <p:sp>
        <p:nvSpPr>
          <p:cNvPr id="9" name="">
            <a:extLst xmlns:a="http://schemas.openxmlformats.org/drawingml/2006/main">
              <a:ext uri="{FF2B5EF4-FFF2-40B4-BE49-F238E27FC236}">
                <a16:creationId xmlns:a16="http://schemas.microsoft.com/office/drawing/2014/main" id="{0018EE2C-73D5-43B3-AC24-18C925A6FDF3}"/>
              </a:ext>
            </a:extLst>
          </p:cNvPr>
          <p:cNvSpPr>
            <a:spLocks xmlns:a="http://schemas.openxmlformats.org/drawingml/2006/main" noGrp="1"/>
          </p:cNvSpPr>
          <p:nvPr/>
        </p:nvSpPr>
        <p:spPr>
          <a:xfrm xmlns:a="http://schemas.openxmlformats.org/drawingml/2006/main">
            <a:off x="628650" y="45148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Develop the door, ramp and boarding-fixture CAD arrangement and operating sequence for the prototype.</a:t>
            </a:r>
          </a:p>
        </p:txBody>
      </p:sp>
      <p:sp>
        <p:nvSpPr>
          <p:cNvPr id="10" name="">
            <a:extLst xmlns:a="http://schemas.openxmlformats.org/drawingml/2006/main">
              <a:ext uri="{FF2B5EF4-FFF2-40B4-BE49-F238E27FC236}">
                <a16:creationId xmlns:a16="http://schemas.microsoft.com/office/drawing/2014/main" id="{44D0406D-8AFF-42DF-B723-B15664FD96A9}"/>
              </a:ext>
            </a:extLst>
          </p:cNvPr>
          <p:cNvSpPr>
            <a:spLocks xmlns:a="http://schemas.openxmlformats.org/drawingml/2006/main" noGrp="1"/>
          </p:cNvSpPr>
          <p:nvPr/>
        </p:nvSpPr>
        <p:spPr>
          <a:xfrm xmlns:a="http://schemas.openxmlformats.org/drawingml/2006/main">
            <a:off x="628650" y="59055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Reused foundations: ESP32, ToF sensors, pretrained detection and ArUco methods.</a:t>
            </a:r>
          </a:p>
        </p:txBody>
      </p:sp>
    </p:spTree>
    <p:extLst>
      <p:ext uri="{BB962C8B-B14F-4D97-AF65-F5344CB8AC3E}">
        <p14:creationId xmlns:p14="http://schemas.microsoft.com/office/powerpoint/2010/main" val="3008670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4FDA6B-9998-4506-B35C-A28E2BC76C1B}"/>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Progress supported by current evidence</a:t>
            </a:r>
          </a:p>
        </p:txBody>
      </p:sp>
      <p:sp>
        <p:nvSpPr>
          <p:cNvPr id="2" name="">
            <a:extLst xmlns:a="http://schemas.openxmlformats.org/drawingml/2006/main">
              <a:ext uri="{FF2B5EF4-FFF2-40B4-BE49-F238E27FC236}">
                <a16:creationId xmlns:a16="http://schemas.microsoft.com/office/drawing/2014/main" id="{FCCC8AAA-17B7-47D9-A919-93210739A37C}"/>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5e636a19b34e0e"/>
          <a:stretch xmlns:a="http://schemas.openxmlformats.org/drawingml/2006/main"/>
        </p:blipFill>
        <p:spPr>
          <a:xfrm xmlns:a="http://schemas.openxmlformats.org/drawingml/2006/main">
            <a:off x="538163" y="1638300"/>
            <a:ext cx="5572125"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2F337E-7B21-491E-92DF-6F14F44ACAAC}"/>
              </a:ext>
            </a:extLst>
          </p:cNvPr>
          <p:cNvSpPr>
            <a:spLocks xmlns:a="http://schemas.openxmlformats.org/drawingml/2006/main" noGrp="1"/>
          </p:cNvSpPr>
          <p:nvPr/>
        </p:nvSpPr>
        <p:spPr>
          <a:xfrm xmlns:a="http://schemas.openxmlformats.org/drawingml/2006/main">
            <a:off x="6524625" y="16668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Software</a:t>
            </a:r>
          </a:p>
        </p:txBody>
      </p:sp>
      <p:sp>
        <p:nvSpPr>
          <p:cNvPr id="5" name="">
            <a:extLst xmlns:a="http://schemas.openxmlformats.org/drawingml/2006/main">
              <a:ext uri="{FF2B5EF4-FFF2-40B4-BE49-F238E27FC236}">
                <a16:creationId xmlns:a16="http://schemas.microsoft.com/office/drawing/2014/main" id="{9418452B-0908-4C75-AD5B-DC7D0332786A}"/>
              </a:ext>
            </a:extLst>
          </p:cNvPr>
          <p:cNvSpPr>
            <a:spLocks xmlns:a="http://schemas.openxmlformats.org/drawingml/2006/main" noGrp="1"/>
          </p:cNvSpPr>
          <p:nvPr/>
        </p:nvSpPr>
        <p:spPr>
          <a:xfrm xmlns:a="http://schemas.openxmlformats.org/drawingml/2006/main">
            <a:off x="6524625" y="20669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App, backend and operator flow. Documented mock and automated-test evidence.</a:t>
            </a:r>
          </a:p>
        </p:txBody>
      </p:sp>
      <p:sp>
        <p:nvSpPr>
          <p:cNvPr id="6" name="">
            <a:extLst xmlns:a="http://schemas.openxmlformats.org/drawingml/2006/main">
              <a:ext uri="{FF2B5EF4-FFF2-40B4-BE49-F238E27FC236}">
                <a16:creationId xmlns:a16="http://schemas.microsoft.com/office/drawing/2014/main" id="{C7B9F266-C368-4999-8836-A196D7C696C4}"/>
              </a:ext>
            </a:extLst>
          </p:cNvPr>
          <p:cNvSpPr>
            <a:spLocks xmlns:a="http://schemas.openxmlformats.org/drawingml/2006/main" noGrp="1"/>
          </p:cNvSpPr>
          <p:nvPr/>
        </p:nvSpPr>
        <p:spPr>
          <a:xfrm xmlns:a="http://schemas.openxmlformats.org/drawingml/2006/main">
            <a:off x="6524625" y="28479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CAD</a:t>
            </a:r>
          </a:p>
        </p:txBody>
      </p:sp>
      <p:sp>
        <p:nvSpPr>
          <p:cNvPr id="7" name="">
            <a:extLst xmlns:a="http://schemas.openxmlformats.org/drawingml/2006/main">
              <a:ext uri="{FF2B5EF4-FFF2-40B4-BE49-F238E27FC236}">
                <a16:creationId xmlns:a16="http://schemas.microsoft.com/office/drawing/2014/main" id="{81DB1612-F7C5-4140-BB3F-90157C7184DE}"/>
              </a:ext>
            </a:extLst>
          </p:cNvPr>
          <p:cNvSpPr>
            <a:spLocks xmlns:a="http://schemas.openxmlformats.org/drawingml/2006/main" noGrp="1"/>
          </p:cNvSpPr>
          <p:nvPr/>
        </p:nvSpPr>
        <p:spPr>
          <a:xfrm xmlns:a="http://schemas.openxmlformats.org/drawingml/2006/main">
            <a:off x="6524625" y="32480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73 sampled poses. Zero moving-part intersections in a discrete check.</a:t>
            </a:r>
          </a:p>
        </p:txBody>
      </p:sp>
      <p:sp>
        <p:nvSpPr>
          <p:cNvPr id="8" name="">
            <a:extLst xmlns:a="http://schemas.openxmlformats.org/drawingml/2006/main">
              <a:ext uri="{FF2B5EF4-FFF2-40B4-BE49-F238E27FC236}">
                <a16:creationId xmlns:a16="http://schemas.microsoft.com/office/drawing/2014/main" id="{738B354A-802B-44FB-A970-08E77BE83582}"/>
              </a:ext>
            </a:extLst>
          </p:cNvPr>
          <p:cNvSpPr>
            <a:spLocks xmlns:a="http://schemas.openxmlformats.org/drawingml/2006/main" noGrp="1"/>
          </p:cNvSpPr>
          <p:nvPr/>
        </p:nvSpPr>
        <p:spPr>
          <a:xfrm xmlns:a="http://schemas.openxmlformats.org/drawingml/2006/main">
            <a:off x="6524625" y="40290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Sensor bench</a:t>
            </a:r>
          </a:p>
        </p:txBody>
      </p:sp>
      <p:sp>
        <p:nvSpPr>
          <p:cNvPr id="9" name="">
            <a:extLst xmlns:a="http://schemas.openxmlformats.org/drawingml/2006/main">
              <a:ext uri="{FF2B5EF4-FFF2-40B4-BE49-F238E27FC236}">
                <a16:creationId xmlns:a16="http://schemas.microsoft.com/office/drawing/2014/main" id="{7967F2D0-64A5-4CD4-B614-18362DDA9A9B}"/>
              </a:ext>
            </a:extLst>
          </p:cNvPr>
          <p:cNvSpPr>
            <a:spLocks xmlns:a="http://schemas.openxmlformats.org/drawingml/2006/main" noGrp="1"/>
          </p:cNvSpPr>
          <p:nvPr/>
        </p:nvSpPr>
        <p:spPr>
          <a:xfrm xmlns:a="http://schemas.openxmlformats.org/drawingml/2006/main">
            <a:off x="6524625" y="44291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27 consecutive valid VL53L0X samples, 30–136 mm after power cycle.</a:t>
            </a:r>
          </a:p>
        </p:txBody>
      </p:sp>
      <p:sp>
        <p:nvSpPr>
          <p:cNvPr id="10" name="">
            <a:extLst xmlns:a="http://schemas.openxmlformats.org/drawingml/2006/main">
              <a:ext uri="{FF2B5EF4-FFF2-40B4-BE49-F238E27FC236}">
                <a16:creationId xmlns:a16="http://schemas.microsoft.com/office/drawing/2014/main" id="{24270112-84A2-489D-8B76-BDAE37DBC85A}"/>
              </a:ext>
            </a:extLst>
          </p:cNvPr>
          <p:cNvSpPr>
            <a:spLocks xmlns:a="http://schemas.openxmlformats.org/drawingml/2006/main" noGrp="1"/>
          </p:cNvSpPr>
          <p:nvPr/>
        </p:nvSpPr>
        <p:spPr>
          <a:xfrm xmlns:a="http://schemas.openxmlformats.org/drawingml/2006/main">
            <a:off x="628650" y="56292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87E83"/>
                </a:solidFill>
                <a:latin typeface="Arial"/>
                <a:ea typeface="Arial"/>
                <a:cs typeface="Arial"/>
              </a:defRPr>
            </a:pPr>
            <a:r>
              <a:rPr sz="2100" b="1">
                <a:solidFill>
                  <a:srgbClr val="087E83"/>
                </a:solidFill>
                <a:latin typeface="Arial"/>
                <a:ea typeface="Arial"/>
                <a:cs typeface="Arial"/>
              </a:rPr>
              <a:t>Physical integration and measured ML performance remain incomplete.</a:t>
            </a:r>
          </a:p>
        </p:txBody>
      </p:sp>
      <p:sp>
        <p:nvSpPr>
          <p:cNvPr id="11" name="">
            <a:extLst xmlns:a="http://schemas.openxmlformats.org/drawingml/2006/main">
              <a:ext uri="{FF2B5EF4-FFF2-40B4-BE49-F238E27FC236}">
                <a16:creationId xmlns:a16="http://schemas.microsoft.com/office/drawing/2014/main" id="{48C94621-0E47-4683-BC2B-521CAEF77900}"/>
              </a:ext>
            </a:extLst>
          </p:cNvPr>
          <p:cNvSpPr>
            <a:spLocks xmlns:a="http://schemas.openxmlformats.org/drawingml/2006/main" noGrp="1"/>
          </p:cNvSpPr>
          <p:nvPr/>
        </p:nvSpPr>
        <p:spPr>
          <a:xfrm xmlns:a="http://schemas.openxmlformats.org/drawingml/2006/main">
            <a:off x="628650" y="6115050"/>
            <a:ext cx="10810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66F"/>
                </a:solidFill>
                <a:latin typeface="Arial"/>
                <a:ea typeface="Arial"/>
                <a:cs typeface="Arial"/>
              </a:defRPr>
            </a:pPr>
            <a:r>
              <a:rPr sz="1725" b="0">
                <a:solidFill>
                  <a:srgbClr val="52666F"/>
                </a:solidFill>
                <a:latin typeface="Arial"/>
                <a:ea typeface="Arial"/>
                <a:cs typeface="Arial"/>
              </a:rPr>
              <a:t>Sensor accuracy remains unverified. Current hardware differs from the 8×8 firmware sensor.</a:t>
            </a:r>
          </a:p>
        </p:txBody>
      </p:sp>
    </p:spTree>
    <p:extLst>
      <p:ext uri="{BB962C8B-B14F-4D97-AF65-F5344CB8AC3E}">
        <p14:creationId xmlns:p14="http://schemas.microsoft.com/office/powerpoint/2010/main" val="7037430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708C88-7D6E-428E-AE05-0D2BEBDAA91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Validation plan and results</a:t>
            </a:r>
          </a:p>
        </p:txBody>
      </p:sp>
      <p:sp>
        <p:nvSpPr>
          <p:cNvPr id="2" name="">
            <a:extLst xmlns:a="http://schemas.openxmlformats.org/drawingml/2006/main">
              <a:ext uri="{FF2B5EF4-FFF2-40B4-BE49-F238E27FC236}">
                <a16:creationId xmlns:a16="http://schemas.microsoft.com/office/drawing/2014/main" id="{6514B753-2824-41ED-B952-2D544F86B93C}"/>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07</a:t>
            </a:r>
          </a:p>
        </p:txBody>
      </p:sp>
      <p:graphicFrame>
        <p:nvGraphicFramePr>
          <p:cNvPr id="8" name=""/>
          <p:cNvGraphicFramePr/>
          <p:nvPr/>
        </p:nvGraphicFramePr>
        <p:xfrm>
          <a:off xmlns:a="http://schemas.openxmlformats.org/drawingml/2006/main" x="628650" y="1743075"/>
          <a:ext xmlns:a="http://schemas.openxmlformats.org/drawingml/2006/main" cx="10934700" cy="3762375"/>
        </p:xfrm>
        <a:graphic xmlns:a="http://schemas.openxmlformats.org/drawingml/2006/main">
          <a:graphicData uri="http://schemas.openxmlformats.org/drawingml/2006/table">
            <a:tbl>
              <a:tblPr/>
              <a:tblGrid>
                <a:gridCol w="2476500"/>
                <a:gridCol w="6477000"/>
                <a:gridCol w="1981200"/>
              </a:tblGrid>
              <a:tr h="627063">
                <a:tc>
                  <a:txBody>
                    <a:bodyPr/>
                    <a:lstStyle/>
                    <a:p>
                      <a:r>
                        <a:rPr sz="1725" b="1">
                          <a:solidFill>
                            <a:srgbClr val="FFFFFF"/>
                          </a:solidFill>
                          <a:latin typeface="Arial"/>
                          <a:ea typeface="Arial"/>
                          <a:cs typeface="Arial"/>
                        </a:rPr>
                        <a:t>Test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Original target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Result</a:t>
                      </a:r>
                    </a:p>
                  </a:txBody>
                  <a:tcPr marL="133350" marR="133350" marT="95250" marB="85725" anchor="ctr">
                    <a:solidFill>
                      <a:srgbClr val="183447"/>
                    </a:solidFill>
                  </a:tcPr>
                </a:tc>
              </a:tr>
              <a:tr h="627063">
                <a:tc>
                  <a:txBody>
                    <a:bodyPr/>
                    <a:lstStyle/>
                    <a:p>
                      <a:r>
                        <a:rPr sz="1725">
                          <a:solidFill>
                            <a:srgbClr val="223B49"/>
                          </a:solidFill>
                          <a:latin typeface="Arial"/>
                          <a:ea typeface="Arial"/>
                          <a:cs typeface="Arial"/>
                        </a:rPr>
                        <a:t>Request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20/20 delivery trials, acknowledgement within 2 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627063">
                <a:tc>
                  <a:txBody>
                    <a:bodyPr/>
                    <a:lstStyle/>
                    <a:p>
                      <a:r>
                        <a:rPr sz="1725">
                          <a:solidFill>
                            <a:srgbClr val="223B49"/>
                          </a:solidFill>
                          <a:latin typeface="Arial"/>
                          <a:ea typeface="Arial"/>
                          <a:cs typeface="Arial"/>
                        </a:rPr>
                        <a:t>Assistance cue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At least 90% wheelchair/PMA recall, at least 10 FPS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627063">
                <a:tc>
                  <a:txBody>
                    <a:bodyPr/>
                    <a:lstStyle/>
                    <a:p>
                      <a:r>
                        <a:rPr sz="1725">
                          <a:solidFill>
                            <a:srgbClr val="223B49"/>
                          </a:solidFill>
                          <a:latin typeface="Arial"/>
                          <a:ea typeface="Arial"/>
                          <a:cs typeface="Arial"/>
                        </a:rPr>
                        <a:t>Safety and actuation</a:t>
                      </a:r>
                    </a:p>
                  </a:txBody>
                  <a:tcPr marL="133350" marR="133350" marT="95250" marB="85725" anchor="ctr">
                    <a:solidFill>
                      <a:srgbClr val="FFFFFF"/>
                    </a:solidFill>
                  </a:tcPr>
                </a:tc>
                <a:tc>
                  <a:txBody>
                    <a:bodyPr/>
                    <a:lstStyle/>
                    <a:p>
                      <a:r>
                        <a:rPr sz="1725">
                          <a:solidFill>
                            <a:srgbClr val="223B49"/>
                          </a:solidFill>
                          <a:latin typeface="Arial"/>
                          <a:ea typeface="Arial"/>
                          <a:cs typeface="Arial"/>
                        </a:rPr>
                        <a:t>Zero missed obstructions. 50 cycles without binding</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627063">
                <a:tc>
                  <a:txBody>
                    <a:bodyPr/>
                    <a:lstStyle/>
                    <a:p>
                      <a:r>
                        <a:rPr sz="1725">
                          <a:solidFill>
                            <a:srgbClr val="223B49"/>
                          </a:solidFill>
                          <a:latin typeface="Arial"/>
                          <a:ea typeface="Arial"/>
                          <a:cs typeface="Arial"/>
                        </a:rPr>
                        <a:t>Docking and journey</a:t>
                      </a:r>
                    </a:p>
                  </a:txBody>
                  <a:tcPr marL="133350" marR="133350" marT="95250" marB="85725" anchor="ctr">
                    <a:solidFill>
                      <a:srgbClr val="F4F7F6"/>
                    </a:solidFill>
                  </a:tcPr>
                </a:tc>
                <a:tc>
                  <a:txBody>
                    <a:bodyPr/>
                    <a:lstStyle/>
                    <a:p>
                      <a:r>
                        <a:rPr sz="1725">
                          <a:solidFill>
                            <a:srgbClr val="223B49"/>
                          </a:solidFill>
                          <a:latin typeface="Arial"/>
                          <a:ea typeface="Arial"/>
                          <a:cs typeface="Arial"/>
                        </a:rPr>
                        <a:t>10 docking trials. At least 9/10 cold-start journeys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627063">
                <a:tc>
                  <a:txBody>
                    <a:bodyPr/>
                    <a:lstStyle/>
                    <a:p>
                      <a:r>
                        <a:rPr sz="1725">
                          <a:solidFill>
                            <a:srgbClr val="223B49"/>
                          </a:solidFill>
                          <a:latin typeface="Arial"/>
                          <a:ea typeface="Arial"/>
                          <a:cs typeface="Arial"/>
                        </a:rPr>
                        <a:t>Dwell</a:t>
                      </a:r>
                    </a:p>
                  </a:txBody>
                  <a:tcPr marL="133350" marR="133350" marT="95250" marB="85725" anchor="ctr">
                    <a:solidFill>
                      <a:srgbClr val="FFFFFF"/>
                    </a:solidFill>
                  </a:tcPr>
                </a:tc>
                <a:tc>
                  <a:txBody>
                    <a:bodyPr/>
                    <a:lstStyle/>
                    <a:p>
                      <a:r>
                        <a:rPr sz="1725">
                          <a:solidFill>
                            <a:srgbClr val="223B49"/>
                          </a:solidFill>
                          <a:latin typeface="Arial"/>
                          <a:ea typeface="Arial"/>
                          <a:cs typeface="Arial"/>
                        </a:rPr>
                        <a:t>No premature CLEAR in defined tests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CDCA41E-2F65-4CDE-8FAD-A748AF861859}"/>
              </a:ext>
            </a:extLst>
          </p:cNvPr>
          <p:cNvSpPr>
            <a:spLocks xmlns:a="http://schemas.openxmlformats.org/drawingml/2006/main" noGrp="1"/>
          </p:cNvSpPr>
          <p:nvPr/>
        </p:nvSpPr>
        <p:spPr>
          <a:xfrm xmlns:a="http://schemas.openxmlformats.org/drawingml/2006/main">
            <a:off x="628650" y="58007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87E83"/>
                </a:solidFill>
                <a:latin typeface="Arial"/>
                <a:ea typeface="Arial"/>
                <a:cs typeface="Arial"/>
              </a:defRPr>
            </a:pPr>
            <a:r>
              <a:rPr sz="1875" b="1">
                <a:solidFill>
                  <a:srgbClr val="087E83"/>
                </a:solidFill>
                <a:latin typeface="Arial"/>
                <a:ea typeface="Arial"/>
                <a:cs typeface="Arial"/>
              </a:rPr>
              <a:t>Impact and accessibility findings:</a:t>
            </a:r>
          </a:p>
        </p:txBody>
      </p:sp>
      <p:sp>
        <p:nvSpPr>
          <p:cNvPr id="5" name="">
            <a:extLst xmlns:a="http://schemas.openxmlformats.org/drawingml/2006/main">
              <a:ext uri="{FF2B5EF4-FFF2-40B4-BE49-F238E27FC236}">
                <a16:creationId xmlns:a16="http://schemas.microsoft.com/office/drawing/2014/main" id="{30C1B3FD-1801-4369-9C96-BAA0F87D3F18}"/>
              </a:ext>
            </a:extLst>
          </p:cNvPr>
          <p:cNvSpPr>
            <a:spLocks xmlns:a="http://schemas.openxmlformats.org/drawingml/2006/main" noGrp="1"/>
          </p:cNvSpPr>
          <p:nvPr/>
        </p:nvSpPr>
        <p:spPr>
          <a:xfrm xmlns:a="http://schemas.openxmlformats.org/drawingml/2006/main">
            <a:off x="628650" y="62103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____________________________________________</a:t>
            </a:r>
          </a:p>
        </p:txBody>
      </p:sp>
    </p:spTree>
    <p:extLst>
      <p:ext uri="{BB962C8B-B14F-4D97-AF65-F5344CB8AC3E}">
        <p14:creationId xmlns:p14="http://schemas.microsoft.com/office/powerpoint/2010/main" val="13433061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29C05-83B4-4F9F-8FAB-067718D3198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Remaining work and competition milestones</a:t>
            </a:r>
          </a:p>
        </p:txBody>
      </p:sp>
      <p:sp>
        <p:nvSpPr>
          <p:cNvPr id="2" name="">
            <a:extLst xmlns:a="http://schemas.openxmlformats.org/drawingml/2006/main">
              <a:ext uri="{FF2B5EF4-FFF2-40B4-BE49-F238E27FC236}">
                <a16:creationId xmlns:a16="http://schemas.microsoft.com/office/drawing/2014/main" id="{C02F7C9E-71C4-4DEC-A37D-FB231AFAF652}"/>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A9DF50F-F121-427D-BCB4-54E89F7D2B2E}"/>
              </a:ext>
            </a:extLst>
          </p:cNvPr>
          <p:cNvSpPr>
            <a:spLocks xmlns:a="http://schemas.openxmlformats.org/drawingml/2006/main" noGrp="1"/>
          </p:cNvSpPr>
          <p:nvPr/>
        </p:nvSpPr>
        <p:spPr>
          <a:xfrm xmlns:a="http://schemas.openxmlformats.org/drawingml/2006/main">
            <a:off x="628650" y="150495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Next: resolve sensor choice, integrate hardware and collect validation evidence.</a:t>
            </a:r>
          </a:p>
        </p:txBody>
      </p:sp>
      <p:graphicFrame>
        <p:nvGraphicFramePr>
          <p:cNvPr id="10" name=""/>
          <p:cNvGraphicFramePr/>
          <p:nvPr/>
        </p:nvGraphicFramePr>
        <p:xfrm>
          <a:off xmlns:a="http://schemas.openxmlformats.org/drawingml/2006/main" x="628650" y="2438400"/>
          <a:ext xmlns:a="http://schemas.openxmlformats.org/drawingml/2006/main" cx="10934700" cy="2819400"/>
        </p:xfrm>
        <a:graphic xmlns:a="http://schemas.openxmlformats.org/drawingml/2006/main">
          <a:graphicData uri="http://schemas.openxmlformats.org/drawingml/2006/table">
            <a:tbl>
              <a:tblPr/>
              <a:tblGrid>
                <a:gridCol w="7858125"/>
                <a:gridCol w="3076575"/>
              </a:tblGrid>
              <a:tr h="563880">
                <a:tc>
                  <a:txBody>
                    <a:bodyPr/>
                    <a:lstStyle/>
                    <a:p>
                      <a:r>
                        <a:rPr sz="1875" b="1">
                          <a:solidFill>
                            <a:srgbClr val="FFFFFF"/>
                          </a:solidFill>
                          <a:latin typeface="Arial"/>
                          <a:ea typeface="Arial"/>
                          <a:cs typeface="Arial"/>
                        </a:rPr>
                        <a:t>Official milestone</a:t>
                      </a:r>
                    </a:p>
                  </a:txBody>
                  <a:tcPr marL="133350" marR="133350" marT="95250" marB="85725" anchor="ctr">
                    <a:solidFill>
                      <a:srgbClr val="183447"/>
                    </a:solidFill>
                  </a:tcPr>
                </a:tc>
                <a:tc>
                  <a:txBody>
                    <a:bodyPr/>
                    <a:lstStyle/>
                    <a:p>
                      <a:r>
                        <a:rPr sz="1875" b="1">
                          <a:solidFill>
                            <a:srgbClr val="FFFFFF"/>
                          </a:solidFill>
                          <a:latin typeface="Arial"/>
                          <a:ea typeface="Arial"/>
                          <a:cs typeface="Arial"/>
                        </a:rPr>
                        <a:t>Date</a:t>
                      </a:r>
                    </a:p>
                  </a:txBody>
                  <a:tcPr marL="133350" marR="133350" marT="95250" marB="85725" anchor="ctr">
                    <a:solidFill>
                      <a:srgbClr val="183447"/>
                    </a:solidFill>
                  </a:tcPr>
                </a:tc>
              </a:tr>
              <a:tr h="563880">
                <a:tc>
                  <a:txBody>
                    <a:bodyPr/>
                    <a:lstStyle/>
                    <a:p>
                      <a:r>
                        <a:rPr sz="1875">
                          <a:solidFill>
                            <a:srgbClr val="223B49"/>
                          </a:solidFill>
                          <a:latin typeface="Arial"/>
                          <a:ea typeface="Arial"/>
                          <a:cs typeface="Arial"/>
                        </a:rPr>
                        <a:t>Project report and display-poster artwork</a:t>
                      </a:r>
                    </a:p>
                  </a:txBody>
                  <a:tcPr marL="133350" marR="133350" marT="95250" marB="85725" anchor="ctr">
                    <a:solidFill>
                      <a:srgbClr val="FFFFFF"/>
                    </a:solidFill>
                  </a:tcPr>
                </a:tc>
                <a:tc>
                  <a:txBody>
                    <a:bodyPr/>
                    <a:lstStyle/>
                    <a:p>
                      <a:r>
                        <a:rPr sz="1875">
                          <a:solidFill>
                            <a:srgbClr val="223B49"/>
                          </a:solidFill>
                          <a:latin typeface="Arial"/>
                          <a:ea typeface="Arial"/>
                          <a:cs typeface="Arial"/>
                        </a:rPr>
                        <a:t>30 September 2026</a:t>
                      </a:r>
                    </a:p>
                  </a:txBody>
                  <a:tcPr marL="133350" marR="133350" marT="95250" marB="85725" anchor="ctr">
                    <a:solidFill>
                      <a:srgbClr val="FFFFFF"/>
                    </a:solidFill>
                  </a:tcPr>
                </a:tc>
              </a:tr>
              <a:tr h="563880">
                <a:tc>
                  <a:txBody>
                    <a:bodyPr/>
                    <a:lstStyle/>
                    <a:p>
                      <a:r>
                        <a:rPr sz="1875">
                          <a:solidFill>
                            <a:srgbClr val="223B49"/>
                          </a:solidFill>
                          <a:latin typeface="Arial"/>
                          <a:ea typeface="Arial"/>
                          <a:cs typeface="Arial"/>
                        </a:rPr>
                        <a:t>Pre-event prototype showcase (25 minutes)</a:t>
                      </a:r>
                    </a:p>
                  </a:txBody>
                  <a:tcPr marL="133350" marR="133350" marT="95250" marB="85725" anchor="ctr">
                    <a:solidFill>
                      <a:srgbClr val="F4F7F6"/>
                    </a:solidFill>
                  </a:tcPr>
                </a:tc>
                <a:tc>
                  <a:txBody>
                    <a:bodyPr/>
                    <a:lstStyle/>
                    <a:p>
                      <a:r>
                        <a:rPr sz="1875">
                          <a:solidFill>
                            <a:srgbClr val="223B49"/>
                          </a:solidFill>
                          <a:latin typeface="Arial"/>
                          <a:ea typeface="Arial"/>
                          <a:cs typeface="Arial"/>
                        </a:rPr>
                        <a:t>7 October 2026</a:t>
                      </a:r>
                    </a:p>
                  </a:txBody>
                  <a:tcPr marL="133350" marR="133350" marT="95250" marB="85725" anchor="ctr">
                    <a:solidFill>
                      <a:srgbClr val="F4F7F6"/>
                    </a:solidFill>
                  </a:tcPr>
                </a:tc>
              </a:tr>
              <a:tr h="563880">
                <a:tc>
                  <a:txBody>
                    <a:bodyPr/>
                    <a:lstStyle/>
                    <a:p>
                      <a:r>
                        <a:rPr sz="1875">
                          <a:solidFill>
                            <a:srgbClr val="223B49"/>
                          </a:solidFill>
                          <a:latin typeface="Arial"/>
                          <a:ea typeface="Arial"/>
                          <a:cs typeface="Arial"/>
                        </a:rPr>
                        <a:t>Main-event slideshow and video submission</a:t>
                      </a:r>
                    </a:p>
                  </a:txBody>
                  <a:tcPr marL="133350" marR="133350" marT="95250" marB="85725" anchor="ctr">
                    <a:solidFill>
                      <a:srgbClr val="FFFFFF"/>
                    </a:solidFill>
                  </a:tcPr>
                </a:tc>
                <a:tc>
                  <a:txBody>
                    <a:bodyPr/>
                    <a:lstStyle/>
                    <a:p>
                      <a:r>
                        <a:rPr sz="1875">
                          <a:solidFill>
                            <a:srgbClr val="223B49"/>
                          </a:solidFill>
                          <a:latin typeface="Arial"/>
                          <a:ea typeface="Arial"/>
                          <a:cs typeface="Arial"/>
                        </a:rPr>
                        <a:t>15 October 2026</a:t>
                      </a:r>
                    </a:p>
                  </a:txBody>
                  <a:tcPr marL="133350" marR="133350" marT="95250" marB="85725" anchor="ctr">
                    <a:solidFill>
                      <a:srgbClr val="FFFFFF"/>
                    </a:solidFill>
                  </a:tcPr>
                </a:tc>
              </a:tr>
              <a:tr h="563880">
                <a:tc>
                  <a:txBody>
                    <a:bodyPr/>
                    <a:lstStyle/>
                    <a:p>
                      <a:r>
                        <a:rPr sz="1875">
                          <a:solidFill>
                            <a:srgbClr val="223B49"/>
                          </a:solidFill>
                          <a:latin typeface="Arial"/>
                          <a:ea typeface="Arial"/>
                          <a:cs typeface="Arial"/>
                        </a:rPr>
                        <a:t>Main event: presentation, video and Q&amp;A</a:t>
                      </a:r>
                    </a:p>
                  </a:txBody>
                  <a:tcPr marL="133350" marR="133350" marT="95250" marB="85725" anchor="ctr">
                    <a:solidFill>
                      <a:srgbClr val="F4F7F6"/>
                    </a:solidFill>
                  </a:tcPr>
                </a:tc>
                <a:tc>
                  <a:txBody>
                    <a:bodyPr/>
                    <a:lstStyle/>
                    <a:p>
                      <a:r>
                        <a:rPr sz="1875">
                          <a:solidFill>
                            <a:srgbClr val="223B49"/>
                          </a:solidFill>
                          <a:latin typeface="Arial"/>
                          <a:ea typeface="Arial"/>
                          <a:cs typeface="Arial"/>
                        </a:rPr>
                        <a:t>24 October 2026</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B7D45AD0-E25C-4641-80D3-BCF8A0D07778}"/>
              </a:ext>
            </a:extLst>
          </p:cNvPr>
          <p:cNvSpPr>
            <a:spLocks xmlns:a="http://schemas.openxmlformats.org/drawingml/2006/main" noGrp="1"/>
          </p:cNvSpPr>
          <p:nvPr/>
        </p:nvSpPr>
        <p:spPr>
          <a:xfrm xmlns:a="http://schemas.openxmlformats.org/drawingml/2006/main">
            <a:off x="628650" y="55911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Dates are tentative. Main-event format: 5 min talk, up to 5 min video, 5 min Q&amp;A.</a:t>
            </a:r>
          </a:p>
        </p:txBody>
      </p:sp>
      <p:sp>
        <p:nvSpPr>
          <p:cNvPr id="6" name="">
            <a:extLst xmlns:a="http://schemas.openxmlformats.org/drawingml/2006/main">
              <a:ext uri="{FF2B5EF4-FFF2-40B4-BE49-F238E27FC236}">
                <a16:creationId xmlns:a16="http://schemas.microsoft.com/office/drawing/2014/main" id="{5194B41C-5EF9-4141-8BD5-AC65E6FF5F45}"/>
              </a:ext>
            </a:extLst>
          </p:cNvPr>
          <p:cNvSpPr>
            <a:spLocks xmlns:a="http://schemas.openxmlformats.org/drawingml/2006/main" noGrp="1"/>
          </p:cNvSpPr>
          <p:nvPr/>
        </p:nvSpPr>
        <p:spPr>
          <a:xfrm xmlns:a="http://schemas.openxmlformats.org/drawingml/2006/main">
            <a:off x="628650" y="62293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87E83"/>
                </a:solidFill>
                <a:latin typeface="Arial"/>
                <a:ea typeface="Arial"/>
                <a:cs typeface="Arial"/>
              </a:defRPr>
            </a:pPr>
            <a:r>
              <a:rPr sz="1725" b="1">
                <a:solidFill>
                  <a:srgbClr val="087E83"/>
                </a:solidFill>
                <a:latin typeface="Arial"/>
                <a:ea typeface="Arial"/>
                <a:cs typeface="Arial"/>
              </a:rPr>
              <a:t>Core presentation ends here. Supporting slides follow for Q&amp;A.</a:t>
            </a:r>
          </a:p>
        </p:txBody>
      </p:sp>
    </p:spTree>
    <p:extLst>
      <p:ext uri="{BB962C8B-B14F-4D97-AF65-F5344CB8AC3E}">
        <p14:creationId xmlns:p14="http://schemas.microsoft.com/office/powerpoint/2010/main" val="14022339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E68835-034D-438A-AC2A-B278D8BC71D8}"/>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A. Intended journey</a:t>
            </a:r>
          </a:p>
        </p:txBody>
      </p:sp>
      <p:sp>
        <p:nvSpPr>
          <p:cNvPr id="2" name="">
            <a:extLst xmlns:a="http://schemas.openxmlformats.org/drawingml/2006/main">
              <a:ext uri="{FF2B5EF4-FFF2-40B4-BE49-F238E27FC236}">
                <a16:creationId xmlns:a16="http://schemas.microsoft.com/office/drawing/2014/main" id="{F137282E-A021-4097-BC39-200EC70F3E6F}"/>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09</a:t>
            </a:r>
          </a:p>
        </p:txBody>
      </p:sp>
      <p:graphicFrame>
        <p:nvGraphicFramePr>
          <p:cNvPr id="7" name=""/>
          <p:cNvGraphicFramePr/>
          <p:nvPr/>
        </p:nvGraphicFramePr>
        <p:xfrm>
          <a:off xmlns:a="http://schemas.openxmlformats.org/drawingml/2006/main" x="628650" y="1647825"/>
          <a:ext xmlns:a="http://schemas.openxmlformats.org/drawingml/2006/main" cx="10934700" cy="4229100"/>
        </p:xfrm>
        <a:graphic xmlns:a="http://schemas.openxmlformats.org/drawingml/2006/main">
          <a:graphicData uri="http://schemas.openxmlformats.org/drawingml/2006/table">
            <a:tbl>
              <a:tblPr/>
              <a:tblGrid>
                <a:gridCol w="2286000"/>
                <a:gridCol w="4324350"/>
                <a:gridCol w="4324350"/>
              </a:tblGrid>
              <a:tr h="704850">
                <a:tc>
                  <a:txBody>
                    <a:bodyPr/>
                    <a:lstStyle/>
                    <a:p>
                      <a:r>
                        <a:rPr sz="1725" b="1">
                          <a:solidFill>
                            <a:srgbClr val="FFFFFF"/>
                          </a:solidFill>
                          <a:latin typeface="Arial"/>
                          <a:ea typeface="Arial"/>
                          <a:cs typeface="Arial"/>
                        </a:rPr>
                        <a:t>Stage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Passenger or system action</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Required outcome</a:t>
                      </a:r>
                    </a:p>
                  </a:txBody>
                  <a:tcPr marL="133350" marR="133350" marT="95250" marB="85725" anchor="ctr">
                    <a:solidFill>
                      <a:srgbClr val="183447"/>
                    </a:solidFill>
                  </a:tcPr>
                </a:tc>
              </a:tr>
              <a:tr h="704850">
                <a:tc>
                  <a:txBody>
                    <a:bodyPr/>
                    <a:lstStyle/>
                    <a:p>
                      <a:r>
                        <a:rPr sz="1725">
                          <a:solidFill>
                            <a:srgbClr val="223B49"/>
                          </a:solidFill>
                          <a:latin typeface="Arial"/>
                          <a:ea typeface="Arial"/>
                          <a:cs typeface="Arial"/>
                        </a:rPr>
                        <a:t>1  Request and recognise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Select assistance and bus. Perception adds cues.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Explicit intent remains authoritative.</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2  Prepare and dock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Reserve dwell and align with the boarding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Correct bus, stop and ramp reach.</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3  Mark and check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Show the ramp area and inspect its volume.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Clear, fresh safety inputs.</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4  Deploy and board</a:t>
                      </a:r>
                    </a:p>
                  </a:txBody>
                  <a:tcPr marL="133350" marR="133350" marT="95250" marB="85725" anchor="ctr">
                    <a:solidFill>
                      <a:srgbClr val="F4F7F6"/>
                    </a:solidFill>
                  </a:tcPr>
                </a:tc>
                <a:tc>
                  <a:txBody>
                    <a:bodyPr/>
                    <a:lstStyle/>
                    <a:p>
                      <a:r>
                        <a:rPr sz="1725">
                          <a:solidFill>
                            <a:srgbClr val="223B49"/>
                          </a:solidFill>
                          <a:latin typeface="Arial"/>
                          <a:ea typeface="Arial"/>
                          <a:cs typeface="Arial"/>
                        </a:rPr>
                        <a:t>Open door, deploy ramp and maintain dwell.</a:t>
                      </a:r>
                    </a:p>
                  </a:txBody>
                  <a:tcPr marL="133350" marR="133350" marT="95250" marB="85725" anchor="ctr">
                    <a:solidFill>
                      <a:srgbClr val="F4F7F6"/>
                    </a:solidFill>
                  </a:tcPr>
                </a:tc>
                <a:tc>
                  <a:txBody>
                    <a:bodyPr/>
                    <a:lstStyle/>
                    <a:p>
                      <a:r>
                        <a:rPr sz="1725">
                          <a:solidFill>
                            <a:srgbClr val="223B49"/>
                          </a:solidFill>
                          <a:latin typeface="Arial"/>
                          <a:ea typeface="Arial"/>
                          <a:cs typeface="Arial"/>
                        </a:rPr>
                        <a:t>Verify deployed position and monitor interlocks.</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5  Complete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Retract, verify stowed and close the door.</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Save outcome or escalate a fault.</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E0A862A-0EE1-4189-9589-5DAAFA9138A0}"/>
              </a:ext>
            </a:extLst>
          </p:cNvPr>
          <p:cNvSpPr>
            <a:spLocks xmlns:a="http://schemas.openxmlformats.org/drawingml/2006/main" noGrp="1"/>
          </p:cNvSpPr>
          <p:nvPr/>
        </p:nvSpPr>
        <p:spPr>
          <a:xfrm xmlns:a="http://schemas.openxmlformats.org/drawingml/2006/main">
            <a:off x="628650" y="6048375"/>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E83"/>
                </a:solidFill>
                <a:latin typeface="Arial"/>
                <a:ea typeface="Arial"/>
                <a:cs typeface="Arial"/>
              </a:defRPr>
            </a:pPr>
            <a:r>
              <a:rPr sz="1800" b="1">
                <a:solidFill>
                  <a:srgbClr val="087E83"/>
                </a:solidFill>
                <a:latin typeface="Arial"/>
                <a:ea typeface="Arial"/>
                <a:cs typeface="Arial"/>
              </a:rPr>
              <a:t>Second demonstration scenario: extra time and guidance without a ramp request.</a:t>
            </a:r>
          </a:p>
        </p:txBody>
      </p:sp>
    </p:spTree>
    <p:extLst>
      <p:ext uri="{BB962C8B-B14F-4D97-AF65-F5344CB8AC3E}">
        <p14:creationId xmlns:p14="http://schemas.microsoft.com/office/powerpoint/2010/main" val="16227038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10252B-7EA6-4F6A-AE9A-EE784FDC86F0}"/>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B. Architecture and authority</a:t>
            </a:r>
          </a:p>
        </p:txBody>
      </p:sp>
      <p:sp>
        <p:nvSpPr>
          <p:cNvPr id="2" name="">
            <a:extLst xmlns:a="http://schemas.openxmlformats.org/drawingml/2006/main">
              <a:ext uri="{FF2B5EF4-FFF2-40B4-BE49-F238E27FC236}">
                <a16:creationId xmlns:a16="http://schemas.microsoft.com/office/drawing/2014/main" id="{E06E7328-13C5-42F9-8694-D9F1A61F15A2}"/>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Shared messages connect software, sensing and the mock bus</a:t>
            </a:r>
          </a:p>
        </p:txBody>
      </p:sp>
      <p:sp>
        <p:nvSpPr>
          <p:cNvPr id="3" name="">
            <a:extLst xmlns:a="http://schemas.openxmlformats.org/drawingml/2006/main">
              <a:ext uri="{FF2B5EF4-FFF2-40B4-BE49-F238E27FC236}">
                <a16:creationId xmlns:a16="http://schemas.microsoft.com/office/drawing/2014/main" id="{3074C836-51F4-4B55-AF93-6291080ACFA9}"/>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10</a:t>
            </a:r>
          </a:p>
        </p:txBody>
      </p:sp>
      <p:graphicFrame>
        <p:nvGraphicFramePr>
          <p:cNvPr id="10" name=""/>
          <p:cNvGraphicFramePr/>
          <p:nvPr/>
        </p:nvGraphicFramePr>
        <p:xfrm>
          <a:off xmlns:a="http://schemas.openxmlformats.org/drawingml/2006/main" x="628650" y="1914525"/>
          <a:ext xmlns:a="http://schemas.openxmlformats.org/drawingml/2006/main" cx="10934700" cy="3257550"/>
        </p:xfrm>
        <a:graphic xmlns:a="http://schemas.openxmlformats.org/drawingml/2006/main">
          <a:graphicData uri="http://schemas.openxmlformats.org/drawingml/2006/table">
            <a:tbl>
              <a:tblPr/>
              <a:tblGrid>
                <a:gridCol w="1857375"/>
                <a:gridCol w="4105275"/>
                <a:gridCol w="4972050"/>
              </a:tblGrid>
              <a:tr h="651510">
                <a:tc>
                  <a:txBody>
                    <a:bodyPr/>
                    <a:lstStyle/>
                    <a:p>
                      <a:r>
                        <a:rPr sz="180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Main components</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Responsibility</a:t>
                      </a:r>
                    </a:p>
                  </a:txBody>
                  <a:tcPr marL="133350" marR="133350" marT="95250" marB="85725" anchor="ctr">
                    <a:solidFill>
                      <a:srgbClr val="183447"/>
                    </a:solidFill>
                  </a:tcPr>
                </a:tc>
              </a:tr>
              <a:tr h="651510">
                <a:tc>
                  <a:txBody>
                    <a:bodyPr/>
                    <a:lstStyle/>
                    <a:p>
                      <a:r>
                        <a:rPr sz="1800">
                          <a:solidFill>
                            <a:srgbClr val="223B49"/>
                          </a:solidFill>
                          <a:latin typeface="Arial"/>
                          <a:ea typeface="Arial"/>
                          <a:cs typeface="Arial"/>
                        </a:rPr>
                        <a:t>Passenger</a:t>
                      </a:r>
                    </a:p>
                  </a:txBody>
                  <a:tcPr marL="133350" marR="133350" marT="95250" marB="85725" anchor="ctr">
                    <a:solidFill>
                      <a:srgbClr val="FFFFFF"/>
                    </a:solidFill>
                  </a:tcPr>
                </a:tc>
                <a:tc>
                  <a:txBody>
                    <a:bodyPr/>
                    <a:lstStyle/>
                    <a:p>
                      <a:r>
                        <a:rPr sz="1800">
                          <a:solidFill>
                            <a:srgbClr val="223B49"/>
                          </a:solidFill>
                          <a:latin typeface="Arial"/>
                          <a:ea typeface="Arial"/>
                          <a:cs typeface="Arial"/>
                        </a:rPr>
                        <a:t>App, tactile stop unit, optional NFC</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Record request, confirmation and cancellation.</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Perception</a:t>
                      </a:r>
                    </a:p>
                  </a:txBody>
                  <a:tcPr marL="133350" marR="133350" marT="95250" marB="85725" anchor="ctr">
                    <a:solidFill>
                      <a:srgbClr val="F4F7F6"/>
                    </a:solidFill>
                  </a:tcPr>
                </a:tc>
                <a:tc>
                  <a:txBody>
                    <a:bodyPr/>
                    <a:lstStyle/>
                    <a:p>
                      <a:r>
                        <a:rPr sz="1800">
                          <a:solidFill>
                            <a:srgbClr val="223B49"/>
                          </a:solidFill>
                          <a:latin typeface="Arial"/>
                          <a:ea typeface="Arial"/>
                          <a:cs typeface="Arial"/>
                        </a:rPr>
                        <a:t>Camera, edge observer, ToF/IR</a:t>
                      </a:r>
                    </a:p>
                  </a:txBody>
                  <a:tcPr marL="133350" marR="133350" marT="95250" marB="85725" anchor="ctr">
                    <a:solidFill>
                      <a:srgbClr val="F4F7F6"/>
                    </a:solidFill>
                  </a:tcPr>
                </a:tc>
                <a:tc>
                  <a:txBody>
                    <a:bodyPr/>
                    <a:lstStyle/>
                    <a:p>
                      <a:r>
                        <a:rPr sz="1800">
                          <a:solidFill>
                            <a:srgbClr val="223B49"/>
                          </a:solidFill>
                          <a:latin typeface="Arial"/>
                          <a:ea typeface="Arial"/>
                          <a:cs typeface="Arial"/>
                        </a:rPr>
                        <a:t>Publish observations and sensor health.</a:t>
                      </a:r>
                    </a:p>
                  </a:txBody>
                  <a:tcPr marL="133350" marR="133350" marT="95250" marB="85725" anchor="ctr">
                    <a:solidFill>
                      <a:srgbClr val="F4F7F6"/>
                    </a:solidFill>
                  </a:tcPr>
                </a:tc>
              </a:tr>
              <a:tr h="651510">
                <a:tc>
                  <a:txBody>
                    <a:bodyPr/>
                    <a:lstStyle/>
                    <a:p>
                      <a:r>
                        <a:rPr sz="1800">
                          <a:solidFill>
                            <a:srgbClr val="223B49"/>
                          </a:solidFill>
                          <a:latin typeface="Arial"/>
                          <a:ea typeface="Arial"/>
                          <a:cs typeface="Arial"/>
                        </a:rPr>
                        <a:t>Decision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Backend case state machine, operator console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Match the case and apply deterministic safety gates.</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Vehicle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ESP32 controller, ramp/door, limit switches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Repeat local interlocks and verify motion outcome.</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82863E84-7254-4356-A5BD-6046FB6EF80B}"/>
              </a:ext>
            </a:extLst>
          </p:cNvPr>
          <p:cNvSpPr>
            <a:spLocks xmlns:a="http://schemas.openxmlformats.org/drawingml/2006/main" noGrp="1"/>
          </p:cNvSpPr>
          <p:nvPr/>
        </p:nvSpPr>
        <p:spPr>
          <a:xfrm xmlns:a="http://schemas.openxmlformats.org/drawingml/2006/main">
            <a:off x="628650" y="54673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Only passenger or operator confirmation establishes ramp intent.</a:t>
            </a:r>
          </a:p>
        </p:txBody>
      </p:sp>
      <p:sp>
        <p:nvSpPr>
          <p:cNvPr id="6" name="">
            <a:extLst xmlns:a="http://schemas.openxmlformats.org/drawingml/2006/main">
              <a:ext uri="{FF2B5EF4-FFF2-40B4-BE49-F238E27FC236}">
                <a16:creationId xmlns:a16="http://schemas.microsoft.com/office/drawing/2014/main" id="{86C01903-86F3-48F5-904F-E0171AA924BE}"/>
              </a:ext>
            </a:extLst>
          </p:cNvPr>
          <p:cNvSpPr>
            <a:spLocks xmlns:a="http://schemas.openxmlformats.org/drawingml/2006/main" noGrp="1"/>
          </p:cNvSpPr>
          <p:nvPr/>
        </p:nvSpPr>
        <p:spPr>
          <a:xfrm xmlns:a="http://schemas.openxmlformats.org/drawingml/2006/main">
            <a:off x="628650" y="59245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ML supports decisions. It cannot override a safety interlock.</a:t>
            </a:r>
          </a:p>
        </p:txBody>
      </p:sp>
    </p:spTree>
    <p:extLst>
      <p:ext uri="{BB962C8B-B14F-4D97-AF65-F5344CB8AC3E}">
        <p14:creationId xmlns:p14="http://schemas.microsoft.com/office/powerpoint/2010/main" val="7637678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9297C3-D9CD-402F-9D98-343196C32157}"/>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C. Software evidence</a:t>
            </a:r>
          </a:p>
        </p:txBody>
      </p:sp>
      <p:sp>
        <p:nvSpPr>
          <p:cNvPr id="2" name="">
            <a:extLst xmlns:a="http://schemas.openxmlformats.org/drawingml/2006/main">
              <a:ext uri="{FF2B5EF4-FFF2-40B4-BE49-F238E27FC236}">
                <a16:creationId xmlns:a16="http://schemas.microsoft.com/office/drawing/2014/main" id="{F69C43F8-95EC-482D-A1A9-5B5B7C34C552}"/>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The repository implements the competition software loop</a:t>
            </a:r>
          </a:p>
        </p:txBody>
      </p:sp>
      <p:sp>
        <p:nvSpPr>
          <p:cNvPr id="3" name="">
            <a:extLst xmlns:a="http://schemas.openxmlformats.org/drawingml/2006/main">
              <a:ext uri="{FF2B5EF4-FFF2-40B4-BE49-F238E27FC236}">
                <a16:creationId xmlns:a16="http://schemas.microsoft.com/office/drawing/2014/main" id="{C7A7ABCB-3896-49EA-9822-B5EDE47D7D6B}"/>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3D389554-CD6A-4C9E-9402-F669558E46C1}"/>
              </a:ext>
            </a:extLst>
          </p:cNvPr>
          <p:cNvSpPr>
            <a:spLocks xmlns:a="http://schemas.openxmlformats.org/drawingml/2006/main" noGrp="1"/>
          </p:cNvSpPr>
          <p:nvPr/>
        </p:nvSpPr>
        <p:spPr>
          <a:xfrm xmlns:a="http://schemas.openxmlformats.org/drawingml/2006/main">
            <a:off x="628650" y="19145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and operator interfaces</a:t>
            </a:r>
          </a:p>
        </p:txBody>
      </p:sp>
      <p:sp>
        <p:nvSpPr>
          <p:cNvPr id="5" name="">
            <a:extLst xmlns:a="http://schemas.openxmlformats.org/drawingml/2006/main">
              <a:ext uri="{FF2B5EF4-FFF2-40B4-BE49-F238E27FC236}">
                <a16:creationId xmlns:a16="http://schemas.microsoft.com/office/drawing/2014/main" id="{6D2BAB63-2258-4EEC-AEB0-337DF1E43A60}"/>
              </a:ext>
            </a:extLst>
          </p:cNvPr>
          <p:cNvSpPr>
            <a:spLocks xmlns:a="http://schemas.openxmlformats.org/drawingml/2006/main" noGrp="1"/>
          </p:cNvSpPr>
          <p:nvPr/>
        </p:nvSpPr>
        <p:spPr>
          <a:xfrm xmlns:a="http://schemas.openxmlformats.org/drawingml/2006/main">
            <a:off x="628650" y="23145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Request assistance, track case status, cancel and expose reasons for blocked or escalated actions.</a:t>
            </a:r>
          </a:p>
        </p:txBody>
      </p:sp>
      <p:sp>
        <p:nvSpPr>
          <p:cNvPr id="6" name="">
            <a:extLst xmlns:a="http://schemas.openxmlformats.org/drawingml/2006/main">
              <a:ext uri="{FF2B5EF4-FFF2-40B4-BE49-F238E27FC236}">
                <a16:creationId xmlns:a16="http://schemas.microsoft.com/office/drawing/2014/main" id="{41C5ED3D-4517-4C35-9A82-66FC0AC42A1C}"/>
              </a:ext>
            </a:extLst>
          </p:cNvPr>
          <p:cNvSpPr>
            <a:spLocks xmlns:a="http://schemas.openxmlformats.org/drawingml/2006/main" noGrp="1"/>
          </p:cNvSpPr>
          <p:nvPr/>
        </p:nvSpPr>
        <p:spPr>
          <a:xfrm xmlns:a="http://schemas.openxmlformats.org/drawingml/2006/main">
            <a:off x="628650" y="30956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Backend and mock control</a:t>
            </a:r>
          </a:p>
        </p:txBody>
      </p:sp>
      <p:sp>
        <p:nvSpPr>
          <p:cNvPr id="7" name="">
            <a:extLst xmlns:a="http://schemas.openxmlformats.org/drawingml/2006/main">
              <a:ext uri="{FF2B5EF4-FFF2-40B4-BE49-F238E27FC236}">
                <a16:creationId xmlns:a16="http://schemas.microsoft.com/office/drawing/2014/main" id="{01468844-8715-4351-B45F-F8F279F6DD57}"/>
              </a:ext>
            </a:extLst>
          </p:cNvPr>
          <p:cNvSpPr>
            <a:spLocks xmlns:a="http://schemas.openxmlformats.org/drawingml/2006/main" noGrp="1"/>
          </p:cNvSpPr>
          <p:nvPr/>
        </p:nvSpPr>
        <p:spPr>
          <a:xfrm xmlns:a="http://schemas.openxmlformats.org/drawingml/2006/main">
            <a:off x="628650" y="3495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Persist cases and audit events. Reject duplicate actions and verify deployed/stowed telemetry.</a:t>
            </a:r>
          </a:p>
        </p:txBody>
      </p:sp>
      <p:sp>
        <p:nvSpPr>
          <p:cNvPr id="8" name="">
            <a:extLst xmlns:a="http://schemas.openxmlformats.org/drawingml/2006/main">
              <a:ext uri="{FF2B5EF4-FFF2-40B4-BE49-F238E27FC236}">
                <a16:creationId xmlns:a16="http://schemas.microsoft.com/office/drawing/2014/main" id="{A951DD9B-D681-4F10-A951-E22A1226F6E1}"/>
              </a:ext>
            </a:extLst>
          </p:cNvPr>
          <p:cNvSpPr>
            <a:spLocks xmlns:a="http://schemas.openxmlformats.org/drawingml/2006/main" noGrp="1"/>
          </p:cNvSpPr>
          <p:nvPr/>
        </p:nvSpPr>
        <p:spPr>
          <a:xfrm xmlns:a="http://schemas.openxmlformats.org/drawingml/2006/main">
            <a:off x="628650" y="42767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Verification still required</a:t>
            </a:r>
          </a:p>
        </p:txBody>
      </p:sp>
      <p:sp>
        <p:nvSpPr>
          <p:cNvPr id="9" name="">
            <a:extLst xmlns:a="http://schemas.openxmlformats.org/drawingml/2006/main">
              <a:ext uri="{FF2B5EF4-FFF2-40B4-BE49-F238E27FC236}">
                <a16:creationId xmlns:a16="http://schemas.microsoft.com/office/drawing/2014/main" id="{813C5CE3-0A6C-4382-8858-457D491EAA4F}"/>
              </a:ext>
            </a:extLst>
          </p:cNvPr>
          <p:cNvSpPr>
            <a:spLocks xmlns:a="http://schemas.openxmlformats.org/drawingml/2006/main" noGrp="1"/>
          </p:cNvSpPr>
          <p:nvPr/>
        </p:nvSpPr>
        <p:spPr>
          <a:xfrm xmlns:a="http://schemas.openxmlformats.org/drawingml/2006/main">
            <a:off x="628650" y="4676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Physical actuation and on-device ARM64 Qwen tests. Transport arrivals and selected amenities use labelled fixtures.</a:t>
            </a:r>
          </a:p>
        </p:txBody>
      </p:sp>
    </p:spTree>
    <p:extLst>
      <p:ext uri="{BB962C8B-B14F-4D97-AF65-F5344CB8AC3E}">
        <p14:creationId xmlns:p14="http://schemas.microsoft.com/office/powerpoint/2010/main" val="2254949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2F9E7B-28E6-4E1B-A4D8-2DBD23167BA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D. Electronics bench evidence</a:t>
            </a:r>
          </a:p>
        </p:txBody>
      </p:sp>
      <p:sp>
        <p:nvSpPr>
          <p:cNvPr id="2" name="">
            <a:extLst xmlns:a="http://schemas.openxmlformats.org/drawingml/2006/main">
              <a:ext uri="{FF2B5EF4-FFF2-40B4-BE49-F238E27FC236}">
                <a16:creationId xmlns:a16="http://schemas.microsoft.com/office/drawing/2014/main" id="{C4864F23-B033-4FF9-B658-DCC28AFC1C6A}"/>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ESP32-S3 and VL53L0X live ranging verified on 23 September</a:t>
            </a:r>
          </a:p>
        </p:txBody>
      </p:sp>
      <p:sp>
        <p:nvSpPr>
          <p:cNvPr id="3" name="">
            <a:extLst xmlns:a="http://schemas.openxmlformats.org/drawingml/2006/main">
              <a:ext uri="{FF2B5EF4-FFF2-40B4-BE49-F238E27FC236}">
                <a16:creationId xmlns:a16="http://schemas.microsoft.com/office/drawing/2014/main" id="{74A5DB3C-C270-41AE-8C6C-F14D0523D159}"/>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7C4CFF4-DBB0-428A-B415-66F529A2ED3D}"/>
              </a:ext>
            </a:extLst>
          </p:cNvPr>
          <p:cNvSpPr>
            <a:spLocks xmlns:a="http://schemas.openxmlformats.org/drawingml/2006/main" noGrp="1"/>
          </p:cNvSpPr>
          <p:nvPr/>
        </p:nvSpPr>
        <p:spPr>
          <a:xfrm xmlns:a="http://schemas.openxmlformats.org/drawingml/2006/main">
            <a:off x="628650" y="196215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27 consecutive valid samples</a:t>
            </a:r>
          </a:p>
        </p:txBody>
      </p:sp>
      <p:sp>
        <p:nvSpPr>
          <p:cNvPr id="5" name="">
            <a:extLst xmlns:a="http://schemas.openxmlformats.org/drawingml/2006/main">
              <a:ext uri="{FF2B5EF4-FFF2-40B4-BE49-F238E27FC236}">
                <a16:creationId xmlns:a16="http://schemas.microsoft.com/office/drawing/2014/main" id="{AC2866F7-7088-4EB2-8A0A-664151522C2F}"/>
              </a:ext>
            </a:extLst>
          </p:cNvPr>
          <p:cNvSpPr>
            <a:spLocks xmlns:a="http://schemas.openxmlformats.org/drawingml/2006/main" noGrp="1"/>
          </p:cNvSpPr>
          <p:nvPr/>
        </p:nvSpPr>
        <p:spPr>
          <a:xfrm xmlns:a="http://schemas.openxmlformats.org/drawingml/2006/main">
            <a:off x="628650" y="27146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23B49"/>
                </a:solidFill>
                <a:latin typeface="Arial"/>
                <a:ea typeface="Arial"/>
                <a:cs typeface="Arial"/>
              </a:defRPr>
            </a:pPr>
            <a:r>
              <a:rPr sz="2250" b="0">
                <a:solidFill>
                  <a:srgbClr val="223B49"/>
                </a:solidFill>
                <a:latin typeface="Arial"/>
                <a:ea typeface="Arial"/>
                <a:cs typeface="Arial"/>
              </a:rPr>
              <a:t>30–136 mm after a full sensor power cycle</a:t>
            </a:r>
          </a:p>
        </p:txBody>
      </p:sp>
      <p:sp>
        <p:nvSpPr>
          <p:cNvPr id="6" name="">
            <a:extLst xmlns:a="http://schemas.openxmlformats.org/drawingml/2006/main">
              <a:ext uri="{FF2B5EF4-FFF2-40B4-BE49-F238E27FC236}">
                <a16:creationId xmlns:a16="http://schemas.microsoft.com/office/drawing/2014/main" id="{4687856D-D965-46CD-80CA-3AE1E8318C56}"/>
              </a:ext>
            </a:extLst>
          </p:cNvPr>
          <p:cNvSpPr>
            <a:spLocks xmlns:a="http://schemas.openxmlformats.org/drawingml/2006/main" noGrp="1"/>
          </p:cNvSpPr>
          <p:nvPr/>
        </p:nvSpPr>
        <p:spPr>
          <a:xfrm xmlns:a="http://schemas.openxmlformats.org/drawingml/2006/main">
            <a:off x="628650" y="36385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What this establishes</a:t>
            </a:r>
          </a:p>
        </p:txBody>
      </p:sp>
      <p:sp>
        <p:nvSpPr>
          <p:cNvPr id="7" name="">
            <a:extLst xmlns:a="http://schemas.openxmlformats.org/drawingml/2006/main">
              <a:ext uri="{FF2B5EF4-FFF2-40B4-BE49-F238E27FC236}">
                <a16:creationId xmlns:a16="http://schemas.microsoft.com/office/drawing/2014/main" id="{0497BB4F-4AEE-46E0-BB3E-852A7F014408}"/>
              </a:ext>
            </a:extLst>
          </p:cNvPr>
          <p:cNvSpPr>
            <a:spLocks xmlns:a="http://schemas.openxmlformats.org/drawingml/2006/main" noGrp="1"/>
          </p:cNvSpPr>
          <p:nvPr/>
        </p:nvSpPr>
        <p:spPr>
          <a:xfrm xmlns:a="http://schemas.openxmlformats.org/drawingml/2006/main">
            <a:off x="628650" y="4038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The controller can identify the connected sensor and receive live distance readings.</a:t>
            </a:r>
          </a:p>
        </p:txBody>
      </p:sp>
      <p:sp>
        <p:nvSpPr>
          <p:cNvPr id="8" name="">
            <a:extLst xmlns:a="http://schemas.openxmlformats.org/drawingml/2006/main">
              <a:ext uri="{FF2B5EF4-FFF2-40B4-BE49-F238E27FC236}">
                <a16:creationId xmlns:a16="http://schemas.microsoft.com/office/drawing/2014/main" id="{26FFD9F8-8723-4034-A9B1-208F4121C379}"/>
              </a:ext>
            </a:extLst>
          </p:cNvPr>
          <p:cNvSpPr>
            <a:spLocks xmlns:a="http://schemas.openxmlformats.org/drawingml/2006/main" noGrp="1"/>
          </p:cNvSpPr>
          <p:nvPr/>
        </p:nvSpPr>
        <p:spPr>
          <a:xfrm xmlns:a="http://schemas.openxmlformats.org/drawingml/2006/main">
            <a:off x="628650" y="471487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Integration issue</a:t>
            </a:r>
          </a:p>
        </p:txBody>
      </p:sp>
      <p:sp>
        <p:nvSpPr>
          <p:cNvPr id="9" name="">
            <a:extLst xmlns:a="http://schemas.openxmlformats.org/drawingml/2006/main">
              <a:ext uri="{FF2B5EF4-FFF2-40B4-BE49-F238E27FC236}">
                <a16:creationId xmlns:a16="http://schemas.microsoft.com/office/drawing/2014/main" id="{91F5A0F3-77A2-4852-A500-0A0AE3CFF4B0}"/>
              </a:ext>
            </a:extLst>
          </p:cNvPr>
          <p:cNvSpPr>
            <a:spLocks xmlns:a="http://schemas.openxmlformats.org/drawingml/2006/main" noGrp="1"/>
          </p:cNvSpPr>
          <p:nvPr/>
        </p:nvSpPr>
        <p:spPr>
          <a:xfrm xmlns:a="http://schemas.openxmlformats.org/drawingml/2006/main">
            <a:off x="628650" y="51149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The physical sensor is single-zone VL53L0X. Ramp firmware expects a VL53L5CX 8×8 sensor.</a:t>
            </a:r>
          </a:p>
        </p:txBody>
      </p:sp>
      <p:sp>
        <p:nvSpPr>
          <p:cNvPr id="10" name="">
            <a:extLst xmlns:a="http://schemas.openxmlformats.org/drawingml/2006/main">
              <a:ext uri="{FF2B5EF4-FFF2-40B4-BE49-F238E27FC236}">
                <a16:creationId xmlns:a16="http://schemas.microsoft.com/office/drawing/2014/main" id="{94CD2F89-3092-4977-ADCB-88969427FC16}"/>
              </a:ext>
            </a:extLst>
          </p:cNvPr>
          <p:cNvSpPr>
            <a:spLocks xmlns:a="http://schemas.openxmlformats.org/drawingml/2006/main" noGrp="1"/>
          </p:cNvSpPr>
          <p:nvPr/>
        </p:nvSpPr>
        <p:spPr>
          <a:xfrm xmlns:a="http://schemas.openxmlformats.org/drawingml/2006/main">
            <a:off x="628650" y="59817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Accuracy, calibrated ramp coverage and physical safety performance remain unverified.</a:t>
            </a:r>
          </a:p>
        </p:txBody>
      </p:sp>
    </p:spTree>
    <p:extLst>
      <p:ext uri="{BB962C8B-B14F-4D97-AF65-F5344CB8AC3E}">
        <p14:creationId xmlns:p14="http://schemas.microsoft.com/office/powerpoint/2010/main" val="161202547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279CE0-8EB2-4488-BFE9-27B5438BE1D3}"/>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E. Machine-learning evidence</a:t>
            </a:r>
          </a:p>
        </p:txBody>
      </p:sp>
      <p:sp>
        <p:nvSpPr>
          <p:cNvPr id="2" name="">
            <a:extLst xmlns:a="http://schemas.openxmlformats.org/drawingml/2006/main">
              <a:ext uri="{FF2B5EF4-FFF2-40B4-BE49-F238E27FC236}">
                <a16:creationId xmlns:a16="http://schemas.microsoft.com/office/drawing/2014/main" id="{0E454EF1-39B6-4BD7-B034-F0D05233395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13</a:t>
            </a:r>
          </a:p>
        </p:txBody>
      </p:sp>
      <p:graphicFrame>
        <p:nvGraphicFramePr>
          <p:cNvPr id="7" name=""/>
          <p:cNvGraphicFramePr/>
          <p:nvPr/>
        </p:nvGraphicFramePr>
        <p:xfrm>
          <a:off xmlns:a="http://schemas.openxmlformats.org/drawingml/2006/main" x="628650" y="1781175"/>
          <a:ext xmlns:a="http://schemas.openxmlformats.org/drawingml/2006/main" cx="10934700" cy="3419475"/>
        </p:xfrm>
        <a:graphic xmlns:a="http://schemas.openxmlformats.org/drawingml/2006/main">
          <a:graphicData uri="http://schemas.openxmlformats.org/drawingml/2006/table">
            <a:tbl>
              <a:tblPr/>
              <a:tblGrid>
                <a:gridCol w="2143125"/>
                <a:gridCol w="3286125"/>
                <a:gridCol w="5505450"/>
              </a:tblGrid>
              <a:tr h="854869">
                <a:tc>
                  <a:txBody>
                    <a:bodyPr/>
                    <a:lstStyle/>
                    <a:p>
                      <a:r>
                        <a:rPr sz="1800" b="1">
                          <a:solidFill>
                            <a:srgbClr val="FFFFFF"/>
                          </a:solidFill>
                          <a:latin typeface="Arial"/>
                          <a:ea typeface="Arial"/>
                          <a:cs typeface="Arial"/>
                        </a:rPr>
                        <a:t>Module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Intended decision</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Current evidence / next evidence</a:t>
                      </a:r>
                    </a:p>
                  </a:txBody>
                  <a:tcPr marL="133350" marR="133350" marT="95250" marB="85725" anchor="ctr">
                    <a:solidFill>
                      <a:srgbClr val="183447"/>
                    </a:solidFill>
                  </a:tcPr>
                </a:tc>
              </a:tr>
              <a:tr h="854869">
                <a:tc>
                  <a:txBody>
                    <a:bodyPr/>
                    <a:lstStyle/>
                    <a:p>
                      <a:r>
                        <a:rPr sz="1800">
                          <a:solidFill>
                            <a:srgbClr val="223B49"/>
                          </a:solidFill>
                          <a:latin typeface="Arial"/>
                          <a:ea typeface="Arial"/>
                          <a:cs typeface="Arial"/>
                        </a:rPr>
                        <a:t>ML1  Assistance cue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Recognise selected observable aids.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Scripts and label guide ready. Add trained weights, held-out metrics and device latency.</a:t>
                      </a:r>
                    </a:p>
                  </a:txBody>
                  <a:tcPr marL="133350" marR="133350" marT="95250" marB="85725" anchor="ctr">
                    <a:solidFill>
                      <a:srgbClr val="FFFFFF"/>
                    </a:solidFill>
                  </a:tcPr>
                </a:tc>
              </a:tr>
              <a:tr h="854869">
                <a:tc>
                  <a:txBody>
                    <a:bodyPr/>
                    <a:lstStyle/>
                    <a:p>
                      <a:r>
                        <a:rPr sz="1800">
                          <a:solidFill>
                            <a:srgbClr val="223B49"/>
                          </a:solidFill>
                          <a:latin typeface="Arial"/>
                          <a:ea typeface="Arial"/>
                          <a:cs typeface="Arial"/>
                        </a:rPr>
                        <a:t>ML2  Ramp zone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Describe objects within the deployment area.</a:t>
                      </a:r>
                    </a:p>
                  </a:txBody>
                  <a:tcPr marL="133350" marR="133350" marT="95250" marB="85725" anchor="ctr">
                    <a:solidFill>
                      <a:srgbClr val="F4F7F6"/>
                    </a:solidFill>
                  </a:tcPr>
                </a:tc>
                <a:tc>
                  <a:txBody>
                    <a:bodyPr/>
                    <a:lstStyle/>
                    <a:p>
                      <a:r>
                        <a:rPr sz="1800">
                          <a:solidFill>
                            <a:srgbClr val="223B49"/>
                          </a:solidFill>
                          <a:latin typeface="Arial"/>
                          <a:ea typeface="Arial"/>
                          <a:cs typeface="Arial"/>
                        </a:rPr>
                        <a:t>Fusion and sensor interfaces exist. Add trained/evaluated perception and physical obstruction trials.</a:t>
                      </a:r>
                    </a:p>
                  </a:txBody>
                  <a:tcPr marL="133350" marR="133350" marT="95250" marB="85725" anchor="ctr">
                    <a:solidFill>
                      <a:srgbClr val="F4F7F6"/>
                    </a:solidFill>
                  </a:tcPr>
                </a:tc>
              </a:tr>
              <a:tr h="854869">
                <a:tc>
                  <a:txBody>
                    <a:bodyPr/>
                    <a:lstStyle/>
                    <a:p>
                      <a:r>
                        <a:rPr sz="1800">
                          <a:solidFill>
                            <a:srgbClr val="223B49"/>
                          </a:solidFill>
                          <a:latin typeface="Arial"/>
                          <a:ea typeface="Arial"/>
                          <a:cs typeface="Arial"/>
                        </a:rPr>
                        <a:t>ML3  Dwell state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Classify active, clear or uncertain boarding.</a:t>
                      </a:r>
                    </a:p>
                  </a:txBody>
                  <a:tcPr marL="133350" marR="133350" marT="95250" marB="85725" anchor="ctr">
                    <a:solidFill>
                      <a:srgbClr val="FFFFFF"/>
                    </a:solidFill>
                  </a:tcPr>
                </a:tc>
                <a:tc>
                  <a:txBody>
                    <a:bodyPr/>
                    <a:lstStyle/>
                    <a:p>
                      <a:r>
                        <a:rPr sz="1800">
                          <a:solidFill>
                            <a:srgbClr val="223B49"/>
                          </a:solidFill>
                          <a:latin typeface="Arial"/>
                          <a:ea typeface="Arial"/>
                          <a:cs typeface="Arial"/>
                        </a:rPr>
                        <a:t>Training/evaluation evidence pending. Validate the fixed-dwell sensor-clear fallback.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3DCB09B-5972-447E-8679-95F63602923E}"/>
              </a:ext>
            </a:extLst>
          </p:cNvPr>
          <p:cNvSpPr>
            <a:spLocks xmlns:a="http://schemas.openxmlformats.org/drawingml/2006/main" noGrp="1"/>
          </p:cNvSpPr>
          <p:nvPr/>
        </p:nvSpPr>
        <p:spPr>
          <a:xfrm xmlns:a="http://schemas.openxmlformats.org/drawingml/2006/main">
            <a:off x="628650" y="552450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A detection never diagnoses disability or authorizes ramp movement by itself.</a:t>
            </a:r>
          </a:p>
        </p:txBody>
      </p:sp>
    </p:spTree>
    <p:extLst>
      <p:ext uri="{BB962C8B-B14F-4D97-AF65-F5344CB8AC3E}">
        <p14:creationId xmlns:p14="http://schemas.microsoft.com/office/powerpoint/2010/main" val="20351227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6D4D67-D020-4CB5-8A1E-732B0DAEC5A8}"/>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F. Original deliverables D1–D5</a:t>
            </a:r>
          </a:p>
        </p:txBody>
      </p:sp>
      <p:sp>
        <p:nvSpPr>
          <p:cNvPr id="2" name="">
            <a:extLst xmlns:a="http://schemas.openxmlformats.org/drawingml/2006/main">
              <a:ext uri="{FF2B5EF4-FFF2-40B4-BE49-F238E27FC236}">
                <a16:creationId xmlns:a16="http://schemas.microsoft.com/office/drawing/2014/main" id="{1C5A6C4D-267C-4155-8CF4-8A5270AA13FC}"/>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Status against the original action plan</a:t>
            </a:r>
          </a:p>
        </p:txBody>
      </p:sp>
      <p:sp>
        <p:nvSpPr>
          <p:cNvPr id="3" name="">
            <a:extLst xmlns:a="http://schemas.openxmlformats.org/drawingml/2006/main">
              <a:ext uri="{FF2B5EF4-FFF2-40B4-BE49-F238E27FC236}">
                <a16:creationId xmlns:a16="http://schemas.microsoft.com/office/drawing/2014/main" id="{FA7AC54C-EF5E-4A0B-B1E0-EB5E8F73FCF5}"/>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14</a:t>
            </a:r>
          </a:p>
        </p:txBody>
      </p:sp>
      <p:graphicFrame>
        <p:nvGraphicFramePr>
          <p:cNvPr id="8" name=""/>
          <p:cNvGraphicFramePr/>
          <p:nvPr/>
        </p:nvGraphicFramePr>
        <p:xfrm>
          <a:off xmlns:a="http://schemas.openxmlformats.org/drawingml/2006/main" x="628650" y="1828800"/>
          <a:ext xmlns:a="http://schemas.openxmlformats.org/drawingml/2006/main" cx="10934700" cy="4171950"/>
        </p:xfrm>
        <a:graphic xmlns:a="http://schemas.openxmlformats.org/drawingml/2006/main">
          <a:graphicData uri="http://schemas.openxmlformats.org/drawingml/2006/table">
            <a:tbl>
              <a:tblPr/>
              <a:tblGrid>
                <a:gridCol w="2276475"/>
                <a:gridCol w="3562350"/>
                <a:gridCol w="5095875"/>
              </a:tblGrid>
              <a:tr h="69532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695325">
                <a:tc>
                  <a:txBody>
                    <a:bodyPr/>
                    <a:lstStyle/>
                    <a:p>
                      <a:r>
                        <a:rPr sz="1725">
                          <a:solidFill>
                            <a:srgbClr val="223B49"/>
                          </a:solidFill>
                          <a:latin typeface="Arial"/>
                          <a:ea typeface="Arial"/>
                          <a:cs typeface="Arial"/>
                        </a:rPr>
                        <a:t>D1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Architecture, interfaces and states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Documented. Final group review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D2  EE1 /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Integrated mock bus, stop and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Subsystem evidence exists. Cold-start physical trials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D3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Passenger app and dashboard</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Implemented in software. Final demonstration evidence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D4  CE2 / EE1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ML1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Training workflow ready. Weights, metrics and model card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D5  CE2 / EE1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ML2 and safety-fusion package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Integration logic exists. Measured perception and safety results pending.</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763354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C691D6-D386-4649-9119-596E9E2620A3}"/>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G. Original deliverables D6–D9</a:t>
            </a:r>
          </a:p>
        </p:txBody>
      </p:sp>
      <p:sp>
        <p:nvSpPr>
          <p:cNvPr id="2" name="">
            <a:extLst xmlns:a="http://schemas.openxmlformats.org/drawingml/2006/main">
              <a:ext uri="{FF2B5EF4-FFF2-40B4-BE49-F238E27FC236}">
                <a16:creationId xmlns:a16="http://schemas.microsoft.com/office/drawing/2014/main" id="{6C7D4356-CB84-4F24-B937-E6D4CE60D788}"/>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Role labels follow the outline. Confirm the final team roster.</a:t>
            </a:r>
          </a:p>
        </p:txBody>
      </p:sp>
      <p:sp>
        <p:nvSpPr>
          <p:cNvPr id="3" name="">
            <a:extLst xmlns:a="http://schemas.openxmlformats.org/drawingml/2006/main">
              <a:ext uri="{FF2B5EF4-FFF2-40B4-BE49-F238E27FC236}">
                <a16:creationId xmlns:a16="http://schemas.microsoft.com/office/drawing/2014/main" id="{DC15044C-E14D-46E9-A9E3-2B9A4533984D}"/>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15</a:t>
            </a:r>
          </a:p>
        </p:txBody>
      </p:sp>
      <p:graphicFrame>
        <p:nvGraphicFramePr>
          <p:cNvPr id="8" name=""/>
          <p:cNvGraphicFramePr/>
          <p:nvPr/>
        </p:nvGraphicFramePr>
        <p:xfrm>
          <a:off xmlns:a="http://schemas.openxmlformats.org/drawingml/2006/main" x="628650" y="1971675"/>
          <a:ext xmlns:a="http://schemas.openxmlformats.org/drawingml/2006/main" cx="10934700" cy="3609975"/>
        </p:xfrm>
        <a:graphic xmlns:a="http://schemas.openxmlformats.org/drawingml/2006/main">
          <a:graphicData uri="http://schemas.openxmlformats.org/drawingml/2006/table">
            <a:tbl>
              <a:tblPr/>
              <a:tblGrid>
                <a:gridCol w="2276475"/>
                <a:gridCol w="3562350"/>
                <a:gridCol w="5095875"/>
              </a:tblGrid>
              <a:tr h="72199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721995">
                <a:tc>
                  <a:txBody>
                    <a:bodyPr/>
                    <a:lstStyle/>
                    <a:p>
                      <a:r>
                        <a:rPr sz="1725">
                          <a:solidFill>
                            <a:srgbClr val="223B49"/>
                          </a:solidFill>
                          <a:latin typeface="Arial"/>
                          <a:ea typeface="Arial"/>
                          <a:cs typeface="Arial"/>
                        </a:rPr>
                        <a:t>D6  CE2 / CE1 / EE2</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ML3 or documented fallback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Trained classifier evidence pending. Validate fallback and no-premature-CLEAR cases.</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D7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Mechanical and electrical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CAD and circuit material available. Final BOM, power and cycle results pending.</a:t>
                      </a:r>
                    </a:p>
                  </a:txBody>
                  <a:tcPr marL="133350" marR="133350" marT="95250" marB="85725" anchor="ctr">
                    <a:solidFill>
                      <a:srgbClr val="F4F7F6"/>
                    </a:solidFill>
                  </a:tcPr>
                </a:tc>
              </a:tr>
              <a:tr h="721995">
                <a:tc>
                  <a:txBody>
                    <a:bodyPr/>
                    <a:lstStyle/>
                    <a:p>
                      <a:r>
                        <a:rPr sz="1725">
                          <a:solidFill>
                            <a:srgbClr val="223B49"/>
                          </a:solidFill>
                          <a:latin typeface="Arial"/>
                          <a:ea typeface="Arial"/>
                          <a:cs typeface="Arial"/>
                        </a:rPr>
                        <a:t>D8  All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Validation and accessibility report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Protocol available. Physical metrics, baseline and user findings incomplete.</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D9  All / CE1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Competition submission pack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Report and presentation drafts. Video, final evidence and packaging pending.</a:t>
                      </a:r>
                    </a:p>
                  </a:txBody>
                  <a:tcPr marL="133350" marR="133350" marT="95250" marB="85725" anchor="ctr">
                    <a:solidFill>
                      <a:srgbClr val="F4F7F6"/>
                    </a:solidFill>
                  </a:tcPr>
                </a:tc>
              </a:tr>
            </a:tbl>
          </a:graphicData>
        </a:graphic>
      </p:graphicFrame>
    </p:spTree>
    <p:extLst>
      <p:ext uri="{BB962C8B-B14F-4D97-AF65-F5344CB8AC3E}">
        <p14:creationId xmlns:p14="http://schemas.microsoft.com/office/powerpoint/2010/main" val="75113956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991C48-1481-47C8-AA7C-DD8F2CD584D6}"/>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H. User feedback and impact</a:t>
            </a:r>
          </a:p>
        </p:txBody>
      </p:sp>
      <p:sp>
        <p:nvSpPr>
          <p:cNvPr id="2" name="">
            <a:extLst xmlns:a="http://schemas.openxmlformats.org/drawingml/2006/main">
              <a:ext uri="{FF2B5EF4-FFF2-40B4-BE49-F238E27FC236}">
                <a16:creationId xmlns:a16="http://schemas.microsoft.com/office/drawing/2014/main" id="{E3C73C00-7CA8-4A28-A5CA-44511DDCD5DA}"/>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Study findings remain incomplete</a:t>
            </a:r>
          </a:p>
        </p:txBody>
      </p:sp>
      <p:sp>
        <p:nvSpPr>
          <p:cNvPr id="3" name="">
            <a:extLst xmlns:a="http://schemas.openxmlformats.org/drawingml/2006/main">
              <a:ext uri="{FF2B5EF4-FFF2-40B4-BE49-F238E27FC236}">
                <a16:creationId xmlns:a16="http://schemas.microsoft.com/office/drawing/2014/main" id="{230A3F93-4CAC-43EB-8ED9-38757FD603DA}"/>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16</a:t>
            </a:r>
          </a:p>
        </p:txBody>
      </p:sp>
      <p:graphicFrame>
        <p:nvGraphicFramePr>
          <p:cNvPr id="9" name=""/>
          <p:cNvGraphicFramePr/>
          <p:nvPr/>
        </p:nvGraphicFramePr>
        <p:xfrm>
          <a:off xmlns:a="http://schemas.openxmlformats.org/drawingml/2006/main" x="628650" y="1905000"/>
          <a:ext xmlns:a="http://schemas.openxmlformats.org/drawingml/2006/main" cx="10934700" cy="3609975"/>
        </p:xfrm>
        <a:graphic xmlns:a="http://schemas.openxmlformats.org/drawingml/2006/main">
          <a:graphicData uri="http://schemas.openxmlformats.org/drawingml/2006/table">
            <a:tbl>
              <a:tblPr/>
              <a:tblGrid>
                <a:gridCol w="4010025"/>
                <a:gridCol w="6924675"/>
              </a:tblGrid>
              <a:tr h="601663">
                <a:tc>
                  <a:txBody>
                    <a:bodyPr/>
                    <a:lstStyle/>
                    <a:p>
                      <a:r>
                        <a:rPr sz="1800" b="1">
                          <a:solidFill>
                            <a:srgbClr val="FFFFFF"/>
                          </a:solidFill>
                          <a:latin typeface="Arial"/>
                          <a:ea typeface="Arial"/>
                          <a:cs typeface="Arial"/>
                        </a:rPr>
                        <a:t>Study field</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Evidence to add</a:t>
                      </a:r>
                    </a:p>
                  </a:txBody>
                  <a:tcPr marL="133350" marR="133350" marT="95250" marB="85725" anchor="ctr">
                    <a:solidFill>
                      <a:srgbClr val="183447"/>
                    </a:solidFill>
                  </a:tcPr>
                </a:tc>
              </a:tr>
              <a:tr h="601663">
                <a:tc>
                  <a:txBody>
                    <a:bodyPr/>
                    <a:lstStyle/>
                    <a:p>
                      <a:r>
                        <a:rPr sz="1800">
                          <a:solidFill>
                            <a:srgbClr val="223B49"/>
                          </a:solidFill>
                          <a:latin typeface="Arial"/>
                          <a:ea typeface="Arial"/>
                          <a:cs typeface="Arial"/>
                        </a:rPr>
                        <a:t>Participants, consent and test date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Clarity and control</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Confidence and comfort</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Manual baseline versus GoAssist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Design changes from feedback</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2BD8CB0-BAAB-41A8-9D44-1E42CD770196}"/>
              </a:ext>
            </a:extLst>
          </p:cNvPr>
          <p:cNvSpPr>
            <a:spLocks xmlns:a="http://schemas.openxmlformats.org/drawingml/2006/main" noGrp="1"/>
          </p:cNvSpPr>
          <p:nvPr/>
        </p:nvSpPr>
        <p:spPr>
          <a:xfrm xmlns:a="http://schemas.openxmlformats.org/drawingml/2006/main">
            <a:off x="628650" y="58959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Baseline measures: acknowledgement, manual interventions, completion and waiting time.</a:t>
            </a:r>
          </a:p>
        </p:txBody>
      </p:sp>
    </p:spTree>
    <p:extLst>
      <p:ext uri="{BB962C8B-B14F-4D97-AF65-F5344CB8AC3E}">
        <p14:creationId xmlns:p14="http://schemas.microsoft.com/office/powerpoint/2010/main" val="125515937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067488-A1D3-4ABD-946B-E78EDE56E595}"/>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I. Costs and final evidence</a:t>
            </a:r>
          </a:p>
        </p:txBody>
      </p:sp>
      <p:sp>
        <p:nvSpPr>
          <p:cNvPr id="2" name="">
            <a:extLst xmlns:a="http://schemas.openxmlformats.org/drawingml/2006/main">
              <a:ext uri="{FF2B5EF4-FFF2-40B4-BE49-F238E27FC236}">
                <a16:creationId xmlns:a16="http://schemas.microsoft.com/office/drawing/2014/main" id="{A9F2AF6B-D1DF-44FE-9713-D7C87CA72B23}"/>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Complete these fields after hardware and evidence review</a:t>
            </a:r>
          </a:p>
        </p:txBody>
      </p:sp>
      <p:sp>
        <p:nvSpPr>
          <p:cNvPr id="3" name="">
            <a:extLst xmlns:a="http://schemas.openxmlformats.org/drawingml/2006/main">
              <a:ext uri="{FF2B5EF4-FFF2-40B4-BE49-F238E27FC236}">
                <a16:creationId xmlns:a16="http://schemas.microsoft.com/office/drawing/2014/main" id="{D8A841C7-8D0E-488C-9774-1865561B614D}"/>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17</a:t>
            </a:r>
          </a:p>
        </p:txBody>
      </p:sp>
      <p:graphicFrame>
        <p:nvGraphicFramePr>
          <p:cNvPr id="8" name=""/>
          <p:cNvGraphicFramePr/>
          <p:nvPr/>
        </p:nvGraphicFramePr>
        <p:xfrm>
          <a:off xmlns:a="http://schemas.openxmlformats.org/drawingml/2006/main" x="628650" y="1866900"/>
          <a:ext xmlns:a="http://schemas.openxmlformats.org/drawingml/2006/main" cx="10934700" cy="3981450"/>
        </p:xfrm>
        <a:graphic xmlns:a="http://schemas.openxmlformats.org/drawingml/2006/main">
          <a:graphicData uri="http://schemas.openxmlformats.org/drawingml/2006/table">
            <a:tbl>
              <a:tblPr/>
              <a:tblGrid>
                <a:gridCol w="5229225"/>
                <a:gridCol w="5705475"/>
              </a:tblGrid>
              <a:tr h="663575">
                <a:tc>
                  <a:txBody>
                    <a:bodyPr/>
                    <a:lstStyle/>
                    <a:p>
                      <a:r>
                        <a:rPr sz="1800" b="1">
                          <a:solidFill>
                            <a:srgbClr val="FFFFFF"/>
                          </a:solidFill>
                          <a:latin typeface="Arial"/>
                          <a:ea typeface="Arial"/>
                          <a:cs typeface="Arial"/>
                        </a:rPr>
                        <a:t>Budget / evidence item</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Confirmed value or file link</a:t>
                      </a:r>
                    </a:p>
                  </a:txBody>
                  <a:tcPr marL="133350" marR="133350" marT="95250" marB="85725" anchor="ctr">
                    <a:solidFill>
                      <a:srgbClr val="183447"/>
                    </a:solidFill>
                  </a:tcPr>
                </a:tc>
              </a:tr>
              <a:tr h="663575">
                <a:tc>
                  <a:txBody>
                    <a:bodyPr/>
                    <a:lstStyle/>
                    <a:p>
                      <a:r>
                        <a:rPr sz="1800">
                          <a:solidFill>
                            <a:srgbClr val="223B49"/>
                          </a:solidFill>
                          <a:latin typeface="Arial"/>
                          <a:ea typeface="Arial"/>
                          <a:cs typeface="Arial"/>
                        </a:rPr>
                        <a:t>Total component cost (SGD)</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Final BOM and power budget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Physical integration photos and cycle logs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Model metrics and model cards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Demo video and final source archive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9538113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2026-09-25T07:45:09.7290000Z</dcterms:created>
  <dcterms:modified xsi:type="dcterms:W3CDTF">2026-09-25T07:45:09.7290000Z</dcterms:modified>
</coreProperties>
</file>